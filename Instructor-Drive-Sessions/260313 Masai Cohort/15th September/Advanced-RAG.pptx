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9144000" cy="5143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9" roundtripDataSignature="AMtx7mjw1U/mPkFFBzQkNYZSKDKiVS03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F8B437-568C-4FF6-A4B5-1A98E675727F}">
  <a:tblStyle styleId="{5FF8B437-568C-4FF6-A4B5-1A98E675727F}"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2571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 name="Google Shape;4;n"/>
          <p:cNvSpPr txBox="1"/>
          <p:nvPr>
            <p:ph idx="10" type="dt"/>
          </p:nvPr>
        </p:nvSpPr>
        <p:spPr>
          <a:xfrm>
            <a:off x="5180013" y="0"/>
            <a:ext cx="3962400" cy="257175"/>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 name="Google Shape;5;n"/>
          <p:cNvSpPr/>
          <p:nvPr>
            <p:ph idx="3"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4886325"/>
            <a:ext cx="3962400" cy="257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n"/>
          <p:cNvSpPr txBox="1"/>
          <p:nvPr>
            <p:ph idx="12" type="sldNum"/>
          </p:nvPr>
        </p:nvSpPr>
        <p:spPr>
          <a:xfrm>
            <a:off x="5180013" y="4886325"/>
            <a:ext cx="3962400" cy="2571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sz="12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p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5: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6: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7: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7: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8: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8: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9: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9: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0: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10: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1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1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4: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1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5: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1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16: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16: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7: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17: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8: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p18: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19: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9" name="Google Shape;659;p19: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20: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p20: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21: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p2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2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0" name="Google Shape;750;p2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2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2" name="Google Shape;792;p2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15" name="Shape 15"/>
        <p:cNvGrpSpPr/>
        <p:nvPr/>
      </p:nvGrpSpPr>
      <p:grpSpPr>
        <a:xfrm>
          <a:off x="0" y="0"/>
          <a:ext cx="0" cy="0"/>
          <a:chOff x="0" y="0"/>
          <a:chExt cx="0" cy="0"/>
        </a:xfrm>
      </p:grpSpPr>
      <p:sp>
        <p:nvSpPr>
          <p:cNvPr id="16" name="Google Shape;16;p25"/>
          <p:cNvSpPr txBox="1"/>
          <p:nvPr>
            <p:ph type="title"/>
          </p:nvPr>
        </p:nvSpPr>
        <p:spPr>
          <a:xfrm>
            <a:off x="384725" y="188286"/>
            <a:ext cx="7381240" cy="4095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500">
                <a:solidFill>
                  <a:srgbClr val="0D38A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0" name="Shape 20"/>
        <p:cNvGrpSpPr/>
        <p:nvPr/>
      </p:nvGrpSpPr>
      <p:grpSpPr>
        <a:xfrm>
          <a:off x="0" y="0"/>
          <a:ext cx="0" cy="0"/>
          <a:chOff x="0" y="0"/>
          <a:chExt cx="0" cy="0"/>
        </a:xfrm>
      </p:grpSpPr>
      <p:sp>
        <p:nvSpPr>
          <p:cNvPr id="21" name="Google Shape;21;p26"/>
          <p:cNvSpPr txBox="1"/>
          <p:nvPr>
            <p:ph type="title"/>
          </p:nvPr>
        </p:nvSpPr>
        <p:spPr>
          <a:xfrm>
            <a:off x="384725" y="188286"/>
            <a:ext cx="7381240" cy="4095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500">
                <a:solidFill>
                  <a:srgbClr val="0D38A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6"/>
          <p:cNvSpPr txBox="1"/>
          <p:nvPr>
            <p:ph idx="1" type="body"/>
          </p:nvPr>
        </p:nvSpPr>
        <p:spPr>
          <a:xfrm>
            <a:off x="525645" y="931208"/>
            <a:ext cx="8092709" cy="296989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400">
                <a:solidFill>
                  <a:srgbClr val="595959"/>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 name="Google Shape;23;p2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
        <p:nvSpPr>
          <p:cNvPr id="27" name="Google Shape;27;p27"/>
          <p:cNvSpPr txBox="1"/>
          <p:nvPr>
            <p:ph type="ctrTitle"/>
          </p:nvPr>
        </p:nvSpPr>
        <p:spPr>
          <a:xfrm>
            <a:off x="685800" y="1594485"/>
            <a:ext cx="7772400" cy="10801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500">
                <a:solidFill>
                  <a:srgbClr val="0D38A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7"/>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400">
                <a:solidFill>
                  <a:srgbClr val="59595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7"/>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7"/>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7"/>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2" name="Shape 32"/>
        <p:cNvGrpSpPr/>
        <p:nvPr/>
      </p:nvGrpSpPr>
      <p:grpSpPr>
        <a:xfrm>
          <a:off x="0" y="0"/>
          <a:ext cx="0" cy="0"/>
          <a:chOff x="0" y="0"/>
          <a:chExt cx="0" cy="0"/>
        </a:xfrm>
      </p:grpSpPr>
      <p:sp>
        <p:nvSpPr>
          <p:cNvPr id="33" name="Google Shape;33;p28"/>
          <p:cNvSpPr txBox="1"/>
          <p:nvPr>
            <p:ph type="title"/>
          </p:nvPr>
        </p:nvSpPr>
        <p:spPr>
          <a:xfrm>
            <a:off x="384725" y="188286"/>
            <a:ext cx="7381240" cy="4095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500">
                <a:solidFill>
                  <a:srgbClr val="0D38A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8"/>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28"/>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28"/>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8"/>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8"/>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39" name="Shape 39"/>
        <p:cNvGrpSpPr/>
        <p:nvPr/>
      </p:nvGrpSpPr>
      <p:grpSpPr>
        <a:xfrm>
          <a:off x="0" y="0"/>
          <a:ext cx="0" cy="0"/>
          <a:chOff x="0" y="0"/>
          <a:chExt cx="0" cy="0"/>
        </a:xfrm>
      </p:grpSpPr>
      <p:sp>
        <p:nvSpPr>
          <p:cNvPr id="40" name="Google Shape;40;p29"/>
          <p:cNvSpPr/>
          <p:nvPr/>
        </p:nvSpPr>
        <p:spPr>
          <a:xfrm>
            <a:off x="-550" y="9"/>
            <a:ext cx="175895" cy="355600"/>
          </a:xfrm>
          <a:custGeom>
            <a:rect b="b" l="l" r="r" t="t"/>
            <a:pathLst>
              <a:path extrusionOk="0" h="355600" w="175895">
                <a:moveTo>
                  <a:pt x="175499" y="355499"/>
                </a:moveTo>
                <a:lnTo>
                  <a:pt x="0" y="355499"/>
                </a:lnTo>
                <a:lnTo>
                  <a:pt x="0" y="0"/>
                </a:lnTo>
                <a:lnTo>
                  <a:pt x="175499" y="0"/>
                </a:lnTo>
                <a:lnTo>
                  <a:pt x="175499" y="3554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1" name="Google Shape;41;p29"/>
          <p:cNvSpPr/>
          <p:nvPr/>
        </p:nvSpPr>
        <p:spPr>
          <a:xfrm>
            <a:off x="-550" y="353730"/>
            <a:ext cx="175895" cy="355600"/>
          </a:xfrm>
          <a:custGeom>
            <a:rect b="b" l="l" r="r" t="t"/>
            <a:pathLst>
              <a:path extrusionOk="0" h="355600" w="175895">
                <a:moveTo>
                  <a:pt x="175499" y="355499"/>
                </a:moveTo>
                <a:lnTo>
                  <a:pt x="0" y="355499"/>
                </a:lnTo>
                <a:lnTo>
                  <a:pt x="0" y="0"/>
                </a:lnTo>
                <a:lnTo>
                  <a:pt x="175499" y="0"/>
                </a:lnTo>
                <a:lnTo>
                  <a:pt x="175499" y="355499"/>
                </a:lnTo>
                <a:close/>
              </a:path>
            </a:pathLst>
          </a:custGeom>
          <a:solidFill>
            <a:srgbClr val="1973D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2" name="Google Shape;42;p29"/>
          <p:cNvPicPr preferRelativeResize="0"/>
          <p:nvPr/>
        </p:nvPicPr>
        <p:blipFill rotWithShape="1">
          <a:blip r:embed="rId2">
            <a:alphaModFix/>
          </a:blip>
          <a:srcRect b="0" l="0" r="0" t="0"/>
          <a:stretch/>
        </p:blipFill>
        <p:spPr>
          <a:xfrm>
            <a:off x="7669500" y="157813"/>
            <a:ext cx="1395474" cy="572700"/>
          </a:xfrm>
          <a:prstGeom prst="rect">
            <a:avLst/>
          </a:prstGeom>
          <a:noFill/>
          <a:ln>
            <a:noFill/>
          </a:ln>
        </p:spPr>
      </p:pic>
      <p:pic>
        <p:nvPicPr>
          <p:cNvPr id="43" name="Google Shape;43;p2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4" name="Google Shape;44;p29"/>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9"/>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9"/>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384725" y="188286"/>
            <a:ext cx="7381240" cy="40957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2500" u="none" cap="none" strike="noStrike">
                <a:solidFill>
                  <a:srgbClr val="0D38A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4"/>
          <p:cNvSpPr txBox="1"/>
          <p:nvPr>
            <p:ph idx="1" type="body"/>
          </p:nvPr>
        </p:nvSpPr>
        <p:spPr>
          <a:xfrm>
            <a:off x="525645" y="931208"/>
            <a:ext cx="8092709" cy="296989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400" u="none" cap="none" strike="noStrike">
                <a:solidFill>
                  <a:srgbClr val="595959"/>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2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2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6.png"/><Relationship Id="rId10" Type="http://schemas.openxmlformats.org/officeDocument/2006/relationships/image" Target="../media/image8.png"/><Relationship Id="rId9" Type="http://schemas.openxmlformats.org/officeDocument/2006/relationships/image" Target="../media/image2.png"/><Relationship Id="rId5" Type="http://schemas.openxmlformats.org/officeDocument/2006/relationships/image" Target="../media/image14.png"/><Relationship Id="rId6" Type="http://schemas.openxmlformats.org/officeDocument/2006/relationships/image" Target="../media/image16.png"/><Relationship Id="rId7" Type="http://schemas.openxmlformats.org/officeDocument/2006/relationships/image" Target="../media/image4.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7.png"/><Relationship Id="rId9" Type="http://schemas.openxmlformats.org/officeDocument/2006/relationships/image" Target="../media/image3.png"/><Relationship Id="rId5" Type="http://schemas.openxmlformats.org/officeDocument/2006/relationships/image" Target="../media/image15.png"/><Relationship Id="rId6" Type="http://schemas.openxmlformats.org/officeDocument/2006/relationships/image" Target="../media/image9.png"/><Relationship Id="rId7" Type="http://schemas.openxmlformats.org/officeDocument/2006/relationships/image" Target="../media/image1.png"/><Relationship Id="rId8"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1.png"/><Relationship Id="rId5" Type="http://schemas.openxmlformats.org/officeDocument/2006/relationships/image" Target="../media/image42.png"/><Relationship Id="rId6" Type="http://schemas.openxmlformats.org/officeDocument/2006/relationships/image" Target="../media/image25.png"/><Relationship Id="rId7"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image" Target="../media/image23.png"/><Relationship Id="rId6"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33.png"/><Relationship Id="rId6" Type="http://schemas.openxmlformats.org/officeDocument/2006/relationships/image" Target="../media/image11.png"/><Relationship Id="rId7" Type="http://schemas.openxmlformats.org/officeDocument/2006/relationships/image" Target="../media/image5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image" Target="../media/image33.png"/><Relationship Id="rId7" Type="http://schemas.openxmlformats.org/officeDocument/2006/relationships/image" Target="../media/image35.png"/><Relationship Id="rId8" Type="http://schemas.openxmlformats.org/officeDocument/2006/relationships/image" Target="../media/image4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3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image" Target="../media/image27.png"/><Relationship Id="rId6" Type="http://schemas.openxmlformats.org/officeDocument/2006/relationships/image" Target="../media/image11.png"/><Relationship Id="rId7"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image" Target="../media/image27.png"/><Relationship Id="rId6" Type="http://schemas.openxmlformats.org/officeDocument/2006/relationships/image" Target="../media/image11.png"/><Relationship Id="rId7" Type="http://schemas.openxmlformats.org/officeDocument/2006/relationships/image" Target="../media/image29.png"/><Relationship Id="rId8"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11.png"/><Relationship Id="rId11" Type="http://schemas.openxmlformats.org/officeDocument/2006/relationships/image" Target="../media/image46.png"/><Relationship Id="rId10" Type="http://schemas.openxmlformats.org/officeDocument/2006/relationships/image" Target="../media/image16.png"/><Relationship Id="rId12" Type="http://schemas.openxmlformats.org/officeDocument/2006/relationships/image" Target="../media/image32.png"/><Relationship Id="rId9" Type="http://schemas.openxmlformats.org/officeDocument/2006/relationships/image" Target="../media/image56.png"/><Relationship Id="rId5" Type="http://schemas.openxmlformats.org/officeDocument/2006/relationships/image" Target="../media/image21.png"/><Relationship Id="rId6" Type="http://schemas.openxmlformats.org/officeDocument/2006/relationships/image" Target="../media/image38.png"/><Relationship Id="rId7" Type="http://schemas.openxmlformats.org/officeDocument/2006/relationships/image" Target="../media/image4.png"/><Relationship Id="rId8"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49.png"/><Relationship Id="rId5" Type="http://schemas.openxmlformats.org/officeDocument/2006/relationships/image" Target="../media/image18.png"/><Relationship Id="rId6" Type="http://schemas.openxmlformats.org/officeDocument/2006/relationships/image" Target="../media/image58.png"/><Relationship Id="rId7" Type="http://schemas.openxmlformats.org/officeDocument/2006/relationships/image" Target="../media/image11.png"/></Relationships>
</file>

<file path=ppt/slides/_rels/slide20.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16.png"/><Relationship Id="rId13" Type="http://schemas.openxmlformats.org/officeDocument/2006/relationships/image" Target="../media/image41.png"/><Relationship Id="rId12" Type="http://schemas.openxmlformats.org/officeDocument/2006/relationships/image" Target="../media/image55.png"/><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53.png"/><Relationship Id="rId9" Type="http://schemas.openxmlformats.org/officeDocument/2006/relationships/image" Target="../media/image40.png"/><Relationship Id="rId5" Type="http://schemas.openxmlformats.org/officeDocument/2006/relationships/image" Target="../media/image47.png"/><Relationship Id="rId6" Type="http://schemas.openxmlformats.org/officeDocument/2006/relationships/image" Target="../media/image44.png"/><Relationship Id="rId7" Type="http://schemas.openxmlformats.org/officeDocument/2006/relationships/image" Target="../media/image52.png"/><Relationship Id="rId8" Type="http://schemas.openxmlformats.org/officeDocument/2006/relationships/image" Target="../media/image5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49.png"/><Relationship Id="rId5" Type="http://schemas.openxmlformats.org/officeDocument/2006/relationships/image" Target="../media/image18.png"/><Relationship Id="rId6" Type="http://schemas.openxmlformats.org/officeDocument/2006/relationships/image" Target="../media/image58.png"/><Relationship Id="rId7"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pic>
        <p:nvPicPr>
          <p:cNvPr id="51" name="Google Shape;51;p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2" name="Google Shape;52;p1"/>
          <p:cNvSpPr txBox="1"/>
          <p:nvPr>
            <p:ph type="title"/>
          </p:nvPr>
        </p:nvSpPr>
        <p:spPr>
          <a:xfrm>
            <a:off x="890532" y="1797158"/>
            <a:ext cx="6901815" cy="1122680"/>
          </a:xfrm>
          <a:prstGeom prst="rect">
            <a:avLst/>
          </a:prstGeom>
          <a:noFill/>
          <a:ln>
            <a:noFill/>
          </a:ln>
        </p:spPr>
        <p:txBody>
          <a:bodyPr anchorCtr="0" anchor="t" bIns="0" lIns="0" spcFirstLastPara="1" rIns="0" wrap="square" tIns="12700">
            <a:spAutoFit/>
          </a:bodyPr>
          <a:lstStyle/>
          <a:p>
            <a:pPr indent="-1578610" lvl="0" marL="1590675" marR="5080" rtl="0" algn="l">
              <a:lnSpc>
                <a:spcPct val="100000"/>
              </a:lnSpc>
              <a:spcBef>
                <a:spcPts val="0"/>
              </a:spcBef>
              <a:spcAft>
                <a:spcPts val="0"/>
              </a:spcAft>
              <a:buNone/>
            </a:pPr>
            <a:r>
              <a:rPr lang="en-US" sz="3600"/>
              <a:t>Advanced Retrieval Augmented Generation (RAG)</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pic>
        <p:nvPicPr>
          <p:cNvPr id="57" name="Google Shape;57;p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8" name="Google Shape;58;p2"/>
          <p:cNvSpPr txBox="1"/>
          <p:nvPr>
            <p:ph type="title"/>
          </p:nvPr>
        </p:nvSpPr>
        <p:spPr>
          <a:xfrm>
            <a:off x="477250" y="2154808"/>
            <a:ext cx="4489450" cy="4368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700"/>
              <a:t>Recap: A Workﬂow for RAG</a:t>
            </a:r>
            <a:endParaRPr sz="2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grpSp>
        <p:nvGrpSpPr>
          <p:cNvPr id="63" name="Google Shape;63;p3"/>
          <p:cNvGrpSpPr/>
          <p:nvPr/>
        </p:nvGrpSpPr>
        <p:grpSpPr>
          <a:xfrm>
            <a:off x="0" y="0"/>
            <a:ext cx="9144000" cy="5143500"/>
            <a:chOff x="0" y="0"/>
            <a:chExt cx="9144000" cy="5143500"/>
          </a:xfrm>
        </p:grpSpPr>
        <p:pic>
          <p:nvPicPr>
            <p:cNvPr id="64" name="Google Shape;64;p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5" name="Google Shape;65;p3"/>
            <p:cNvSpPr/>
            <p:nvPr/>
          </p:nvSpPr>
          <p:spPr>
            <a:xfrm>
              <a:off x="6326349" y="2266850"/>
              <a:ext cx="173990" cy="969010"/>
            </a:xfrm>
            <a:custGeom>
              <a:rect b="b" l="l" r="r" t="t"/>
              <a:pathLst>
                <a:path extrusionOk="0" h="969010" w="173989">
                  <a:moveTo>
                    <a:pt x="3674" y="968749"/>
                  </a:moveTo>
                  <a:lnTo>
                    <a:pt x="0" y="0"/>
                  </a:lnTo>
                  <a:lnTo>
                    <a:pt x="130499" y="0"/>
                  </a:lnTo>
                  <a:lnTo>
                    <a:pt x="173699" y="6"/>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6" name="Google Shape;66;p3"/>
            <p:cNvPicPr preferRelativeResize="0"/>
            <p:nvPr/>
          </p:nvPicPr>
          <p:blipFill rotWithShape="1">
            <a:blip r:embed="rId4">
              <a:alphaModFix/>
            </a:blip>
            <a:srcRect b="0" l="0" r="0" t="0"/>
            <a:stretch/>
          </p:blipFill>
          <p:spPr>
            <a:xfrm>
              <a:off x="6490520" y="2225866"/>
              <a:ext cx="105505" cy="81980"/>
            </a:xfrm>
            <a:prstGeom prst="rect">
              <a:avLst/>
            </a:prstGeom>
            <a:noFill/>
            <a:ln>
              <a:noFill/>
            </a:ln>
          </p:spPr>
        </p:pic>
        <p:sp>
          <p:nvSpPr>
            <p:cNvPr id="67" name="Google Shape;67;p3"/>
            <p:cNvSpPr/>
            <p:nvPr/>
          </p:nvSpPr>
          <p:spPr>
            <a:xfrm>
              <a:off x="1711424" y="2770850"/>
              <a:ext cx="6402070" cy="1076325"/>
            </a:xfrm>
            <a:custGeom>
              <a:rect b="b" l="l" r="r" t="t"/>
              <a:pathLst>
                <a:path extrusionOk="0" h="1076325" w="6402070">
                  <a:moveTo>
                    <a:pt x="0" y="1075799"/>
                  </a:moveTo>
                  <a:lnTo>
                    <a:pt x="0" y="0"/>
                  </a:lnTo>
                  <a:lnTo>
                    <a:pt x="6401699" y="0"/>
                  </a:lnTo>
                  <a:lnTo>
                    <a:pt x="6401699" y="1075799"/>
                  </a:lnTo>
                  <a:lnTo>
                    <a:pt x="0" y="1075799"/>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8" name="Google Shape;68;p3"/>
            <p:cNvSpPr/>
            <p:nvPr/>
          </p:nvSpPr>
          <p:spPr>
            <a:xfrm>
              <a:off x="2861737" y="1504925"/>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9" name="Google Shape;69;p3"/>
            <p:cNvSpPr/>
            <p:nvPr/>
          </p:nvSpPr>
          <p:spPr>
            <a:xfrm>
              <a:off x="2861737" y="1504925"/>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0" name="Google Shape;70;p3"/>
            <p:cNvSpPr/>
            <p:nvPr/>
          </p:nvSpPr>
          <p:spPr>
            <a:xfrm>
              <a:off x="2824387" y="1545675"/>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1" name="Google Shape;71;p3"/>
            <p:cNvSpPr/>
            <p:nvPr/>
          </p:nvSpPr>
          <p:spPr>
            <a:xfrm>
              <a:off x="2824387" y="1545675"/>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2" name="Google Shape;72;p3"/>
            <p:cNvSpPr/>
            <p:nvPr/>
          </p:nvSpPr>
          <p:spPr>
            <a:xfrm>
              <a:off x="439024" y="921099"/>
              <a:ext cx="4359910" cy="1483360"/>
            </a:xfrm>
            <a:custGeom>
              <a:rect b="b" l="l" r="r" t="t"/>
              <a:pathLst>
                <a:path extrusionOk="0" h="1483360" w="4359910">
                  <a:moveTo>
                    <a:pt x="0" y="1482899"/>
                  </a:moveTo>
                  <a:lnTo>
                    <a:pt x="0" y="0"/>
                  </a:lnTo>
                  <a:lnTo>
                    <a:pt x="4359599" y="0"/>
                  </a:lnTo>
                  <a:lnTo>
                    <a:pt x="4359599" y="1482899"/>
                  </a:lnTo>
                  <a:lnTo>
                    <a:pt x="0" y="1482899"/>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3"/>
            <p:cNvSpPr/>
            <p:nvPr/>
          </p:nvSpPr>
          <p:spPr>
            <a:xfrm>
              <a:off x="638750" y="1447187"/>
              <a:ext cx="640715" cy="572770"/>
            </a:xfrm>
            <a:custGeom>
              <a:rect b="b" l="l" r="r" t="t"/>
              <a:pathLst>
                <a:path extrusionOk="0" h="572769" w="640715">
                  <a:moveTo>
                    <a:pt x="640499" y="572699"/>
                  </a:moveTo>
                  <a:lnTo>
                    <a:pt x="0" y="572699"/>
                  </a:lnTo>
                  <a:lnTo>
                    <a:pt x="0" y="0"/>
                  </a:lnTo>
                  <a:lnTo>
                    <a:pt x="640499" y="0"/>
                  </a:lnTo>
                  <a:lnTo>
                    <a:pt x="640499" y="5726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 name="Google Shape;74;p3"/>
            <p:cNvSpPr/>
            <p:nvPr/>
          </p:nvSpPr>
          <p:spPr>
            <a:xfrm>
              <a:off x="638750" y="1447187"/>
              <a:ext cx="640715" cy="572770"/>
            </a:xfrm>
            <a:custGeom>
              <a:rect b="b" l="l" r="r" t="t"/>
              <a:pathLst>
                <a:path extrusionOk="0" h="572769" w="640715">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5" name="Google Shape;75;p3"/>
            <p:cNvSpPr/>
            <p:nvPr/>
          </p:nvSpPr>
          <p:spPr>
            <a:xfrm>
              <a:off x="683975" y="1487899"/>
              <a:ext cx="640715" cy="572770"/>
            </a:xfrm>
            <a:custGeom>
              <a:rect b="b" l="l" r="r" t="t"/>
              <a:pathLst>
                <a:path extrusionOk="0" h="572769" w="640715">
                  <a:moveTo>
                    <a:pt x="640499" y="572699"/>
                  </a:moveTo>
                  <a:lnTo>
                    <a:pt x="0" y="572699"/>
                  </a:lnTo>
                  <a:lnTo>
                    <a:pt x="0" y="0"/>
                  </a:lnTo>
                  <a:lnTo>
                    <a:pt x="640499" y="0"/>
                  </a:lnTo>
                  <a:lnTo>
                    <a:pt x="640499" y="5726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 name="Google Shape;76;p3"/>
            <p:cNvSpPr/>
            <p:nvPr/>
          </p:nvSpPr>
          <p:spPr>
            <a:xfrm>
              <a:off x="683975" y="1487899"/>
              <a:ext cx="640715" cy="572770"/>
            </a:xfrm>
            <a:custGeom>
              <a:rect b="b" l="l" r="r" t="t"/>
              <a:pathLst>
                <a:path extrusionOk="0" h="572769" w="640715">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7" name="Google Shape;77;p3"/>
          <p:cNvSpPr txBox="1"/>
          <p:nvPr>
            <p:ph type="title"/>
          </p:nvPr>
        </p:nvSpPr>
        <p:spPr>
          <a:xfrm>
            <a:off x="384725" y="188286"/>
            <a:ext cx="738124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 Workﬂow for Retrieval-Augmented Generation</a:t>
            </a:r>
            <a:endParaRPr/>
          </a:p>
        </p:txBody>
      </p:sp>
      <p:grpSp>
        <p:nvGrpSpPr>
          <p:cNvPr id="78" name="Google Shape;78;p3"/>
          <p:cNvGrpSpPr/>
          <p:nvPr/>
        </p:nvGrpSpPr>
        <p:grpSpPr>
          <a:xfrm>
            <a:off x="735449" y="1530799"/>
            <a:ext cx="2690416" cy="2038386"/>
            <a:chOff x="735449" y="1530799"/>
            <a:chExt cx="2690416" cy="2038386"/>
          </a:xfrm>
        </p:grpSpPr>
        <p:sp>
          <p:nvSpPr>
            <p:cNvPr id="79" name="Google Shape;79;p3"/>
            <p:cNvSpPr/>
            <p:nvPr/>
          </p:nvSpPr>
          <p:spPr>
            <a:xfrm>
              <a:off x="735449" y="1530799"/>
              <a:ext cx="640715" cy="572770"/>
            </a:xfrm>
            <a:custGeom>
              <a:rect b="b" l="l" r="r" t="t"/>
              <a:pathLst>
                <a:path extrusionOk="0" h="572769" w="640715">
                  <a:moveTo>
                    <a:pt x="640499" y="572699"/>
                  </a:moveTo>
                  <a:lnTo>
                    <a:pt x="0" y="572699"/>
                  </a:lnTo>
                  <a:lnTo>
                    <a:pt x="0" y="0"/>
                  </a:lnTo>
                  <a:lnTo>
                    <a:pt x="640499" y="0"/>
                  </a:lnTo>
                  <a:lnTo>
                    <a:pt x="640499" y="5726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0" name="Google Shape;80;p3"/>
            <p:cNvSpPr/>
            <p:nvPr/>
          </p:nvSpPr>
          <p:spPr>
            <a:xfrm>
              <a:off x="735449" y="1530799"/>
              <a:ext cx="640715" cy="572770"/>
            </a:xfrm>
            <a:custGeom>
              <a:rect b="b" l="l" r="r" t="t"/>
              <a:pathLst>
                <a:path extrusionOk="0" h="572769" w="640715">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1" name="Google Shape;81;p3"/>
            <p:cNvSpPr/>
            <p:nvPr/>
          </p:nvSpPr>
          <p:spPr>
            <a:xfrm>
              <a:off x="2785150" y="1593087"/>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2" name="Google Shape;82;p3"/>
            <p:cNvSpPr/>
            <p:nvPr/>
          </p:nvSpPr>
          <p:spPr>
            <a:xfrm>
              <a:off x="2785150" y="1593087"/>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3" name="Google Shape;83;p3"/>
            <p:cNvSpPr/>
            <p:nvPr/>
          </p:nvSpPr>
          <p:spPr>
            <a:xfrm>
              <a:off x="2747425" y="1633624"/>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4" name="Google Shape;84;p3"/>
            <p:cNvSpPr/>
            <p:nvPr/>
          </p:nvSpPr>
          <p:spPr>
            <a:xfrm>
              <a:off x="2747425" y="1633624"/>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5" name="Google Shape;85;p3"/>
            <p:cNvSpPr/>
            <p:nvPr/>
          </p:nvSpPr>
          <p:spPr>
            <a:xfrm>
              <a:off x="1893449" y="3247875"/>
              <a:ext cx="640715" cy="321310"/>
            </a:xfrm>
            <a:custGeom>
              <a:rect b="b" l="l" r="r" t="t"/>
              <a:pathLst>
                <a:path extrusionOk="0" h="321310" w="640714">
                  <a:moveTo>
                    <a:pt x="0" y="53551"/>
                  </a:moveTo>
                  <a:lnTo>
                    <a:pt x="4208" y="32706"/>
                  </a:lnTo>
                  <a:lnTo>
                    <a:pt x="15684" y="15684"/>
                  </a:lnTo>
                  <a:lnTo>
                    <a:pt x="32706" y="4208"/>
                  </a:lnTo>
                  <a:lnTo>
                    <a:pt x="53550" y="0"/>
                  </a:lnTo>
                  <a:lnTo>
                    <a:pt x="586948" y="0"/>
                  </a:lnTo>
                  <a:lnTo>
                    <a:pt x="624815" y="15684"/>
                  </a:lnTo>
                  <a:lnTo>
                    <a:pt x="640499" y="53551"/>
                  </a:lnTo>
                  <a:lnTo>
                    <a:pt x="640499" y="267748"/>
                  </a:lnTo>
                  <a:lnTo>
                    <a:pt x="636291" y="288593"/>
                  </a:lnTo>
                  <a:lnTo>
                    <a:pt x="624815" y="305615"/>
                  </a:lnTo>
                  <a:lnTo>
                    <a:pt x="607793" y="317091"/>
                  </a:lnTo>
                  <a:lnTo>
                    <a:pt x="586948" y="321299"/>
                  </a:lnTo>
                  <a:lnTo>
                    <a:pt x="53550" y="321299"/>
                  </a:lnTo>
                  <a:lnTo>
                    <a:pt x="32706" y="317091"/>
                  </a:lnTo>
                  <a:lnTo>
                    <a:pt x="15684" y="305615"/>
                  </a:lnTo>
                  <a:lnTo>
                    <a:pt x="4208" y="288593"/>
                  </a:lnTo>
                  <a:lnTo>
                    <a:pt x="0" y="267748"/>
                  </a:lnTo>
                  <a:lnTo>
                    <a:pt x="0" y="5355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86" name="Google Shape;86;p3"/>
          <p:cNvSpPr txBox="1"/>
          <p:nvPr/>
        </p:nvSpPr>
        <p:spPr>
          <a:xfrm>
            <a:off x="662724" y="2171344"/>
            <a:ext cx="683260"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latin typeface="Arial"/>
                <a:ea typeface="Arial"/>
                <a:cs typeface="Arial"/>
                <a:sym typeface="Arial"/>
              </a:rPr>
              <a:t>Documents</a:t>
            </a:r>
            <a:endParaRPr sz="1000">
              <a:latin typeface="Arial"/>
              <a:ea typeface="Arial"/>
              <a:cs typeface="Arial"/>
              <a:sym typeface="Arial"/>
            </a:endParaRPr>
          </a:p>
        </p:txBody>
      </p:sp>
      <p:sp>
        <p:nvSpPr>
          <p:cNvPr id="87" name="Google Shape;87;p3"/>
          <p:cNvSpPr txBox="1"/>
          <p:nvPr/>
        </p:nvSpPr>
        <p:spPr>
          <a:xfrm>
            <a:off x="2839922" y="2171344"/>
            <a:ext cx="455930"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latin typeface="Arial"/>
                <a:ea typeface="Arial"/>
                <a:cs typeface="Arial"/>
                <a:sym typeface="Arial"/>
              </a:rPr>
              <a:t>Chunks</a:t>
            </a:r>
            <a:endParaRPr sz="1000">
              <a:latin typeface="Arial"/>
              <a:ea typeface="Arial"/>
              <a:cs typeface="Arial"/>
              <a:sym typeface="Arial"/>
            </a:endParaRPr>
          </a:p>
        </p:txBody>
      </p:sp>
      <p:sp>
        <p:nvSpPr>
          <p:cNvPr id="88" name="Google Shape;88;p3"/>
          <p:cNvSpPr txBox="1"/>
          <p:nvPr/>
        </p:nvSpPr>
        <p:spPr>
          <a:xfrm>
            <a:off x="4018566" y="2171345"/>
            <a:ext cx="614680"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latin typeface="Arial"/>
                <a:ea typeface="Arial"/>
                <a:cs typeface="Arial"/>
                <a:sym typeface="Arial"/>
              </a:rPr>
              <a:t>Vector DB</a:t>
            </a:r>
            <a:endParaRPr sz="1000">
              <a:latin typeface="Arial"/>
              <a:ea typeface="Arial"/>
              <a:cs typeface="Arial"/>
              <a:sym typeface="Arial"/>
            </a:endParaRPr>
          </a:p>
        </p:txBody>
      </p:sp>
      <p:sp>
        <p:nvSpPr>
          <p:cNvPr id="89" name="Google Shape;89;p3"/>
          <p:cNvSpPr txBox="1"/>
          <p:nvPr/>
        </p:nvSpPr>
        <p:spPr>
          <a:xfrm>
            <a:off x="1982159" y="3299241"/>
            <a:ext cx="44640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Query</a:t>
            </a:r>
            <a:endParaRPr sz="1200">
              <a:latin typeface="Arial"/>
              <a:ea typeface="Arial"/>
              <a:cs typeface="Arial"/>
              <a:sym typeface="Arial"/>
            </a:endParaRPr>
          </a:p>
        </p:txBody>
      </p:sp>
      <p:sp>
        <p:nvSpPr>
          <p:cNvPr id="90" name="Google Shape;90;p3"/>
          <p:cNvSpPr/>
          <p:nvPr/>
        </p:nvSpPr>
        <p:spPr>
          <a:xfrm>
            <a:off x="6934549" y="3207349"/>
            <a:ext cx="1040130" cy="321310"/>
          </a:xfrm>
          <a:custGeom>
            <a:rect b="b" l="l" r="r" t="t"/>
            <a:pathLst>
              <a:path extrusionOk="0" h="321310" w="1040129">
                <a:moveTo>
                  <a:pt x="0" y="53550"/>
                </a:moveTo>
                <a:lnTo>
                  <a:pt x="4208" y="32706"/>
                </a:lnTo>
                <a:lnTo>
                  <a:pt x="15684" y="15684"/>
                </a:lnTo>
                <a:lnTo>
                  <a:pt x="32706" y="4208"/>
                </a:lnTo>
                <a:lnTo>
                  <a:pt x="53550" y="0"/>
                </a:lnTo>
                <a:lnTo>
                  <a:pt x="986549" y="0"/>
                </a:lnTo>
                <a:lnTo>
                  <a:pt x="1024415" y="15684"/>
                </a:lnTo>
                <a:lnTo>
                  <a:pt x="1040099" y="53550"/>
                </a:lnTo>
                <a:lnTo>
                  <a:pt x="1040099" y="267748"/>
                </a:lnTo>
                <a:lnTo>
                  <a:pt x="1035891" y="288593"/>
                </a:lnTo>
                <a:lnTo>
                  <a:pt x="1024415" y="305615"/>
                </a:lnTo>
                <a:lnTo>
                  <a:pt x="1007393" y="317091"/>
                </a:lnTo>
                <a:lnTo>
                  <a:pt x="986549" y="321299"/>
                </a:lnTo>
                <a:lnTo>
                  <a:pt x="53550" y="321299"/>
                </a:lnTo>
                <a:lnTo>
                  <a:pt x="32706" y="317091"/>
                </a:lnTo>
                <a:lnTo>
                  <a:pt x="15684" y="305615"/>
                </a:lnTo>
                <a:lnTo>
                  <a:pt x="4208" y="288593"/>
                </a:lnTo>
                <a:lnTo>
                  <a:pt x="0" y="267748"/>
                </a:lnTo>
                <a:lnTo>
                  <a:pt x="0" y="5355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1" name="Google Shape;91;p3"/>
          <p:cNvSpPr txBox="1"/>
          <p:nvPr/>
        </p:nvSpPr>
        <p:spPr>
          <a:xfrm>
            <a:off x="7107304" y="3258716"/>
            <a:ext cx="69532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Response</a:t>
            </a:r>
            <a:endParaRPr sz="1200">
              <a:latin typeface="Arial"/>
              <a:ea typeface="Arial"/>
              <a:cs typeface="Arial"/>
              <a:sym typeface="Arial"/>
            </a:endParaRPr>
          </a:p>
        </p:txBody>
      </p:sp>
      <p:grpSp>
        <p:nvGrpSpPr>
          <p:cNvPr id="92" name="Google Shape;92;p3"/>
          <p:cNvGrpSpPr/>
          <p:nvPr/>
        </p:nvGrpSpPr>
        <p:grpSpPr>
          <a:xfrm>
            <a:off x="1375950" y="1341574"/>
            <a:ext cx="3178314" cy="2227610"/>
            <a:chOff x="1375950" y="1341574"/>
            <a:chExt cx="3178314" cy="2227610"/>
          </a:xfrm>
        </p:grpSpPr>
        <p:sp>
          <p:nvSpPr>
            <p:cNvPr id="93" name="Google Shape;93;p3"/>
            <p:cNvSpPr/>
            <p:nvPr/>
          </p:nvSpPr>
          <p:spPr>
            <a:xfrm>
              <a:off x="1375950" y="1796249"/>
              <a:ext cx="1257935" cy="20955"/>
            </a:xfrm>
            <a:custGeom>
              <a:rect b="b" l="l" r="r" t="t"/>
              <a:pathLst>
                <a:path extrusionOk="0" h="20955" w="1257935">
                  <a:moveTo>
                    <a:pt x="0" y="20900"/>
                  </a:moveTo>
                  <a:lnTo>
                    <a:pt x="1257315"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4" name="Google Shape;94;p3"/>
            <p:cNvPicPr preferRelativeResize="0"/>
            <p:nvPr/>
          </p:nvPicPr>
          <p:blipFill rotWithShape="1">
            <a:blip r:embed="rId5">
              <a:alphaModFix/>
            </a:blip>
            <a:srcRect b="0" l="0" r="0" t="0"/>
            <a:stretch/>
          </p:blipFill>
          <p:spPr>
            <a:xfrm>
              <a:off x="2623217" y="1755263"/>
              <a:ext cx="106011" cy="81972"/>
            </a:xfrm>
            <a:prstGeom prst="rect">
              <a:avLst/>
            </a:prstGeom>
            <a:noFill/>
            <a:ln>
              <a:noFill/>
            </a:ln>
          </p:spPr>
        </p:pic>
        <p:sp>
          <p:nvSpPr>
            <p:cNvPr id="95" name="Google Shape;95;p3"/>
            <p:cNvSpPr/>
            <p:nvPr/>
          </p:nvSpPr>
          <p:spPr>
            <a:xfrm>
              <a:off x="4097699" y="1341574"/>
              <a:ext cx="456565" cy="648335"/>
            </a:xfrm>
            <a:custGeom>
              <a:rect b="b" l="l" r="r" t="t"/>
              <a:pathLst>
                <a:path extrusionOk="0" h="648335" w="456564">
                  <a:moveTo>
                    <a:pt x="228024" y="647999"/>
                  </a:moveTo>
                  <a:lnTo>
                    <a:pt x="167406" y="644142"/>
                  </a:lnTo>
                  <a:lnTo>
                    <a:pt x="112936" y="633254"/>
                  </a:lnTo>
                  <a:lnTo>
                    <a:pt x="66786" y="616367"/>
                  </a:lnTo>
                  <a:lnTo>
                    <a:pt x="31132" y="594509"/>
                  </a:lnTo>
                  <a:lnTo>
                    <a:pt x="0" y="539999"/>
                  </a:lnTo>
                  <a:lnTo>
                    <a:pt x="0" y="107999"/>
                  </a:lnTo>
                  <a:lnTo>
                    <a:pt x="31132" y="53490"/>
                  </a:lnTo>
                  <a:lnTo>
                    <a:pt x="66786" y="31632"/>
                  </a:lnTo>
                  <a:lnTo>
                    <a:pt x="112936" y="14745"/>
                  </a:lnTo>
                  <a:lnTo>
                    <a:pt x="167406" y="3857"/>
                  </a:lnTo>
                  <a:lnTo>
                    <a:pt x="228024" y="0"/>
                  </a:lnTo>
                  <a:lnTo>
                    <a:pt x="288643" y="3857"/>
                  </a:lnTo>
                  <a:lnTo>
                    <a:pt x="343113" y="14745"/>
                  </a:lnTo>
                  <a:lnTo>
                    <a:pt x="389263" y="31632"/>
                  </a:lnTo>
                  <a:lnTo>
                    <a:pt x="424917" y="53490"/>
                  </a:lnTo>
                  <a:lnTo>
                    <a:pt x="456049" y="107999"/>
                  </a:lnTo>
                  <a:lnTo>
                    <a:pt x="456049" y="539999"/>
                  </a:lnTo>
                  <a:lnTo>
                    <a:pt x="424917" y="594509"/>
                  </a:lnTo>
                  <a:lnTo>
                    <a:pt x="389263" y="616367"/>
                  </a:lnTo>
                  <a:lnTo>
                    <a:pt x="343113" y="633254"/>
                  </a:lnTo>
                  <a:lnTo>
                    <a:pt x="288643" y="644142"/>
                  </a:lnTo>
                  <a:lnTo>
                    <a:pt x="228024" y="647999"/>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6" name="Google Shape;96;p3"/>
            <p:cNvSpPr/>
            <p:nvPr/>
          </p:nvSpPr>
          <p:spPr>
            <a:xfrm>
              <a:off x="4097699" y="1341574"/>
              <a:ext cx="456565" cy="648335"/>
            </a:xfrm>
            <a:custGeom>
              <a:rect b="b" l="l" r="r" t="t"/>
              <a:pathLst>
                <a:path extrusionOk="0" h="648335" w="456564">
                  <a:moveTo>
                    <a:pt x="456049" y="107999"/>
                  </a:moveTo>
                  <a:lnTo>
                    <a:pt x="447904" y="136710"/>
                  </a:lnTo>
                  <a:lnTo>
                    <a:pt x="424917" y="162509"/>
                  </a:lnTo>
                  <a:lnTo>
                    <a:pt x="389263" y="184367"/>
                  </a:lnTo>
                  <a:lnTo>
                    <a:pt x="343113" y="201254"/>
                  </a:lnTo>
                  <a:lnTo>
                    <a:pt x="288643" y="212142"/>
                  </a:lnTo>
                  <a:lnTo>
                    <a:pt x="228024" y="215999"/>
                  </a:lnTo>
                  <a:lnTo>
                    <a:pt x="167406" y="212142"/>
                  </a:lnTo>
                  <a:lnTo>
                    <a:pt x="112936" y="201254"/>
                  </a:lnTo>
                  <a:lnTo>
                    <a:pt x="66786" y="184367"/>
                  </a:lnTo>
                  <a:lnTo>
                    <a:pt x="31132" y="162509"/>
                  </a:lnTo>
                  <a:lnTo>
                    <a:pt x="8145" y="136710"/>
                  </a:lnTo>
                  <a:lnTo>
                    <a:pt x="0" y="107999"/>
                  </a:lnTo>
                </a:path>
                <a:path extrusionOk="0" h="648335" w="456564">
                  <a:moveTo>
                    <a:pt x="0" y="107999"/>
                  </a:moveTo>
                  <a:lnTo>
                    <a:pt x="8145" y="79289"/>
                  </a:lnTo>
                  <a:lnTo>
                    <a:pt x="31132" y="53490"/>
                  </a:lnTo>
                  <a:lnTo>
                    <a:pt x="66786" y="31632"/>
                  </a:lnTo>
                  <a:lnTo>
                    <a:pt x="112936" y="14745"/>
                  </a:lnTo>
                  <a:lnTo>
                    <a:pt x="167406" y="3857"/>
                  </a:lnTo>
                  <a:lnTo>
                    <a:pt x="228024" y="0"/>
                  </a:lnTo>
                  <a:lnTo>
                    <a:pt x="288643" y="3857"/>
                  </a:lnTo>
                  <a:lnTo>
                    <a:pt x="343113" y="14745"/>
                  </a:lnTo>
                  <a:lnTo>
                    <a:pt x="389263" y="31632"/>
                  </a:lnTo>
                  <a:lnTo>
                    <a:pt x="424917" y="53490"/>
                  </a:lnTo>
                  <a:lnTo>
                    <a:pt x="456049" y="107999"/>
                  </a:lnTo>
                  <a:lnTo>
                    <a:pt x="456049" y="539999"/>
                  </a:lnTo>
                  <a:lnTo>
                    <a:pt x="424917" y="594509"/>
                  </a:lnTo>
                  <a:lnTo>
                    <a:pt x="389263" y="616367"/>
                  </a:lnTo>
                  <a:lnTo>
                    <a:pt x="343113" y="633254"/>
                  </a:lnTo>
                  <a:lnTo>
                    <a:pt x="288643" y="644142"/>
                  </a:lnTo>
                  <a:lnTo>
                    <a:pt x="228024" y="647999"/>
                  </a:lnTo>
                  <a:lnTo>
                    <a:pt x="167406" y="644142"/>
                  </a:lnTo>
                  <a:lnTo>
                    <a:pt x="112936" y="633254"/>
                  </a:lnTo>
                  <a:lnTo>
                    <a:pt x="66786" y="616367"/>
                  </a:lnTo>
                  <a:lnTo>
                    <a:pt x="31132" y="594509"/>
                  </a:lnTo>
                  <a:lnTo>
                    <a:pt x="0" y="539999"/>
                  </a:lnTo>
                  <a:lnTo>
                    <a:pt x="0" y="1079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7" name="Google Shape;97;p3"/>
            <p:cNvSpPr/>
            <p:nvPr/>
          </p:nvSpPr>
          <p:spPr>
            <a:xfrm>
              <a:off x="3502237" y="1665574"/>
              <a:ext cx="481330" cy="0"/>
            </a:xfrm>
            <a:custGeom>
              <a:rect b="b" l="l" r="r" t="t"/>
              <a:pathLst>
                <a:path extrusionOk="0" h="120000" w="481329">
                  <a:moveTo>
                    <a:pt x="0" y="0"/>
                  </a:moveTo>
                  <a:lnTo>
                    <a:pt x="481199"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98" name="Google Shape;98;p3"/>
            <p:cNvPicPr preferRelativeResize="0"/>
            <p:nvPr/>
          </p:nvPicPr>
          <p:blipFill rotWithShape="1">
            <a:blip r:embed="rId6">
              <a:alphaModFix/>
            </a:blip>
            <a:srcRect b="0" l="0" r="0" t="0"/>
            <a:stretch/>
          </p:blipFill>
          <p:spPr>
            <a:xfrm>
              <a:off x="3973912" y="1624584"/>
              <a:ext cx="105500" cy="81980"/>
            </a:xfrm>
            <a:prstGeom prst="rect">
              <a:avLst/>
            </a:prstGeom>
            <a:noFill/>
            <a:ln>
              <a:noFill/>
            </a:ln>
          </p:spPr>
        </p:pic>
        <p:sp>
          <p:nvSpPr>
            <p:cNvPr id="99" name="Google Shape;99;p3"/>
            <p:cNvSpPr/>
            <p:nvPr/>
          </p:nvSpPr>
          <p:spPr>
            <a:xfrm>
              <a:off x="3192949" y="3247874"/>
              <a:ext cx="840740" cy="321310"/>
            </a:xfrm>
            <a:custGeom>
              <a:rect b="b" l="l" r="r" t="t"/>
              <a:pathLst>
                <a:path extrusionOk="0" h="321310" w="840739">
                  <a:moveTo>
                    <a:pt x="786748" y="321299"/>
                  </a:moveTo>
                  <a:lnTo>
                    <a:pt x="53550" y="321299"/>
                  </a:lnTo>
                  <a:lnTo>
                    <a:pt x="32706" y="317091"/>
                  </a:lnTo>
                  <a:lnTo>
                    <a:pt x="15684" y="305615"/>
                  </a:lnTo>
                  <a:lnTo>
                    <a:pt x="4208" y="288593"/>
                  </a:lnTo>
                  <a:lnTo>
                    <a:pt x="0" y="267748"/>
                  </a:lnTo>
                  <a:lnTo>
                    <a:pt x="0" y="53551"/>
                  </a:lnTo>
                  <a:lnTo>
                    <a:pt x="4137" y="33057"/>
                  </a:lnTo>
                  <a:lnTo>
                    <a:pt x="4208" y="32706"/>
                  </a:lnTo>
                  <a:lnTo>
                    <a:pt x="15684" y="15684"/>
                  </a:lnTo>
                  <a:lnTo>
                    <a:pt x="32706" y="4208"/>
                  </a:lnTo>
                  <a:lnTo>
                    <a:pt x="53550" y="0"/>
                  </a:lnTo>
                  <a:lnTo>
                    <a:pt x="786748" y="0"/>
                  </a:lnTo>
                  <a:lnTo>
                    <a:pt x="824615" y="15684"/>
                  </a:lnTo>
                  <a:lnTo>
                    <a:pt x="840299" y="53551"/>
                  </a:lnTo>
                  <a:lnTo>
                    <a:pt x="840299" y="267748"/>
                  </a:lnTo>
                  <a:lnTo>
                    <a:pt x="836091" y="288593"/>
                  </a:lnTo>
                  <a:lnTo>
                    <a:pt x="824615" y="305615"/>
                  </a:lnTo>
                  <a:lnTo>
                    <a:pt x="807593" y="317091"/>
                  </a:lnTo>
                  <a:lnTo>
                    <a:pt x="786748" y="3212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00" name="Google Shape;100;p3"/>
          <p:cNvSpPr txBox="1"/>
          <p:nvPr/>
        </p:nvSpPr>
        <p:spPr>
          <a:xfrm>
            <a:off x="523390" y="916885"/>
            <a:ext cx="671830" cy="2235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00">
                <a:latin typeface="Arial"/>
                <a:ea typeface="Arial"/>
                <a:cs typeface="Arial"/>
                <a:sym typeface="Arial"/>
              </a:rPr>
              <a:t>Indexing</a:t>
            </a:r>
            <a:endParaRPr sz="1300">
              <a:latin typeface="Arial"/>
              <a:ea typeface="Arial"/>
              <a:cs typeface="Arial"/>
              <a:sym typeface="Arial"/>
            </a:endParaRPr>
          </a:p>
        </p:txBody>
      </p:sp>
      <p:sp>
        <p:nvSpPr>
          <p:cNvPr id="101" name="Google Shape;101;p3"/>
          <p:cNvSpPr txBox="1"/>
          <p:nvPr/>
        </p:nvSpPr>
        <p:spPr>
          <a:xfrm>
            <a:off x="3291484" y="3299241"/>
            <a:ext cx="64389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solidFill>
                  <a:srgbClr val="FFFFFF"/>
                </a:solidFill>
                <a:latin typeface="Arial"/>
                <a:ea typeface="Arial"/>
                <a:cs typeface="Arial"/>
                <a:sym typeface="Arial"/>
              </a:rPr>
              <a:t>Retriever</a:t>
            </a:r>
            <a:endParaRPr sz="1200">
              <a:latin typeface="Arial"/>
              <a:ea typeface="Arial"/>
              <a:cs typeface="Arial"/>
              <a:sym typeface="Arial"/>
            </a:endParaRPr>
          </a:p>
        </p:txBody>
      </p:sp>
      <p:grpSp>
        <p:nvGrpSpPr>
          <p:cNvPr id="102" name="Google Shape;102;p3"/>
          <p:cNvGrpSpPr/>
          <p:nvPr/>
        </p:nvGrpSpPr>
        <p:grpSpPr>
          <a:xfrm>
            <a:off x="2533949" y="2224384"/>
            <a:ext cx="2732366" cy="1344801"/>
            <a:chOff x="2533949" y="2224384"/>
            <a:chExt cx="2732366" cy="1344801"/>
          </a:xfrm>
        </p:grpSpPr>
        <p:sp>
          <p:nvSpPr>
            <p:cNvPr id="103" name="Google Shape;103;p3"/>
            <p:cNvSpPr/>
            <p:nvPr/>
          </p:nvSpPr>
          <p:spPr>
            <a:xfrm>
              <a:off x="3613100" y="2265375"/>
              <a:ext cx="210185" cy="982980"/>
            </a:xfrm>
            <a:custGeom>
              <a:rect b="b" l="l" r="r" t="t"/>
              <a:pathLst>
                <a:path extrusionOk="0" h="982980" w="210185">
                  <a:moveTo>
                    <a:pt x="0" y="982499"/>
                  </a:moveTo>
                  <a:lnTo>
                    <a:pt x="0" y="0"/>
                  </a:lnTo>
                  <a:lnTo>
                    <a:pt x="209699"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04" name="Google Shape;104;p3"/>
            <p:cNvPicPr preferRelativeResize="0"/>
            <p:nvPr/>
          </p:nvPicPr>
          <p:blipFill rotWithShape="1">
            <a:blip r:embed="rId7">
              <a:alphaModFix/>
            </a:blip>
            <a:srcRect b="0" l="0" r="0" t="0"/>
            <a:stretch/>
          </p:blipFill>
          <p:spPr>
            <a:xfrm>
              <a:off x="3813274" y="2224384"/>
              <a:ext cx="105500" cy="81980"/>
            </a:xfrm>
            <a:prstGeom prst="rect">
              <a:avLst/>
            </a:prstGeom>
            <a:noFill/>
            <a:ln>
              <a:noFill/>
            </a:ln>
          </p:spPr>
        </p:pic>
        <p:sp>
          <p:nvSpPr>
            <p:cNvPr id="105" name="Google Shape;105;p3"/>
            <p:cNvSpPr/>
            <p:nvPr/>
          </p:nvSpPr>
          <p:spPr>
            <a:xfrm>
              <a:off x="2533949" y="3408525"/>
              <a:ext cx="544830" cy="0"/>
            </a:xfrm>
            <a:custGeom>
              <a:rect b="b" l="l" r="r" t="t"/>
              <a:pathLst>
                <a:path extrusionOk="0" h="120000" w="544830">
                  <a:moveTo>
                    <a:pt x="0" y="0"/>
                  </a:moveTo>
                  <a:lnTo>
                    <a:pt x="544799"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06" name="Google Shape;106;p3"/>
            <p:cNvPicPr preferRelativeResize="0"/>
            <p:nvPr/>
          </p:nvPicPr>
          <p:blipFill rotWithShape="1">
            <a:blip r:embed="rId6">
              <a:alphaModFix/>
            </a:blip>
            <a:srcRect b="0" l="0" r="0" t="0"/>
            <a:stretch/>
          </p:blipFill>
          <p:spPr>
            <a:xfrm>
              <a:off x="3069224" y="3367534"/>
              <a:ext cx="105500" cy="81980"/>
            </a:xfrm>
            <a:prstGeom prst="rect">
              <a:avLst/>
            </a:prstGeom>
            <a:noFill/>
            <a:ln>
              <a:noFill/>
            </a:ln>
          </p:spPr>
        </p:pic>
        <p:sp>
          <p:nvSpPr>
            <p:cNvPr id="107" name="Google Shape;107;p3"/>
            <p:cNvSpPr/>
            <p:nvPr/>
          </p:nvSpPr>
          <p:spPr>
            <a:xfrm>
              <a:off x="4625600" y="3207337"/>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8" name="Google Shape;108;p3"/>
            <p:cNvSpPr/>
            <p:nvPr/>
          </p:nvSpPr>
          <p:spPr>
            <a:xfrm>
              <a:off x="4625600" y="3207337"/>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9" name="Google Shape;109;p3"/>
            <p:cNvSpPr/>
            <p:nvPr/>
          </p:nvSpPr>
          <p:spPr>
            <a:xfrm>
              <a:off x="4587875" y="3247875"/>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0" name="Google Shape;110;p3"/>
            <p:cNvSpPr/>
            <p:nvPr/>
          </p:nvSpPr>
          <p:spPr>
            <a:xfrm>
              <a:off x="4587875" y="3247875"/>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11" name="Google Shape;111;p3"/>
          <p:cNvSpPr txBox="1"/>
          <p:nvPr/>
        </p:nvSpPr>
        <p:spPr>
          <a:xfrm>
            <a:off x="4718097" y="3658494"/>
            <a:ext cx="455930"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latin typeface="Arial"/>
                <a:ea typeface="Arial"/>
                <a:cs typeface="Arial"/>
                <a:sym typeface="Arial"/>
              </a:rPr>
              <a:t>Chunks</a:t>
            </a:r>
            <a:endParaRPr sz="1000">
              <a:latin typeface="Arial"/>
              <a:ea typeface="Arial"/>
              <a:cs typeface="Arial"/>
              <a:sym typeface="Arial"/>
            </a:endParaRPr>
          </a:p>
        </p:txBody>
      </p:sp>
      <p:sp>
        <p:nvSpPr>
          <p:cNvPr id="112" name="Google Shape;112;p3"/>
          <p:cNvSpPr txBox="1"/>
          <p:nvPr/>
        </p:nvSpPr>
        <p:spPr>
          <a:xfrm>
            <a:off x="1852992" y="2790661"/>
            <a:ext cx="721995" cy="2235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300">
                <a:latin typeface="Arial"/>
                <a:ea typeface="Arial"/>
                <a:cs typeface="Arial"/>
                <a:sym typeface="Arial"/>
              </a:rPr>
              <a:t>Querying</a:t>
            </a:r>
            <a:endParaRPr sz="1300">
              <a:latin typeface="Arial"/>
              <a:ea typeface="Arial"/>
              <a:cs typeface="Arial"/>
              <a:sym typeface="Arial"/>
            </a:endParaRPr>
          </a:p>
        </p:txBody>
      </p:sp>
      <p:grpSp>
        <p:nvGrpSpPr>
          <p:cNvPr id="113" name="Google Shape;113;p3"/>
          <p:cNvGrpSpPr/>
          <p:nvPr/>
        </p:nvGrpSpPr>
        <p:grpSpPr>
          <a:xfrm>
            <a:off x="4714225" y="2265324"/>
            <a:ext cx="1806677" cy="1275835"/>
            <a:chOff x="4714225" y="2265324"/>
            <a:chExt cx="1806677" cy="1275835"/>
          </a:xfrm>
        </p:grpSpPr>
        <p:sp>
          <p:nvSpPr>
            <p:cNvPr id="114" name="Google Shape;114;p3"/>
            <p:cNvSpPr/>
            <p:nvPr/>
          </p:nvSpPr>
          <p:spPr>
            <a:xfrm>
              <a:off x="4714225" y="2265324"/>
              <a:ext cx="194310" cy="724535"/>
            </a:xfrm>
            <a:custGeom>
              <a:rect b="b" l="l" r="r" t="t"/>
              <a:pathLst>
                <a:path extrusionOk="0" h="724535" w="194310">
                  <a:moveTo>
                    <a:pt x="0" y="0"/>
                  </a:moveTo>
                  <a:lnTo>
                    <a:pt x="193799" y="0"/>
                  </a:lnTo>
                  <a:lnTo>
                    <a:pt x="193799" y="7241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15" name="Google Shape;115;p3"/>
            <p:cNvPicPr preferRelativeResize="0"/>
            <p:nvPr/>
          </p:nvPicPr>
          <p:blipFill rotWithShape="1">
            <a:blip r:embed="rId8">
              <a:alphaModFix/>
            </a:blip>
            <a:srcRect b="0" l="0" r="0" t="0"/>
            <a:stretch/>
          </p:blipFill>
          <p:spPr>
            <a:xfrm>
              <a:off x="4867034" y="2979999"/>
              <a:ext cx="81980" cy="105500"/>
            </a:xfrm>
            <a:prstGeom prst="rect">
              <a:avLst/>
            </a:prstGeom>
            <a:noFill/>
            <a:ln>
              <a:noFill/>
            </a:ln>
          </p:spPr>
        </p:pic>
        <p:sp>
          <p:nvSpPr>
            <p:cNvPr id="116" name="Google Shape;116;p3"/>
            <p:cNvSpPr/>
            <p:nvPr/>
          </p:nvSpPr>
          <p:spPr>
            <a:xfrm>
              <a:off x="5680162" y="3219849"/>
              <a:ext cx="840740" cy="321310"/>
            </a:xfrm>
            <a:custGeom>
              <a:rect b="b" l="l" r="r" t="t"/>
              <a:pathLst>
                <a:path extrusionOk="0" h="321310" w="840740">
                  <a:moveTo>
                    <a:pt x="786748" y="321299"/>
                  </a:moveTo>
                  <a:lnTo>
                    <a:pt x="53551" y="321299"/>
                  </a:lnTo>
                  <a:lnTo>
                    <a:pt x="32706" y="317091"/>
                  </a:lnTo>
                  <a:lnTo>
                    <a:pt x="15684" y="305615"/>
                  </a:lnTo>
                  <a:lnTo>
                    <a:pt x="4208" y="288593"/>
                  </a:lnTo>
                  <a:lnTo>
                    <a:pt x="0" y="267748"/>
                  </a:lnTo>
                  <a:lnTo>
                    <a:pt x="0" y="53550"/>
                  </a:lnTo>
                  <a:lnTo>
                    <a:pt x="4137" y="33057"/>
                  </a:lnTo>
                  <a:lnTo>
                    <a:pt x="4208" y="32706"/>
                  </a:lnTo>
                  <a:lnTo>
                    <a:pt x="15684" y="15684"/>
                  </a:lnTo>
                  <a:lnTo>
                    <a:pt x="32706" y="4208"/>
                  </a:lnTo>
                  <a:lnTo>
                    <a:pt x="53551" y="0"/>
                  </a:lnTo>
                  <a:lnTo>
                    <a:pt x="786748" y="0"/>
                  </a:lnTo>
                  <a:lnTo>
                    <a:pt x="824615" y="15684"/>
                  </a:lnTo>
                  <a:lnTo>
                    <a:pt x="840299" y="53550"/>
                  </a:lnTo>
                  <a:lnTo>
                    <a:pt x="840299" y="267748"/>
                  </a:lnTo>
                  <a:lnTo>
                    <a:pt x="836091" y="288593"/>
                  </a:lnTo>
                  <a:lnTo>
                    <a:pt x="824615" y="305615"/>
                  </a:lnTo>
                  <a:lnTo>
                    <a:pt x="807593" y="317091"/>
                  </a:lnTo>
                  <a:lnTo>
                    <a:pt x="786748" y="3212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17" name="Google Shape;117;p3"/>
          <p:cNvSpPr txBox="1"/>
          <p:nvPr/>
        </p:nvSpPr>
        <p:spPr>
          <a:xfrm>
            <a:off x="5844305" y="3271216"/>
            <a:ext cx="51244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solidFill>
                  <a:srgbClr val="FFFFFF"/>
                </a:solidFill>
                <a:latin typeface="Arial"/>
                <a:ea typeface="Arial"/>
                <a:cs typeface="Arial"/>
                <a:sym typeface="Arial"/>
              </a:rPr>
              <a:t>Reader</a:t>
            </a:r>
            <a:endParaRPr sz="1200">
              <a:latin typeface="Arial"/>
              <a:ea typeface="Arial"/>
              <a:cs typeface="Arial"/>
              <a:sym typeface="Arial"/>
            </a:endParaRPr>
          </a:p>
        </p:txBody>
      </p:sp>
      <p:grpSp>
        <p:nvGrpSpPr>
          <p:cNvPr id="118" name="Google Shape;118;p3"/>
          <p:cNvGrpSpPr/>
          <p:nvPr/>
        </p:nvGrpSpPr>
        <p:grpSpPr>
          <a:xfrm>
            <a:off x="4453925" y="2104675"/>
            <a:ext cx="3012579" cy="1553060"/>
            <a:chOff x="4453925" y="2104675"/>
            <a:chExt cx="3012579" cy="1553060"/>
          </a:xfrm>
        </p:grpSpPr>
        <p:sp>
          <p:nvSpPr>
            <p:cNvPr id="119" name="Google Shape;119;p3"/>
            <p:cNvSpPr/>
            <p:nvPr/>
          </p:nvSpPr>
          <p:spPr>
            <a:xfrm>
              <a:off x="4453925" y="2891925"/>
              <a:ext cx="1324610" cy="765810"/>
            </a:xfrm>
            <a:custGeom>
              <a:rect b="b" l="l" r="r" t="t"/>
              <a:pathLst>
                <a:path extrusionOk="0" h="765810" w="1324610">
                  <a:moveTo>
                    <a:pt x="0" y="765324"/>
                  </a:moveTo>
                  <a:lnTo>
                    <a:pt x="0" y="211824"/>
                  </a:lnTo>
                  <a:lnTo>
                    <a:pt x="908399" y="211824"/>
                  </a:lnTo>
                  <a:lnTo>
                    <a:pt x="908399" y="765324"/>
                  </a:lnTo>
                  <a:lnTo>
                    <a:pt x="0" y="765324"/>
                  </a:lnTo>
                  <a:close/>
                </a:path>
                <a:path extrusionOk="0" h="765810" w="1324610">
                  <a:moveTo>
                    <a:pt x="828349" y="219524"/>
                  </a:moveTo>
                  <a:lnTo>
                    <a:pt x="828349" y="0"/>
                  </a:lnTo>
                  <a:lnTo>
                    <a:pt x="1318624" y="0"/>
                  </a:lnTo>
                  <a:lnTo>
                    <a:pt x="1324585" y="207072"/>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20" name="Google Shape;120;p3"/>
            <p:cNvPicPr preferRelativeResize="0"/>
            <p:nvPr/>
          </p:nvPicPr>
          <p:blipFill rotWithShape="1">
            <a:blip r:embed="rId9">
              <a:alphaModFix/>
            </a:blip>
            <a:srcRect b="0" l="0" r="0" t="0"/>
            <a:stretch/>
          </p:blipFill>
          <p:spPr>
            <a:xfrm>
              <a:off x="5737533" y="3088567"/>
              <a:ext cx="81954" cy="106370"/>
            </a:xfrm>
            <a:prstGeom prst="rect">
              <a:avLst/>
            </a:prstGeom>
            <a:noFill/>
            <a:ln>
              <a:noFill/>
            </a:ln>
          </p:spPr>
        </p:pic>
        <p:sp>
          <p:nvSpPr>
            <p:cNvPr id="121" name="Google Shape;121;p3"/>
            <p:cNvSpPr/>
            <p:nvPr/>
          </p:nvSpPr>
          <p:spPr>
            <a:xfrm>
              <a:off x="7136875" y="2260000"/>
              <a:ext cx="288925" cy="821690"/>
            </a:xfrm>
            <a:custGeom>
              <a:rect b="b" l="l" r="r" t="t"/>
              <a:pathLst>
                <a:path extrusionOk="0" h="821689" w="288925">
                  <a:moveTo>
                    <a:pt x="4574" y="6849"/>
                  </a:moveTo>
                  <a:lnTo>
                    <a:pt x="0" y="2274"/>
                  </a:lnTo>
                  <a:lnTo>
                    <a:pt x="286224" y="0"/>
                  </a:lnTo>
                  <a:lnTo>
                    <a:pt x="288638" y="82165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22" name="Google Shape;122;p3"/>
            <p:cNvPicPr preferRelativeResize="0"/>
            <p:nvPr/>
          </p:nvPicPr>
          <p:blipFill rotWithShape="1">
            <a:blip r:embed="rId10">
              <a:alphaModFix/>
            </a:blip>
            <a:srcRect b="0" l="0" r="0" t="0"/>
            <a:stretch/>
          </p:blipFill>
          <p:spPr>
            <a:xfrm>
              <a:off x="7384523" y="3072033"/>
              <a:ext cx="81981" cy="105592"/>
            </a:xfrm>
            <a:prstGeom prst="rect">
              <a:avLst/>
            </a:prstGeom>
            <a:noFill/>
            <a:ln>
              <a:noFill/>
            </a:ln>
          </p:spPr>
        </p:pic>
        <p:sp>
          <p:nvSpPr>
            <p:cNvPr id="123" name="Google Shape;123;p3"/>
            <p:cNvSpPr/>
            <p:nvPr/>
          </p:nvSpPr>
          <p:spPr>
            <a:xfrm>
              <a:off x="6618425" y="2104675"/>
              <a:ext cx="595630" cy="321310"/>
            </a:xfrm>
            <a:custGeom>
              <a:rect b="b" l="l" r="r" t="t"/>
              <a:pathLst>
                <a:path extrusionOk="0" h="321310" w="595629">
                  <a:moveTo>
                    <a:pt x="541949" y="321299"/>
                  </a:moveTo>
                  <a:lnTo>
                    <a:pt x="53550" y="321299"/>
                  </a:lnTo>
                  <a:lnTo>
                    <a:pt x="32706" y="317091"/>
                  </a:lnTo>
                  <a:lnTo>
                    <a:pt x="15684" y="305615"/>
                  </a:lnTo>
                  <a:lnTo>
                    <a:pt x="4208" y="288593"/>
                  </a:lnTo>
                  <a:lnTo>
                    <a:pt x="0" y="267748"/>
                  </a:lnTo>
                  <a:lnTo>
                    <a:pt x="0" y="53550"/>
                  </a:lnTo>
                  <a:lnTo>
                    <a:pt x="4208" y="32706"/>
                  </a:lnTo>
                  <a:lnTo>
                    <a:pt x="15684" y="15684"/>
                  </a:lnTo>
                  <a:lnTo>
                    <a:pt x="32706" y="4208"/>
                  </a:lnTo>
                  <a:lnTo>
                    <a:pt x="53550" y="0"/>
                  </a:lnTo>
                  <a:lnTo>
                    <a:pt x="541949" y="0"/>
                  </a:lnTo>
                  <a:lnTo>
                    <a:pt x="579815" y="15684"/>
                  </a:lnTo>
                  <a:lnTo>
                    <a:pt x="595499" y="53550"/>
                  </a:lnTo>
                  <a:lnTo>
                    <a:pt x="595499" y="267748"/>
                  </a:lnTo>
                  <a:lnTo>
                    <a:pt x="591291" y="288593"/>
                  </a:lnTo>
                  <a:lnTo>
                    <a:pt x="579815" y="305615"/>
                  </a:lnTo>
                  <a:lnTo>
                    <a:pt x="562793" y="317091"/>
                  </a:lnTo>
                  <a:lnTo>
                    <a:pt x="541949" y="3212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4" name="Google Shape;124;p3"/>
            <p:cNvSpPr/>
            <p:nvPr/>
          </p:nvSpPr>
          <p:spPr>
            <a:xfrm>
              <a:off x="6618425" y="2104675"/>
              <a:ext cx="595630" cy="321310"/>
            </a:xfrm>
            <a:custGeom>
              <a:rect b="b" l="l" r="r" t="t"/>
              <a:pathLst>
                <a:path extrusionOk="0" h="321310" w="595629">
                  <a:moveTo>
                    <a:pt x="0" y="53550"/>
                  </a:moveTo>
                  <a:lnTo>
                    <a:pt x="4208" y="32706"/>
                  </a:lnTo>
                  <a:lnTo>
                    <a:pt x="15684" y="15684"/>
                  </a:lnTo>
                  <a:lnTo>
                    <a:pt x="32706" y="4208"/>
                  </a:lnTo>
                  <a:lnTo>
                    <a:pt x="53550" y="0"/>
                  </a:lnTo>
                  <a:lnTo>
                    <a:pt x="541949" y="0"/>
                  </a:lnTo>
                  <a:lnTo>
                    <a:pt x="579815" y="15684"/>
                  </a:lnTo>
                  <a:lnTo>
                    <a:pt x="595499" y="53550"/>
                  </a:lnTo>
                  <a:lnTo>
                    <a:pt x="595499" y="267748"/>
                  </a:lnTo>
                  <a:lnTo>
                    <a:pt x="591291" y="288593"/>
                  </a:lnTo>
                  <a:lnTo>
                    <a:pt x="579815" y="305615"/>
                  </a:lnTo>
                  <a:lnTo>
                    <a:pt x="562793" y="317091"/>
                  </a:lnTo>
                  <a:lnTo>
                    <a:pt x="541949" y="321299"/>
                  </a:lnTo>
                  <a:lnTo>
                    <a:pt x="53550" y="321299"/>
                  </a:lnTo>
                  <a:lnTo>
                    <a:pt x="32706" y="317091"/>
                  </a:lnTo>
                  <a:lnTo>
                    <a:pt x="15684" y="305615"/>
                  </a:lnTo>
                  <a:lnTo>
                    <a:pt x="4208" y="288593"/>
                  </a:lnTo>
                  <a:lnTo>
                    <a:pt x="0" y="267748"/>
                  </a:lnTo>
                  <a:lnTo>
                    <a:pt x="0" y="5355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25" name="Google Shape;125;p3"/>
          <p:cNvSpPr txBox="1"/>
          <p:nvPr/>
        </p:nvSpPr>
        <p:spPr>
          <a:xfrm>
            <a:off x="6751684" y="2156041"/>
            <a:ext cx="32956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FFFFFF"/>
                </a:solidFill>
                <a:latin typeface="Arial"/>
                <a:ea typeface="Arial"/>
                <a:cs typeface="Arial"/>
                <a:sym typeface="Arial"/>
              </a:rPr>
              <a:t>LLM</a:t>
            </a:r>
            <a:endParaRPr sz="1200">
              <a:latin typeface="Arial"/>
              <a:ea typeface="Arial"/>
              <a:cs typeface="Arial"/>
              <a:sym typeface="Arial"/>
            </a:endParaRPr>
          </a:p>
        </p:txBody>
      </p:sp>
      <p:sp>
        <p:nvSpPr>
          <p:cNvPr id="126" name="Google Shape;126;p3"/>
          <p:cNvSpPr/>
          <p:nvPr/>
        </p:nvSpPr>
        <p:spPr>
          <a:xfrm>
            <a:off x="1593187" y="1638799"/>
            <a:ext cx="840740" cy="321310"/>
          </a:xfrm>
          <a:custGeom>
            <a:rect b="b" l="l" r="r" t="t"/>
            <a:pathLst>
              <a:path extrusionOk="0" h="321310" w="840739">
                <a:moveTo>
                  <a:pt x="786748" y="321299"/>
                </a:moveTo>
                <a:lnTo>
                  <a:pt x="53550" y="321299"/>
                </a:lnTo>
                <a:lnTo>
                  <a:pt x="32706" y="317091"/>
                </a:lnTo>
                <a:lnTo>
                  <a:pt x="15684" y="305615"/>
                </a:lnTo>
                <a:lnTo>
                  <a:pt x="4208" y="288593"/>
                </a:lnTo>
                <a:lnTo>
                  <a:pt x="0" y="267748"/>
                </a:lnTo>
                <a:lnTo>
                  <a:pt x="0" y="53550"/>
                </a:lnTo>
                <a:lnTo>
                  <a:pt x="15684" y="15684"/>
                </a:lnTo>
                <a:lnTo>
                  <a:pt x="53550" y="0"/>
                </a:lnTo>
                <a:lnTo>
                  <a:pt x="786748" y="0"/>
                </a:lnTo>
                <a:lnTo>
                  <a:pt x="824615" y="15684"/>
                </a:lnTo>
                <a:lnTo>
                  <a:pt x="840299" y="53550"/>
                </a:lnTo>
                <a:lnTo>
                  <a:pt x="840299" y="267748"/>
                </a:lnTo>
                <a:lnTo>
                  <a:pt x="836091" y="288593"/>
                </a:lnTo>
                <a:lnTo>
                  <a:pt x="824615" y="305615"/>
                </a:lnTo>
                <a:lnTo>
                  <a:pt x="807593" y="317091"/>
                </a:lnTo>
                <a:lnTo>
                  <a:pt x="786748" y="3212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7" name="Google Shape;127;p3"/>
          <p:cNvSpPr txBox="1"/>
          <p:nvPr/>
        </p:nvSpPr>
        <p:spPr>
          <a:xfrm>
            <a:off x="1715115" y="1690166"/>
            <a:ext cx="59690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solidFill>
                  <a:srgbClr val="FFFFFF"/>
                </a:solidFill>
                <a:latin typeface="Arial"/>
                <a:ea typeface="Arial"/>
                <a:cs typeface="Arial"/>
                <a:sym typeface="Arial"/>
              </a:rPr>
              <a:t>Chunker</a:t>
            </a:r>
            <a:endParaRPr sz="12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grpSp>
        <p:nvGrpSpPr>
          <p:cNvPr id="132" name="Google Shape;132;p4"/>
          <p:cNvGrpSpPr/>
          <p:nvPr/>
        </p:nvGrpSpPr>
        <p:grpSpPr>
          <a:xfrm>
            <a:off x="-6" y="0"/>
            <a:ext cx="9144006" cy="5143500"/>
            <a:chOff x="-6" y="0"/>
            <a:chExt cx="9144006" cy="5143500"/>
          </a:xfrm>
        </p:grpSpPr>
        <p:sp>
          <p:nvSpPr>
            <p:cNvPr id="133" name="Google Shape;133;p4"/>
            <p:cNvSpPr/>
            <p:nvPr/>
          </p:nvSpPr>
          <p:spPr>
            <a:xfrm>
              <a:off x="-6" y="9"/>
              <a:ext cx="175895" cy="355600"/>
            </a:xfrm>
            <a:custGeom>
              <a:rect b="b" l="l" r="r" t="t"/>
              <a:pathLst>
                <a:path extrusionOk="0" h="355600" w="175895">
                  <a:moveTo>
                    <a:pt x="175499" y="355499"/>
                  </a:moveTo>
                  <a:lnTo>
                    <a:pt x="0" y="355499"/>
                  </a:lnTo>
                  <a:lnTo>
                    <a:pt x="0" y="0"/>
                  </a:lnTo>
                  <a:lnTo>
                    <a:pt x="175499" y="0"/>
                  </a:lnTo>
                  <a:lnTo>
                    <a:pt x="175499" y="3554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34" name="Google Shape;134;p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35" name="Google Shape;135;p4"/>
            <p:cNvSpPr/>
            <p:nvPr/>
          </p:nvSpPr>
          <p:spPr>
            <a:xfrm>
              <a:off x="6329574" y="1341699"/>
              <a:ext cx="1635125" cy="1073150"/>
            </a:xfrm>
            <a:custGeom>
              <a:rect b="b" l="l" r="r" t="t"/>
              <a:pathLst>
                <a:path extrusionOk="0" h="1073150" w="1635125">
                  <a:moveTo>
                    <a:pt x="0" y="178853"/>
                  </a:moveTo>
                  <a:lnTo>
                    <a:pt x="6388" y="131307"/>
                  </a:lnTo>
                  <a:lnTo>
                    <a:pt x="24418" y="88582"/>
                  </a:lnTo>
                  <a:lnTo>
                    <a:pt x="52384" y="52385"/>
                  </a:lnTo>
                  <a:lnTo>
                    <a:pt x="88582" y="24418"/>
                  </a:lnTo>
                  <a:lnTo>
                    <a:pt x="131307" y="6388"/>
                  </a:lnTo>
                  <a:lnTo>
                    <a:pt x="178853" y="0"/>
                  </a:lnTo>
                  <a:lnTo>
                    <a:pt x="1456145" y="0"/>
                  </a:lnTo>
                  <a:lnTo>
                    <a:pt x="1524590" y="13614"/>
                  </a:lnTo>
                  <a:lnTo>
                    <a:pt x="1582614" y="52384"/>
                  </a:lnTo>
                  <a:lnTo>
                    <a:pt x="1621385" y="110409"/>
                  </a:lnTo>
                  <a:lnTo>
                    <a:pt x="1634999" y="178853"/>
                  </a:lnTo>
                  <a:lnTo>
                    <a:pt x="1634999" y="894246"/>
                  </a:lnTo>
                  <a:lnTo>
                    <a:pt x="1628611" y="941792"/>
                  </a:lnTo>
                  <a:lnTo>
                    <a:pt x="1610581" y="984517"/>
                  </a:lnTo>
                  <a:lnTo>
                    <a:pt x="1582614" y="1020715"/>
                  </a:lnTo>
                  <a:lnTo>
                    <a:pt x="1546416" y="1048681"/>
                  </a:lnTo>
                  <a:lnTo>
                    <a:pt x="1503692" y="1066711"/>
                  </a:lnTo>
                  <a:lnTo>
                    <a:pt x="1456145" y="1073099"/>
                  </a:lnTo>
                  <a:lnTo>
                    <a:pt x="178853" y="1073099"/>
                  </a:lnTo>
                  <a:lnTo>
                    <a:pt x="131307" y="1066711"/>
                  </a:lnTo>
                  <a:lnTo>
                    <a:pt x="88582" y="1048681"/>
                  </a:lnTo>
                  <a:lnTo>
                    <a:pt x="52384" y="1020715"/>
                  </a:lnTo>
                  <a:lnTo>
                    <a:pt x="24418" y="984517"/>
                  </a:lnTo>
                  <a:lnTo>
                    <a:pt x="6388" y="941792"/>
                  </a:lnTo>
                  <a:lnTo>
                    <a:pt x="0" y="894246"/>
                  </a:lnTo>
                  <a:lnTo>
                    <a:pt x="0" y="178853"/>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36" name="Google Shape;136;p4"/>
          <p:cNvSpPr txBox="1"/>
          <p:nvPr>
            <p:ph type="title"/>
          </p:nvPr>
        </p:nvSpPr>
        <p:spPr>
          <a:xfrm>
            <a:off x="384725" y="188286"/>
            <a:ext cx="3413125"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Retrieval &amp; Generation</a:t>
            </a:r>
            <a:endParaRPr/>
          </a:p>
        </p:txBody>
      </p:sp>
      <p:sp>
        <p:nvSpPr>
          <p:cNvPr id="137" name="Google Shape;137;p4"/>
          <p:cNvSpPr/>
          <p:nvPr/>
        </p:nvSpPr>
        <p:spPr>
          <a:xfrm>
            <a:off x="6424968" y="1401762"/>
            <a:ext cx="1444625" cy="953135"/>
          </a:xfrm>
          <a:custGeom>
            <a:rect b="b" l="l" r="r" t="t"/>
            <a:pathLst>
              <a:path extrusionOk="0" h="953135" w="1444625">
                <a:moveTo>
                  <a:pt x="1444205" y="642277"/>
                </a:moveTo>
                <a:lnTo>
                  <a:pt x="1433626" y="589089"/>
                </a:lnTo>
                <a:lnTo>
                  <a:pt x="1403489" y="544004"/>
                </a:lnTo>
                <a:lnTo>
                  <a:pt x="1358404" y="513867"/>
                </a:lnTo>
                <a:lnTo>
                  <a:pt x="1305217" y="503288"/>
                </a:lnTo>
                <a:lnTo>
                  <a:pt x="138988" y="503288"/>
                </a:lnTo>
                <a:lnTo>
                  <a:pt x="95059" y="510374"/>
                </a:lnTo>
                <a:lnTo>
                  <a:pt x="56908" y="530110"/>
                </a:lnTo>
                <a:lnTo>
                  <a:pt x="26822" y="560197"/>
                </a:lnTo>
                <a:lnTo>
                  <a:pt x="7086" y="598347"/>
                </a:lnTo>
                <a:lnTo>
                  <a:pt x="0" y="642277"/>
                </a:lnTo>
                <a:lnTo>
                  <a:pt x="0" y="814006"/>
                </a:lnTo>
                <a:lnTo>
                  <a:pt x="7086" y="857935"/>
                </a:lnTo>
                <a:lnTo>
                  <a:pt x="26822" y="896086"/>
                </a:lnTo>
                <a:lnTo>
                  <a:pt x="56908" y="926172"/>
                </a:lnTo>
                <a:lnTo>
                  <a:pt x="95059" y="945908"/>
                </a:lnTo>
                <a:lnTo>
                  <a:pt x="138988" y="952995"/>
                </a:lnTo>
                <a:lnTo>
                  <a:pt x="1305217" y="952995"/>
                </a:lnTo>
                <a:lnTo>
                  <a:pt x="1349146" y="945908"/>
                </a:lnTo>
                <a:lnTo>
                  <a:pt x="1387297" y="926172"/>
                </a:lnTo>
                <a:lnTo>
                  <a:pt x="1417383" y="896086"/>
                </a:lnTo>
                <a:lnTo>
                  <a:pt x="1437119" y="857935"/>
                </a:lnTo>
                <a:lnTo>
                  <a:pt x="1444205" y="814006"/>
                </a:lnTo>
                <a:lnTo>
                  <a:pt x="1444205" y="642277"/>
                </a:lnTo>
                <a:close/>
              </a:path>
              <a:path extrusionOk="0" h="953135" w="1444625">
                <a:moveTo>
                  <a:pt x="1444205" y="138988"/>
                </a:moveTo>
                <a:lnTo>
                  <a:pt x="1433626" y="85788"/>
                </a:lnTo>
                <a:lnTo>
                  <a:pt x="1403489" y="40703"/>
                </a:lnTo>
                <a:lnTo>
                  <a:pt x="1358404" y="10579"/>
                </a:lnTo>
                <a:lnTo>
                  <a:pt x="1305217" y="0"/>
                </a:lnTo>
                <a:lnTo>
                  <a:pt x="138988" y="0"/>
                </a:lnTo>
                <a:lnTo>
                  <a:pt x="95059" y="7073"/>
                </a:lnTo>
                <a:lnTo>
                  <a:pt x="56908" y="26809"/>
                </a:lnTo>
                <a:lnTo>
                  <a:pt x="26822" y="56896"/>
                </a:lnTo>
                <a:lnTo>
                  <a:pt x="7086" y="95046"/>
                </a:lnTo>
                <a:lnTo>
                  <a:pt x="0" y="138988"/>
                </a:lnTo>
                <a:lnTo>
                  <a:pt x="0" y="310705"/>
                </a:lnTo>
                <a:lnTo>
                  <a:pt x="7086" y="354634"/>
                </a:lnTo>
                <a:lnTo>
                  <a:pt x="26822" y="392785"/>
                </a:lnTo>
                <a:lnTo>
                  <a:pt x="56908" y="422871"/>
                </a:lnTo>
                <a:lnTo>
                  <a:pt x="95059" y="442607"/>
                </a:lnTo>
                <a:lnTo>
                  <a:pt x="138988" y="449694"/>
                </a:lnTo>
                <a:lnTo>
                  <a:pt x="1305217" y="449694"/>
                </a:lnTo>
                <a:lnTo>
                  <a:pt x="1349146" y="442607"/>
                </a:lnTo>
                <a:lnTo>
                  <a:pt x="1387297" y="422871"/>
                </a:lnTo>
                <a:lnTo>
                  <a:pt x="1417383" y="392785"/>
                </a:lnTo>
                <a:lnTo>
                  <a:pt x="1437119" y="354634"/>
                </a:lnTo>
                <a:lnTo>
                  <a:pt x="1444205" y="310705"/>
                </a:lnTo>
                <a:lnTo>
                  <a:pt x="1444205" y="138988"/>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8" name="Google Shape;138;p4"/>
          <p:cNvSpPr txBox="1"/>
          <p:nvPr/>
        </p:nvSpPr>
        <p:spPr>
          <a:xfrm>
            <a:off x="6666577" y="1502012"/>
            <a:ext cx="96202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FFFFFF"/>
                </a:solidFill>
                <a:latin typeface="Arial"/>
                <a:ea typeface="Arial"/>
                <a:cs typeface="Arial"/>
                <a:sym typeface="Arial"/>
              </a:rPr>
              <a:t>Documents</a:t>
            </a:r>
            <a:endParaRPr sz="1400">
              <a:latin typeface="Arial"/>
              <a:ea typeface="Arial"/>
              <a:cs typeface="Arial"/>
              <a:sym typeface="Arial"/>
            </a:endParaRPr>
          </a:p>
        </p:txBody>
      </p:sp>
      <p:sp>
        <p:nvSpPr>
          <p:cNvPr id="139" name="Google Shape;139;p4"/>
          <p:cNvSpPr txBox="1"/>
          <p:nvPr/>
        </p:nvSpPr>
        <p:spPr>
          <a:xfrm>
            <a:off x="6623663" y="2005313"/>
            <a:ext cx="1047750" cy="605155"/>
          </a:xfrm>
          <a:prstGeom prst="rect">
            <a:avLst/>
          </a:prstGeom>
          <a:noFill/>
          <a:ln>
            <a:noFill/>
          </a:ln>
        </p:spPr>
        <p:txBody>
          <a:bodyPr anchorCtr="0" anchor="t" bIns="0" lIns="0" spcFirstLastPara="1" rIns="0" wrap="square" tIns="12700">
            <a:spAutoFit/>
          </a:bodyPr>
          <a:lstStyle/>
          <a:p>
            <a:pPr indent="0" lvl="0" marL="0" rtl="0" algn="ctr">
              <a:lnSpc>
                <a:spcPct val="100000"/>
              </a:lnSpc>
              <a:spcBef>
                <a:spcPts val="0"/>
              </a:spcBef>
              <a:spcAft>
                <a:spcPts val="0"/>
              </a:spcAft>
              <a:buNone/>
            </a:pPr>
            <a:r>
              <a:rPr b="1" lang="en-US" sz="1400">
                <a:solidFill>
                  <a:srgbClr val="FFFFFF"/>
                </a:solidFill>
                <a:latin typeface="Arial"/>
                <a:ea typeface="Arial"/>
                <a:cs typeface="Arial"/>
                <a:sym typeface="Arial"/>
              </a:rPr>
              <a:t>Embeddings</a:t>
            </a:r>
            <a:endParaRPr sz="1400">
              <a:latin typeface="Arial"/>
              <a:ea typeface="Arial"/>
              <a:cs typeface="Arial"/>
              <a:sym typeface="Arial"/>
            </a:endParaRPr>
          </a:p>
          <a:p>
            <a:pPr indent="0" lvl="0" marL="0" marR="48260" rtl="0" algn="ctr">
              <a:lnSpc>
                <a:spcPct val="100000"/>
              </a:lnSpc>
              <a:spcBef>
                <a:spcPts val="1445"/>
              </a:spcBef>
              <a:spcAft>
                <a:spcPts val="0"/>
              </a:spcAft>
              <a:buNone/>
            </a:pPr>
            <a:r>
              <a:rPr b="1" lang="en-US" sz="1200">
                <a:solidFill>
                  <a:srgbClr val="7E7E7E"/>
                </a:solidFill>
                <a:latin typeface="Arial"/>
                <a:ea typeface="Arial"/>
                <a:cs typeface="Arial"/>
                <a:sym typeface="Arial"/>
              </a:rPr>
              <a:t>VectorDB</a:t>
            </a:r>
            <a:endParaRPr sz="1200">
              <a:latin typeface="Arial"/>
              <a:ea typeface="Arial"/>
              <a:cs typeface="Arial"/>
              <a:sym typeface="Arial"/>
            </a:endParaRPr>
          </a:p>
        </p:txBody>
      </p:sp>
      <p:sp>
        <p:nvSpPr>
          <p:cNvPr id="140" name="Google Shape;140;p4"/>
          <p:cNvSpPr/>
          <p:nvPr/>
        </p:nvSpPr>
        <p:spPr>
          <a:xfrm>
            <a:off x="1843725" y="1484050"/>
            <a:ext cx="1221105" cy="450215"/>
          </a:xfrm>
          <a:custGeom>
            <a:rect b="b" l="l" r="r" t="t"/>
            <a:pathLst>
              <a:path extrusionOk="0" h="450214" w="1221105">
                <a:moveTo>
                  <a:pt x="1082011" y="449699"/>
                </a:moveTo>
                <a:lnTo>
                  <a:pt x="138988" y="449699"/>
                </a:lnTo>
                <a:lnTo>
                  <a:pt x="95057" y="442614"/>
                </a:lnTo>
                <a:lnTo>
                  <a:pt x="56903" y="422883"/>
                </a:lnTo>
                <a:lnTo>
                  <a:pt x="26816" y="392796"/>
                </a:lnTo>
                <a:lnTo>
                  <a:pt x="7085" y="354642"/>
                </a:lnTo>
                <a:lnTo>
                  <a:pt x="0" y="310711"/>
                </a:lnTo>
                <a:lnTo>
                  <a:pt x="0" y="138988"/>
                </a:lnTo>
                <a:lnTo>
                  <a:pt x="7085" y="95057"/>
                </a:lnTo>
                <a:lnTo>
                  <a:pt x="26816" y="56903"/>
                </a:lnTo>
                <a:lnTo>
                  <a:pt x="56903" y="26816"/>
                </a:lnTo>
                <a:lnTo>
                  <a:pt x="95057" y="7085"/>
                </a:lnTo>
                <a:lnTo>
                  <a:pt x="138988" y="0"/>
                </a:lnTo>
                <a:lnTo>
                  <a:pt x="1082011" y="0"/>
                </a:lnTo>
                <a:lnTo>
                  <a:pt x="1135199" y="10579"/>
                </a:lnTo>
                <a:lnTo>
                  <a:pt x="1180291" y="40708"/>
                </a:lnTo>
                <a:lnTo>
                  <a:pt x="1210420" y="85800"/>
                </a:lnTo>
                <a:lnTo>
                  <a:pt x="1220999" y="138988"/>
                </a:lnTo>
                <a:lnTo>
                  <a:pt x="1220999" y="310711"/>
                </a:lnTo>
                <a:lnTo>
                  <a:pt x="1213914" y="354642"/>
                </a:lnTo>
                <a:lnTo>
                  <a:pt x="1194183" y="392796"/>
                </a:lnTo>
                <a:lnTo>
                  <a:pt x="1164096" y="422883"/>
                </a:lnTo>
                <a:lnTo>
                  <a:pt x="1125942" y="442614"/>
                </a:lnTo>
                <a:lnTo>
                  <a:pt x="1082011" y="449699"/>
                </a:lnTo>
                <a:close/>
              </a:path>
            </a:pathLst>
          </a:custGeom>
          <a:solidFill>
            <a:srgbClr val="58585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1" name="Google Shape;141;p4"/>
          <p:cNvSpPr txBox="1"/>
          <p:nvPr/>
        </p:nvSpPr>
        <p:spPr>
          <a:xfrm>
            <a:off x="1974171" y="1479537"/>
            <a:ext cx="960755" cy="448309"/>
          </a:xfrm>
          <a:prstGeom prst="rect">
            <a:avLst/>
          </a:prstGeom>
          <a:noFill/>
          <a:ln>
            <a:noFill/>
          </a:ln>
        </p:spPr>
        <p:txBody>
          <a:bodyPr anchorCtr="0" anchor="t" bIns="0" lIns="0" spcFirstLastPara="1" rIns="0" wrap="square" tIns="22850">
            <a:spAutoFit/>
          </a:bodyPr>
          <a:lstStyle/>
          <a:p>
            <a:pPr indent="-209550" lvl="0" marL="221615" marR="5080" rtl="0" algn="l">
              <a:lnSpc>
                <a:spcPct val="117857"/>
              </a:lnSpc>
              <a:spcBef>
                <a:spcPts val="0"/>
              </a:spcBef>
              <a:spcAft>
                <a:spcPts val="0"/>
              </a:spcAft>
              <a:buNone/>
            </a:pPr>
            <a:r>
              <a:rPr b="1" lang="en-US" sz="1400">
                <a:solidFill>
                  <a:srgbClr val="FFFFFF"/>
                </a:solidFill>
                <a:latin typeface="Arial"/>
                <a:ea typeface="Arial"/>
                <a:cs typeface="Arial"/>
                <a:sym typeface="Arial"/>
              </a:rPr>
              <a:t>Embedding Model</a:t>
            </a:r>
            <a:endParaRPr sz="1400">
              <a:latin typeface="Arial"/>
              <a:ea typeface="Arial"/>
              <a:cs typeface="Arial"/>
              <a:sym typeface="Arial"/>
            </a:endParaRPr>
          </a:p>
        </p:txBody>
      </p:sp>
      <p:grpSp>
        <p:nvGrpSpPr>
          <p:cNvPr id="142" name="Google Shape;142;p4"/>
          <p:cNvGrpSpPr/>
          <p:nvPr/>
        </p:nvGrpSpPr>
        <p:grpSpPr>
          <a:xfrm>
            <a:off x="1063100" y="1032199"/>
            <a:ext cx="4286075" cy="1515552"/>
            <a:chOff x="1063100" y="1032199"/>
            <a:chExt cx="4286075" cy="1515552"/>
          </a:xfrm>
        </p:grpSpPr>
        <p:sp>
          <p:nvSpPr>
            <p:cNvPr id="143" name="Google Shape;143;p4"/>
            <p:cNvSpPr/>
            <p:nvPr/>
          </p:nvSpPr>
          <p:spPr>
            <a:xfrm>
              <a:off x="3064724" y="1269621"/>
              <a:ext cx="726440" cy="439420"/>
            </a:xfrm>
            <a:custGeom>
              <a:rect b="b" l="l" r="r" t="t"/>
              <a:pathLst>
                <a:path extrusionOk="0" h="439419" w="726439">
                  <a:moveTo>
                    <a:pt x="0" y="439278"/>
                  </a:moveTo>
                  <a:lnTo>
                    <a:pt x="59942" y="436003"/>
                  </a:lnTo>
                  <a:lnTo>
                    <a:pt x="114216" y="426628"/>
                  </a:lnTo>
                  <a:lnTo>
                    <a:pt x="163452" y="411831"/>
                  </a:lnTo>
                  <a:lnTo>
                    <a:pt x="208278" y="392291"/>
                  </a:lnTo>
                  <a:lnTo>
                    <a:pt x="249326" y="368685"/>
                  </a:lnTo>
                  <a:lnTo>
                    <a:pt x="287223" y="341689"/>
                  </a:lnTo>
                  <a:lnTo>
                    <a:pt x="322601" y="311984"/>
                  </a:lnTo>
                  <a:lnTo>
                    <a:pt x="356088" y="280245"/>
                  </a:lnTo>
                  <a:lnTo>
                    <a:pt x="388313" y="247150"/>
                  </a:lnTo>
                  <a:lnTo>
                    <a:pt x="419908" y="213378"/>
                  </a:lnTo>
                  <a:lnTo>
                    <a:pt x="451501" y="179606"/>
                  </a:lnTo>
                  <a:lnTo>
                    <a:pt x="483722" y="146512"/>
                  </a:lnTo>
                  <a:lnTo>
                    <a:pt x="517201" y="114773"/>
                  </a:lnTo>
                  <a:lnTo>
                    <a:pt x="552568" y="85067"/>
                  </a:lnTo>
                  <a:lnTo>
                    <a:pt x="590454" y="58072"/>
                  </a:lnTo>
                  <a:lnTo>
                    <a:pt x="642311" y="29173"/>
                  </a:lnTo>
                  <a:lnTo>
                    <a:pt x="700318" y="6892"/>
                  </a:lnTo>
                  <a:lnTo>
                    <a:pt x="715924" y="2511"/>
                  </a:lnTo>
                  <a:lnTo>
                    <a:pt x="718565" y="1823"/>
                  </a:lnTo>
                  <a:lnTo>
                    <a:pt x="721226" y="1157"/>
                  </a:lnTo>
                  <a:lnTo>
                    <a:pt x="723906" y="513"/>
                  </a:lnTo>
                  <a:lnTo>
                    <a:pt x="726087"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44" name="Google Shape;144;p4"/>
            <p:cNvPicPr preferRelativeResize="0"/>
            <p:nvPr/>
          </p:nvPicPr>
          <p:blipFill rotWithShape="1">
            <a:blip r:embed="rId4">
              <a:alphaModFix/>
            </a:blip>
            <a:srcRect b="0" l="0" r="0" t="0"/>
            <a:stretch/>
          </p:blipFill>
          <p:spPr>
            <a:xfrm>
              <a:off x="3777841" y="1228820"/>
              <a:ext cx="108427" cy="81602"/>
            </a:xfrm>
            <a:prstGeom prst="rect">
              <a:avLst/>
            </a:prstGeom>
            <a:noFill/>
            <a:ln>
              <a:noFill/>
            </a:ln>
          </p:spPr>
        </p:pic>
        <p:sp>
          <p:nvSpPr>
            <p:cNvPr id="145" name="Google Shape;145;p4"/>
            <p:cNvSpPr/>
            <p:nvPr/>
          </p:nvSpPr>
          <p:spPr>
            <a:xfrm>
              <a:off x="1063100" y="1720346"/>
              <a:ext cx="667385" cy="827405"/>
            </a:xfrm>
            <a:custGeom>
              <a:rect b="b" l="l" r="r" t="t"/>
              <a:pathLst>
                <a:path extrusionOk="0" h="827405" w="667385">
                  <a:moveTo>
                    <a:pt x="0" y="827228"/>
                  </a:moveTo>
                  <a:lnTo>
                    <a:pt x="1709" y="778859"/>
                  </a:lnTo>
                  <a:lnTo>
                    <a:pt x="6750" y="730634"/>
                  </a:lnTo>
                  <a:lnTo>
                    <a:pt x="14989" y="682695"/>
                  </a:lnTo>
                  <a:lnTo>
                    <a:pt x="26292" y="635186"/>
                  </a:lnTo>
                  <a:lnTo>
                    <a:pt x="40526" y="588249"/>
                  </a:lnTo>
                  <a:lnTo>
                    <a:pt x="57559" y="542028"/>
                  </a:lnTo>
                  <a:lnTo>
                    <a:pt x="77256" y="496666"/>
                  </a:lnTo>
                  <a:lnTo>
                    <a:pt x="99484" y="452307"/>
                  </a:lnTo>
                  <a:lnTo>
                    <a:pt x="124111" y="409092"/>
                  </a:lnTo>
                  <a:lnTo>
                    <a:pt x="151003" y="367167"/>
                  </a:lnTo>
                  <a:lnTo>
                    <a:pt x="180027" y="326673"/>
                  </a:lnTo>
                  <a:lnTo>
                    <a:pt x="211049" y="287754"/>
                  </a:lnTo>
                  <a:lnTo>
                    <a:pt x="243937" y="250553"/>
                  </a:lnTo>
                  <a:lnTo>
                    <a:pt x="281516" y="212356"/>
                  </a:lnTo>
                  <a:lnTo>
                    <a:pt x="320958" y="176527"/>
                  </a:lnTo>
                  <a:lnTo>
                    <a:pt x="362094" y="143245"/>
                  </a:lnTo>
                  <a:lnTo>
                    <a:pt x="404755" y="112694"/>
                  </a:lnTo>
                  <a:lnTo>
                    <a:pt x="448771" y="85056"/>
                  </a:lnTo>
                  <a:lnTo>
                    <a:pt x="493973" y="60512"/>
                  </a:lnTo>
                  <a:lnTo>
                    <a:pt x="528551" y="44244"/>
                  </a:lnTo>
                  <a:lnTo>
                    <a:pt x="599135" y="17545"/>
                  </a:lnTo>
                  <a:lnTo>
                    <a:pt x="641002" y="5732"/>
                  </a:lnTo>
                  <a:lnTo>
                    <a:pt x="653043" y="2931"/>
                  </a:lnTo>
                  <a:lnTo>
                    <a:pt x="656056" y="2253"/>
                  </a:lnTo>
                  <a:lnTo>
                    <a:pt x="659071" y="1598"/>
                  </a:lnTo>
                  <a:lnTo>
                    <a:pt x="662089" y="966"/>
                  </a:lnTo>
                  <a:lnTo>
                    <a:pt x="666887"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46" name="Google Shape;146;p4"/>
            <p:cNvPicPr preferRelativeResize="0"/>
            <p:nvPr/>
          </p:nvPicPr>
          <p:blipFill rotWithShape="1">
            <a:blip r:embed="rId5">
              <a:alphaModFix/>
            </a:blip>
            <a:srcRect b="0" l="0" r="0" t="0"/>
            <a:stretch/>
          </p:blipFill>
          <p:spPr>
            <a:xfrm>
              <a:off x="1717276" y="1679517"/>
              <a:ext cx="108242" cy="81657"/>
            </a:xfrm>
            <a:prstGeom prst="rect">
              <a:avLst/>
            </a:prstGeom>
            <a:noFill/>
            <a:ln>
              <a:noFill/>
            </a:ln>
          </p:spPr>
        </p:pic>
        <p:sp>
          <p:nvSpPr>
            <p:cNvPr id="147" name="Google Shape;147;p4"/>
            <p:cNvSpPr/>
            <p:nvPr/>
          </p:nvSpPr>
          <p:spPr>
            <a:xfrm>
              <a:off x="3904550" y="1032199"/>
              <a:ext cx="1444625" cy="450215"/>
            </a:xfrm>
            <a:custGeom>
              <a:rect b="b" l="l" r="r" t="t"/>
              <a:pathLst>
                <a:path extrusionOk="0" h="450215" w="1444625">
                  <a:moveTo>
                    <a:pt x="1305211" y="449699"/>
                  </a:moveTo>
                  <a:lnTo>
                    <a:pt x="138988" y="449699"/>
                  </a:lnTo>
                  <a:lnTo>
                    <a:pt x="95057" y="442614"/>
                  </a:lnTo>
                  <a:lnTo>
                    <a:pt x="56903" y="422883"/>
                  </a:lnTo>
                  <a:lnTo>
                    <a:pt x="26816" y="392796"/>
                  </a:lnTo>
                  <a:lnTo>
                    <a:pt x="7085" y="354642"/>
                  </a:lnTo>
                  <a:lnTo>
                    <a:pt x="0" y="310711"/>
                  </a:lnTo>
                  <a:lnTo>
                    <a:pt x="0" y="138988"/>
                  </a:lnTo>
                  <a:lnTo>
                    <a:pt x="7085" y="95057"/>
                  </a:lnTo>
                  <a:lnTo>
                    <a:pt x="26816" y="56903"/>
                  </a:lnTo>
                  <a:lnTo>
                    <a:pt x="56903" y="26816"/>
                  </a:lnTo>
                  <a:lnTo>
                    <a:pt x="95057" y="7085"/>
                  </a:lnTo>
                  <a:lnTo>
                    <a:pt x="138988" y="0"/>
                  </a:lnTo>
                  <a:lnTo>
                    <a:pt x="1305211" y="0"/>
                  </a:lnTo>
                  <a:lnTo>
                    <a:pt x="1358399" y="10579"/>
                  </a:lnTo>
                  <a:lnTo>
                    <a:pt x="1403490" y="40708"/>
                  </a:lnTo>
                  <a:lnTo>
                    <a:pt x="1433620" y="85800"/>
                  </a:lnTo>
                  <a:lnTo>
                    <a:pt x="1444199" y="138988"/>
                  </a:lnTo>
                  <a:lnTo>
                    <a:pt x="1444199" y="310711"/>
                  </a:lnTo>
                  <a:lnTo>
                    <a:pt x="1437114" y="354642"/>
                  </a:lnTo>
                  <a:lnTo>
                    <a:pt x="1417383" y="392796"/>
                  </a:lnTo>
                  <a:lnTo>
                    <a:pt x="1387296" y="422883"/>
                  </a:lnTo>
                  <a:lnTo>
                    <a:pt x="1349142" y="442614"/>
                  </a:lnTo>
                  <a:lnTo>
                    <a:pt x="1305211" y="449699"/>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48" name="Google Shape;148;p4"/>
          <p:cNvSpPr txBox="1"/>
          <p:nvPr/>
        </p:nvSpPr>
        <p:spPr>
          <a:xfrm>
            <a:off x="4146596" y="1027688"/>
            <a:ext cx="960755" cy="448309"/>
          </a:xfrm>
          <a:prstGeom prst="rect">
            <a:avLst/>
          </a:prstGeom>
          <a:noFill/>
          <a:ln>
            <a:noFill/>
          </a:ln>
        </p:spPr>
        <p:txBody>
          <a:bodyPr anchorCtr="0" anchor="t" bIns="0" lIns="0" spcFirstLastPara="1" rIns="0" wrap="square" tIns="22850">
            <a:spAutoFit/>
          </a:bodyPr>
          <a:lstStyle/>
          <a:p>
            <a:pPr indent="213360" lvl="0" marL="12700" marR="5080" rtl="0" algn="l">
              <a:lnSpc>
                <a:spcPct val="117857"/>
              </a:lnSpc>
              <a:spcBef>
                <a:spcPts val="0"/>
              </a:spcBef>
              <a:spcAft>
                <a:spcPts val="0"/>
              </a:spcAft>
              <a:buNone/>
            </a:pPr>
            <a:r>
              <a:rPr b="1" lang="en-US" sz="1400">
                <a:solidFill>
                  <a:srgbClr val="FFFFFF"/>
                </a:solidFill>
                <a:latin typeface="Arial"/>
                <a:ea typeface="Arial"/>
                <a:cs typeface="Arial"/>
                <a:sym typeface="Arial"/>
              </a:rPr>
              <a:t>Query Embedding</a:t>
            </a:r>
            <a:endParaRPr sz="1400">
              <a:latin typeface="Arial"/>
              <a:ea typeface="Arial"/>
              <a:cs typeface="Arial"/>
              <a:sym typeface="Arial"/>
            </a:endParaRPr>
          </a:p>
        </p:txBody>
      </p:sp>
      <p:grpSp>
        <p:nvGrpSpPr>
          <p:cNvPr id="149" name="Google Shape;149;p4"/>
          <p:cNvGrpSpPr/>
          <p:nvPr/>
        </p:nvGrpSpPr>
        <p:grpSpPr>
          <a:xfrm>
            <a:off x="5348749" y="1257050"/>
            <a:ext cx="962539" cy="649711"/>
            <a:chOff x="5348749" y="1257050"/>
            <a:chExt cx="962539" cy="649711"/>
          </a:xfrm>
        </p:grpSpPr>
        <p:sp>
          <p:nvSpPr>
            <p:cNvPr id="150" name="Google Shape;150;p4"/>
            <p:cNvSpPr/>
            <p:nvPr/>
          </p:nvSpPr>
          <p:spPr>
            <a:xfrm>
              <a:off x="5348749" y="1257050"/>
              <a:ext cx="867410" cy="608965"/>
            </a:xfrm>
            <a:custGeom>
              <a:rect b="b" l="l" r="r" t="t"/>
              <a:pathLst>
                <a:path extrusionOk="0" h="608964" w="867410">
                  <a:moveTo>
                    <a:pt x="0" y="0"/>
                  </a:moveTo>
                  <a:lnTo>
                    <a:pt x="54465" y="2686"/>
                  </a:lnTo>
                  <a:lnTo>
                    <a:pt x="104913" y="10463"/>
                  </a:lnTo>
                  <a:lnTo>
                    <a:pt x="151678" y="22906"/>
                  </a:lnTo>
                  <a:lnTo>
                    <a:pt x="195094" y="39591"/>
                  </a:lnTo>
                  <a:lnTo>
                    <a:pt x="235498" y="60093"/>
                  </a:lnTo>
                  <a:lnTo>
                    <a:pt x="273223" y="83990"/>
                  </a:lnTo>
                  <a:lnTo>
                    <a:pt x="308604" y="110855"/>
                  </a:lnTo>
                  <a:lnTo>
                    <a:pt x="341975" y="140266"/>
                  </a:lnTo>
                  <a:lnTo>
                    <a:pt x="373672" y="171797"/>
                  </a:lnTo>
                  <a:lnTo>
                    <a:pt x="404029" y="205026"/>
                  </a:lnTo>
                  <a:lnTo>
                    <a:pt x="433381" y="239527"/>
                  </a:lnTo>
                  <a:lnTo>
                    <a:pt x="462063" y="274876"/>
                  </a:lnTo>
                  <a:lnTo>
                    <a:pt x="490408" y="310649"/>
                  </a:lnTo>
                  <a:lnTo>
                    <a:pt x="521126" y="349391"/>
                  </a:lnTo>
                  <a:lnTo>
                    <a:pt x="552267" y="387593"/>
                  </a:lnTo>
                  <a:lnTo>
                    <a:pt x="584259" y="424716"/>
                  </a:lnTo>
                  <a:lnTo>
                    <a:pt x="617527" y="460222"/>
                  </a:lnTo>
                  <a:lnTo>
                    <a:pt x="652497" y="493570"/>
                  </a:lnTo>
                  <a:lnTo>
                    <a:pt x="689595" y="524221"/>
                  </a:lnTo>
                  <a:lnTo>
                    <a:pt x="750161" y="563963"/>
                  </a:lnTo>
                  <a:lnTo>
                    <a:pt x="817909" y="594603"/>
                  </a:lnTo>
                  <a:lnTo>
                    <a:pt x="854926" y="605941"/>
                  </a:lnTo>
                  <a:lnTo>
                    <a:pt x="864538" y="608323"/>
                  </a:lnTo>
                  <a:lnTo>
                    <a:pt x="867073" y="608907"/>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51" name="Google Shape;151;p4"/>
            <p:cNvPicPr preferRelativeResize="0"/>
            <p:nvPr/>
          </p:nvPicPr>
          <p:blipFill rotWithShape="1">
            <a:blip r:embed="rId6">
              <a:alphaModFix/>
            </a:blip>
            <a:srcRect b="0" l="0" r="0" t="0"/>
            <a:stretch/>
          </p:blipFill>
          <p:spPr>
            <a:xfrm>
              <a:off x="6202886" y="1825152"/>
              <a:ext cx="108402" cy="81609"/>
            </a:xfrm>
            <a:prstGeom prst="rect">
              <a:avLst/>
            </a:prstGeom>
            <a:noFill/>
            <a:ln>
              <a:noFill/>
            </a:ln>
          </p:spPr>
        </p:pic>
        <p:sp>
          <p:nvSpPr>
            <p:cNvPr id="152" name="Google Shape;152;p4"/>
            <p:cNvSpPr/>
            <p:nvPr/>
          </p:nvSpPr>
          <p:spPr>
            <a:xfrm>
              <a:off x="5430687" y="1392200"/>
              <a:ext cx="676275" cy="351155"/>
            </a:xfrm>
            <a:custGeom>
              <a:rect b="b" l="l" r="r" t="t"/>
              <a:pathLst>
                <a:path extrusionOk="0" h="351155" w="676275">
                  <a:moveTo>
                    <a:pt x="675899" y="350999"/>
                  </a:moveTo>
                  <a:lnTo>
                    <a:pt x="0" y="350999"/>
                  </a:lnTo>
                  <a:lnTo>
                    <a:pt x="0" y="0"/>
                  </a:lnTo>
                  <a:lnTo>
                    <a:pt x="675899" y="0"/>
                  </a:lnTo>
                  <a:lnTo>
                    <a:pt x="675899" y="350999"/>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53" name="Google Shape;153;p4"/>
          <p:cNvSpPr txBox="1"/>
          <p:nvPr/>
        </p:nvSpPr>
        <p:spPr>
          <a:xfrm>
            <a:off x="5430687" y="1392200"/>
            <a:ext cx="676275" cy="179070"/>
          </a:xfrm>
          <a:prstGeom prst="rect">
            <a:avLst/>
          </a:prstGeom>
          <a:noFill/>
          <a:ln>
            <a:noFill/>
          </a:ln>
        </p:spPr>
        <p:txBody>
          <a:bodyPr anchorCtr="0" anchor="t" bIns="0" lIns="0" spcFirstLastPara="1" rIns="0" wrap="square" tIns="33650">
            <a:spAutoFit/>
          </a:bodyPr>
          <a:lstStyle/>
          <a:p>
            <a:pPr indent="0" lvl="0" marL="98425" rtl="0" algn="l">
              <a:lnSpc>
                <a:spcPct val="100000"/>
              </a:lnSpc>
              <a:spcBef>
                <a:spcPts val="0"/>
              </a:spcBef>
              <a:spcAft>
                <a:spcPts val="0"/>
              </a:spcAft>
              <a:buNone/>
            </a:pPr>
            <a:r>
              <a:rPr b="1" lang="en-US" sz="900">
                <a:solidFill>
                  <a:srgbClr val="7E7E7E"/>
                </a:solidFill>
                <a:latin typeface="Arial"/>
                <a:ea typeface="Arial"/>
                <a:cs typeface="Arial"/>
                <a:sym typeface="Arial"/>
              </a:rPr>
              <a:t>similarity</a:t>
            </a:r>
            <a:endParaRPr sz="900">
              <a:latin typeface="Arial"/>
              <a:ea typeface="Arial"/>
              <a:cs typeface="Arial"/>
              <a:sym typeface="Arial"/>
            </a:endParaRPr>
          </a:p>
        </p:txBody>
      </p:sp>
      <p:sp>
        <p:nvSpPr>
          <p:cNvPr id="154" name="Google Shape;154;p4"/>
          <p:cNvSpPr txBox="1"/>
          <p:nvPr/>
        </p:nvSpPr>
        <p:spPr>
          <a:xfrm>
            <a:off x="5430687" y="1571243"/>
            <a:ext cx="676275" cy="172085"/>
          </a:xfrm>
          <a:prstGeom prst="rect">
            <a:avLst/>
          </a:prstGeom>
          <a:noFill/>
          <a:ln>
            <a:noFill/>
          </a:ln>
        </p:spPr>
        <p:txBody>
          <a:bodyPr anchorCtr="0" anchor="t" bIns="0" lIns="0" spcFirstLastPara="1" rIns="0" wrap="square" tIns="0">
            <a:spAutoFit/>
          </a:bodyPr>
          <a:lstStyle/>
          <a:p>
            <a:pPr indent="0" lvl="0" marL="87630" rtl="0" algn="l">
              <a:lnSpc>
                <a:spcPct val="112777"/>
              </a:lnSpc>
              <a:spcBef>
                <a:spcPts val="0"/>
              </a:spcBef>
              <a:spcAft>
                <a:spcPts val="0"/>
              </a:spcAft>
              <a:buNone/>
            </a:pPr>
            <a:r>
              <a:rPr b="1" lang="en-US" sz="900">
                <a:solidFill>
                  <a:srgbClr val="7E7E7E"/>
                </a:solidFill>
                <a:latin typeface="Arial"/>
                <a:ea typeface="Arial"/>
                <a:cs typeface="Arial"/>
                <a:sym typeface="Arial"/>
              </a:rPr>
              <a:t>search on</a:t>
            </a:r>
            <a:endParaRPr sz="900">
              <a:latin typeface="Arial"/>
              <a:ea typeface="Arial"/>
              <a:cs typeface="Arial"/>
              <a:sym typeface="Arial"/>
            </a:endParaRPr>
          </a:p>
        </p:txBody>
      </p:sp>
      <p:sp>
        <p:nvSpPr>
          <p:cNvPr id="155" name="Google Shape;155;p4"/>
          <p:cNvSpPr txBox="1"/>
          <p:nvPr/>
        </p:nvSpPr>
        <p:spPr>
          <a:xfrm>
            <a:off x="863962" y="1851337"/>
            <a:ext cx="676275" cy="351155"/>
          </a:xfrm>
          <a:prstGeom prst="rect">
            <a:avLst/>
          </a:prstGeom>
          <a:solidFill>
            <a:srgbClr val="FFFFFF"/>
          </a:solidFill>
          <a:ln>
            <a:noFill/>
          </a:ln>
        </p:spPr>
        <p:txBody>
          <a:bodyPr anchorCtr="0" anchor="t" bIns="0" lIns="0" spcFirstLastPara="1" rIns="0" wrap="square" tIns="33650">
            <a:spAutoFit/>
          </a:bodyPr>
          <a:lstStyle/>
          <a:p>
            <a:pPr indent="-208915" lvl="0" marL="284480" marR="67945" rtl="0" algn="l">
              <a:lnSpc>
                <a:spcPct val="100000"/>
              </a:lnSpc>
              <a:spcBef>
                <a:spcPts val="0"/>
              </a:spcBef>
              <a:spcAft>
                <a:spcPts val="0"/>
              </a:spcAft>
              <a:buNone/>
            </a:pPr>
            <a:r>
              <a:rPr b="1" lang="en-US" sz="900">
                <a:solidFill>
                  <a:srgbClr val="7E7E7E"/>
                </a:solidFill>
                <a:latin typeface="Arial"/>
                <a:ea typeface="Arial"/>
                <a:cs typeface="Arial"/>
                <a:sym typeface="Arial"/>
              </a:rPr>
              <a:t>presented to</a:t>
            </a:r>
            <a:endParaRPr sz="900">
              <a:latin typeface="Arial"/>
              <a:ea typeface="Arial"/>
              <a:cs typeface="Arial"/>
              <a:sym typeface="Arial"/>
            </a:endParaRPr>
          </a:p>
        </p:txBody>
      </p:sp>
      <p:sp>
        <p:nvSpPr>
          <p:cNvPr id="156" name="Google Shape;156;p4"/>
          <p:cNvSpPr txBox="1"/>
          <p:nvPr/>
        </p:nvSpPr>
        <p:spPr>
          <a:xfrm>
            <a:off x="3146687" y="1371550"/>
            <a:ext cx="676275" cy="223520"/>
          </a:xfrm>
          <a:prstGeom prst="rect">
            <a:avLst/>
          </a:prstGeom>
          <a:solidFill>
            <a:srgbClr val="FFFFFF"/>
          </a:solidFill>
          <a:ln>
            <a:noFill/>
          </a:ln>
        </p:spPr>
        <p:txBody>
          <a:bodyPr anchorCtr="0" anchor="t" bIns="0" lIns="0" spcFirstLastPara="1" rIns="0" wrap="square" tIns="38100">
            <a:spAutoFit/>
          </a:bodyPr>
          <a:lstStyle/>
          <a:p>
            <a:pPr indent="0" lvl="0" marL="78740" rtl="0" algn="l">
              <a:lnSpc>
                <a:spcPct val="100000"/>
              </a:lnSpc>
              <a:spcBef>
                <a:spcPts val="0"/>
              </a:spcBef>
              <a:spcAft>
                <a:spcPts val="0"/>
              </a:spcAft>
              <a:buNone/>
            </a:pPr>
            <a:r>
              <a:rPr b="1" lang="en-US" sz="900">
                <a:solidFill>
                  <a:srgbClr val="7E7E7E"/>
                </a:solidFill>
                <a:latin typeface="Arial"/>
                <a:ea typeface="Arial"/>
                <a:cs typeface="Arial"/>
                <a:sym typeface="Arial"/>
              </a:rPr>
              <a:t>generates</a:t>
            </a:r>
            <a:endParaRPr sz="900">
              <a:latin typeface="Arial"/>
              <a:ea typeface="Arial"/>
              <a:cs typeface="Arial"/>
              <a:sym typeface="Arial"/>
            </a:endParaRPr>
          </a:p>
        </p:txBody>
      </p:sp>
      <p:sp>
        <p:nvSpPr>
          <p:cNvPr id="157" name="Google Shape;157;p4"/>
          <p:cNvSpPr/>
          <p:nvPr/>
        </p:nvSpPr>
        <p:spPr>
          <a:xfrm>
            <a:off x="4275290" y="3319081"/>
            <a:ext cx="3377565" cy="450215"/>
          </a:xfrm>
          <a:custGeom>
            <a:rect b="b" l="l" r="r" t="t"/>
            <a:pathLst>
              <a:path extrusionOk="0" h="450214" w="3377565">
                <a:moveTo>
                  <a:pt x="839698" y="138988"/>
                </a:moveTo>
                <a:lnTo>
                  <a:pt x="829119" y="85801"/>
                </a:lnTo>
                <a:lnTo>
                  <a:pt x="798995" y="40703"/>
                </a:lnTo>
                <a:lnTo>
                  <a:pt x="753910" y="10579"/>
                </a:lnTo>
                <a:lnTo>
                  <a:pt x="700709" y="0"/>
                </a:lnTo>
                <a:lnTo>
                  <a:pt x="138988" y="0"/>
                </a:lnTo>
                <a:lnTo>
                  <a:pt x="95059" y="7086"/>
                </a:lnTo>
                <a:lnTo>
                  <a:pt x="56908" y="26822"/>
                </a:lnTo>
                <a:lnTo>
                  <a:pt x="26822" y="56908"/>
                </a:lnTo>
                <a:lnTo>
                  <a:pt x="7086" y="95059"/>
                </a:lnTo>
                <a:lnTo>
                  <a:pt x="0" y="138988"/>
                </a:lnTo>
                <a:lnTo>
                  <a:pt x="0" y="310705"/>
                </a:lnTo>
                <a:lnTo>
                  <a:pt x="7086" y="354647"/>
                </a:lnTo>
                <a:lnTo>
                  <a:pt x="26822" y="392798"/>
                </a:lnTo>
                <a:lnTo>
                  <a:pt x="56908" y="422884"/>
                </a:lnTo>
                <a:lnTo>
                  <a:pt x="95059" y="442620"/>
                </a:lnTo>
                <a:lnTo>
                  <a:pt x="138988" y="449694"/>
                </a:lnTo>
                <a:lnTo>
                  <a:pt x="700709" y="449694"/>
                </a:lnTo>
                <a:lnTo>
                  <a:pt x="744651" y="442620"/>
                </a:lnTo>
                <a:lnTo>
                  <a:pt x="782802" y="422884"/>
                </a:lnTo>
                <a:lnTo>
                  <a:pt x="812888" y="392798"/>
                </a:lnTo>
                <a:lnTo>
                  <a:pt x="832612" y="354647"/>
                </a:lnTo>
                <a:lnTo>
                  <a:pt x="839698" y="310705"/>
                </a:lnTo>
                <a:lnTo>
                  <a:pt x="839698" y="138988"/>
                </a:lnTo>
                <a:close/>
              </a:path>
              <a:path extrusionOk="0" h="450214" w="3377565">
                <a:moveTo>
                  <a:pt x="1787677" y="138988"/>
                </a:moveTo>
                <a:lnTo>
                  <a:pt x="1777098" y="85801"/>
                </a:lnTo>
                <a:lnTo>
                  <a:pt x="1746973" y="40703"/>
                </a:lnTo>
                <a:lnTo>
                  <a:pt x="1701876" y="10579"/>
                </a:lnTo>
                <a:lnTo>
                  <a:pt x="1648688" y="0"/>
                </a:lnTo>
                <a:lnTo>
                  <a:pt x="1086967" y="0"/>
                </a:lnTo>
                <a:lnTo>
                  <a:pt x="1043038" y="7086"/>
                </a:lnTo>
                <a:lnTo>
                  <a:pt x="1004887" y="26822"/>
                </a:lnTo>
                <a:lnTo>
                  <a:pt x="974801" y="56908"/>
                </a:lnTo>
                <a:lnTo>
                  <a:pt x="955065" y="95059"/>
                </a:lnTo>
                <a:lnTo>
                  <a:pt x="947978" y="138988"/>
                </a:lnTo>
                <a:lnTo>
                  <a:pt x="947978" y="310705"/>
                </a:lnTo>
                <a:lnTo>
                  <a:pt x="955065" y="354647"/>
                </a:lnTo>
                <a:lnTo>
                  <a:pt x="974801" y="392798"/>
                </a:lnTo>
                <a:lnTo>
                  <a:pt x="1004887" y="422884"/>
                </a:lnTo>
                <a:lnTo>
                  <a:pt x="1043038" y="442620"/>
                </a:lnTo>
                <a:lnTo>
                  <a:pt x="1086967" y="449694"/>
                </a:lnTo>
                <a:lnTo>
                  <a:pt x="1648688" y="449694"/>
                </a:lnTo>
                <a:lnTo>
                  <a:pt x="1692617" y="442620"/>
                </a:lnTo>
                <a:lnTo>
                  <a:pt x="1730768" y="422884"/>
                </a:lnTo>
                <a:lnTo>
                  <a:pt x="1760867" y="392798"/>
                </a:lnTo>
                <a:lnTo>
                  <a:pt x="1780590" y="354647"/>
                </a:lnTo>
                <a:lnTo>
                  <a:pt x="1787677" y="310705"/>
                </a:lnTo>
                <a:lnTo>
                  <a:pt x="1787677" y="138988"/>
                </a:lnTo>
                <a:close/>
              </a:path>
              <a:path extrusionOk="0" h="450214" w="3377565">
                <a:moveTo>
                  <a:pt x="3377425" y="138988"/>
                </a:moveTo>
                <a:lnTo>
                  <a:pt x="3366846" y="85801"/>
                </a:lnTo>
                <a:lnTo>
                  <a:pt x="3336721" y="40703"/>
                </a:lnTo>
                <a:lnTo>
                  <a:pt x="3291624" y="10579"/>
                </a:lnTo>
                <a:lnTo>
                  <a:pt x="3238436" y="0"/>
                </a:lnTo>
                <a:lnTo>
                  <a:pt x="2676715" y="0"/>
                </a:lnTo>
                <a:lnTo>
                  <a:pt x="2632786" y="7086"/>
                </a:lnTo>
                <a:lnTo>
                  <a:pt x="2594635" y="26822"/>
                </a:lnTo>
                <a:lnTo>
                  <a:pt x="2564549" y="56908"/>
                </a:lnTo>
                <a:lnTo>
                  <a:pt x="2544813" y="95059"/>
                </a:lnTo>
                <a:lnTo>
                  <a:pt x="2537726" y="138988"/>
                </a:lnTo>
                <a:lnTo>
                  <a:pt x="2537726" y="310705"/>
                </a:lnTo>
                <a:lnTo>
                  <a:pt x="2544813" y="354647"/>
                </a:lnTo>
                <a:lnTo>
                  <a:pt x="2564549" y="392798"/>
                </a:lnTo>
                <a:lnTo>
                  <a:pt x="2594635" y="422884"/>
                </a:lnTo>
                <a:lnTo>
                  <a:pt x="2632786" y="442620"/>
                </a:lnTo>
                <a:lnTo>
                  <a:pt x="2676715" y="449694"/>
                </a:lnTo>
                <a:lnTo>
                  <a:pt x="3238436" y="449694"/>
                </a:lnTo>
                <a:lnTo>
                  <a:pt x="3282365" y="442620"/>
                </a:lnTo>
                <a:lnTo>
                  <a:pt x="3320529" y="422884"/>
                </a:lnTo>
                <a:lnTo>
                  <a:pt x="3350615" y="392798"/>
                </a:lnTo>
                <a:lnTo>
                  <a:pt x="3370338" y="354647"/>
                </a:lnTo>
                <a:lnTo>
                  <a:pt x="3377425" y="310705"/>
                </a:lnTo>
                <a:lnTo>
                  <a:pt x="3377425" y="138988"/>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8" name="Google Shape;158;p4"/>
          <p:cNvSpPr txBox="1"/>
          <p:nvPr/>
        </p:nvSpPr>
        <p:spPr>
          <a:xfrm>
            <a:off x="6987653" y="3419337"/>
            <a:ext cx="49085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FFFFFF"/>
                </a:solidFill>
                <a:latin typeface="Arial"/>
                <a:ea typeface="Arial"/>
                <a:cs typeface="Arial"/>
                <a:sym typeface="Arial"/>
              </a:rPr>
              <a:t>Doc k</a:t>
            </a:r>
            <a:endParaRPr sz="1400">
              <a:latin typeface="Arial"/>
              <a:ea typeface="Arial"/>
              <a:cs typeface="Arial"/>
              <a:sym typeface="Arial"/>
            </a:endParaRPr>
          </a:p>
        </p:txBody>
      </p:sp>
      <p:sp>
        <p:nvSpPr>
          <p:cNvPr id="159" name="Google Shape;159;p4"/>
          <p:cNvSpPr/>
          <p:nvPr/>
        </p:nvSpPr>
        <p:spPr>
          <a:xfrm>
            <a:off x="4189050" y="3272825"/>
            <a:ext cx="3625215" cy="572770"/>
          </a:xfrm>
          <a:custGeom>
            <a:rect b="b" l="l" r="r" t="t"/>
            <a:pathLst>
              <a:path extrusionOk="0" h="572770" w="3625215">
                <a:moveTo>
                  <a:pt x="0" y="95451"/>
                </a:moveTo>
                <a:lnTo>
                  <a:pt x="7501" y="58297"/>
                </a:lnTo>
                <a:lnTo>
                  <a:pt x="27957" y="27957"/>
                </a:lnTo>
                <a:lnTo>
                  <a:pt x="58297" y="7501"/>
                </a:lnTo>
                <a:lnTo>
                  <a:pt x="95451" y="0"/>
                </a:lnTo>
                <a:lnTo>
                  <a:pt x="3529748" y="0"/>
                </a:lnTo>
                <a:lnTo>
                  <a:pt x="3582705" y="16037"/>
                </a:lnTo>
                <a:lnTo>
                  <a:pt x="3617934" y="58923"/>
                </a:lnTo>
                <a:lnTo>
                  <a:pt x="3625199" y="95451"/>
                </a:lnTo>
                <a:lnTo>
                  <a:pt x="3625199" y="477247"/>
                </a:lnTo>
                <a:lnTo>
                  <a:pt x="3617698" y="514402"/>
                </a:lnTo>
                <a:lnTo>
                  <a:pt x="3597242" y="544742"/>
                </a:lnTo>
                <a:lnTo>
                  <a:pt x="3566902" y="565198"/>
                </a:lnTo>
                <a:lnTo>
                  <a:pt x="3529748" y="572699"/>
                </a:lnTo>
                <a:lnTo>
                  <a:pt x="95451" y="572699"/>
                </a:lnTo>
                <a:lnTo>
                  <a:pt x="58297" y="565198"/>
                </a:lnTo>
                <a:lnTo>
                  <a:pt x="27957" y="544742"/>
                </a:lnTo>
                <a:lnTo>
                  <a:pt x="7501" y="514402"/>
                </a:lnTo>
                <a:lnTo>
                  <a:pt x="0" y="477247"/>
                </a:lnTo>
                <a:lnTo>
                  <a:pt x="0" y="9545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0" name="Google Shape;160;p4"/>
          <p:cNvSpPr txBox="1"/>
          <p:nvPr/>
        </p:nvSpPr>
        <p:spPr>
          <a:xfrm>
            <a:off x="6343792" y="3384920"/>
            <a:ext cx="18859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7E7E7E"/>
                </a:solidFill>
                <a:latin typeface="Arial"/>
                <a:ea typeface="Arial"/>
                <a:cs typeface="Arial"/>
                <a:sym typeface="Arial"/>
              </a:rPr>
              <a:t>…</a:t>
            </a:r>
            <a:endParaRPr sz="1800">
              <a:latin typeface="Arial"/>
              <a:ea typeface="Arial"/>
              <a:cs typeface="Arial"/>
              <a:sym typeface="Arial"/>
            </a:endParaRPr>
          </a:p>
        </p:txBody>
      </p:sp>
      <p:grpSp>
        <p:nvGrpSpPr>
          <p:cNvPr id="161" name="Google Shape;161;p4"/>
          <p:cNvGrpSpPr/>
          <p:nvPr/>
        </p:nvGrpSpPr>
        <p:grpSpPr>
          <a:xfrm>
            <a:off x="6005200" y="2687799"/>
            <a:ext cx="1142238" cy="569923"/>
            <a:chOff x="6005200" y="2687799"/>
            <a:chExt cx="1142238" cy="569923"/>
          </a:xfrm>
        </p:grpSpPr>
        <p:sp>
          <p:nvSpPr>
            <p:cNvPr id="162" name="Google Shape;162;p4"/>
            <p:cNvSpPr/>
            <p:nvPr/>
          </p:nvSpPr>
          <p:spPr>
            <a:xfrm>
              <a:off x="6055238" y="2687799"/>
              <a:ext cx="1092200" cy="484505"/>
            </a:xfrm>
            <a:custGeom>
              <a:rect b="b" l="l" r="r" t="t"/>
              <a:pathLst>
                <a:path extrusionOk="0" h="484505" w="1092200">
                  <a:moveTo>
                    <a:pt x="1091836" y="0"/>
                  </a:moveTo>
                  <a:lnTo>
                    <a:pt x="1077243" y="54775"/>
                  </a:lnTo>
                  <a:lnTo>
                    <a:pt x="1036178" y="102791"/>
                  </a:lnTo>
                  <a:lnTo>
                    <a:pt x="972714" y="145086"/>
                  </a:lnTo>
                  <a:lnTo>
                    <a:pt x="933855" y="164414"/>
                  </a:lnTo>
                  <a:lnTo>
                    <a:pt x="890924" y="182701"/>
                  </a:lnTo>
                  <a:lnTo>
                    <a:pt x="844429" y="200079"/>
                  </a:lnTo>
                  <a:lnTo>
                    <a:pt x="794880" y="216676"/>
                  </a:lnTo>
                  <a:lnTo>
                    <a:pt x="742786" y="232623"/>
                  </a:lnTo>
                  <a:lnTo>
                    <a:pt x="688655" y="248051"/>
                  </a:lnTo>
                  <a:lnTo>
                    <a:pt x="632997" y="263088"/>
                  </a:lnTo>
                  <a:lnTo>
                    <a:pt x="576321" y="277865"/>
                  </a:lnTo>
                  <a:lnTo>
                    <a:pt x="519136" y="292511"/>
                  </a:lnTo>
                  <a:lnTo>
                    <a:pt x="465515" y="306240"/>
                  </a:lnTo>
                  <a:lnTo>
                    <a:pt x="412314" y="320076"/>
                  </a:lnTo>
                  <a:lnTo>
                    <a:pt x="359951" y="334125"/>
                  </a:lnTo>
                  <a:lnTo>
                    <a:pt x="308847" y="348497"/>
                  </a:lnTo>
                  <a:lnTo>
                    <a:pt x="259421" y="363296"/>
                  </a:lnTo>
                  <a:lnTo>
                    <a:pt x="212092" y="378631"/>
                  </a:lnTo>
                  <a:lnTo>
                    <a:pt x="167280" y="394608"/>
                  </a:lnTo>
                  <a:lnTo>
                    <a:pt x="125404" y="411336"/>
                  </a:lnTo>
                  <a:lnTo>
                    <a:pt x="86884" y="428920"/>
                  </a:lnTo>
                  <a:lnTo>
                    <a:pt x="52139" y="447468"/>
                  </a:lnTo>
                  <a:lnTo>
                    <a:pt x="16870" y="470452"/>
                  </a:lnTo>
                  <a:lnTo>
                    <a:pt x="8017" y="477332"/>
                  </a:lnTo>
                  <a:lnTo>
                    <a:pt x="5854" y="479065"/>
                  </a:lnTo>
                  <a:lnTo>
                    <a:pt x="3742" y="480810"/>
                  </a:lnTo>
                  <a:lnTo>
                    <a:pt x="1681" y="482569"/>
                  </a:lnTo>
                  <a:lnTo>
                    <a:pt x="0" y="484027"/>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63" name="Google Shape;163;p4"/>
            <p:cNvPicPr preferRelativeResize="0"/>
            <p:nvPr/>
          </p:nvPicPr>
          <p:blipFill rotWithShape="1">
            <a:blip r:embed="rId7">
              <a:alphaModFix/>
            </a:blip>
            <a:srcRect b="0" l="0" r="0" t="0"/>
            <a:stretch/>
          </p:blipFill>
          <p:spPr>
            <a:xfrm>
              <a:off x="6005200" y="3147557"/>
              <a:ext cx="87359" cy="110165"/>
            </a:xfrm>
            <a:prstGeom prst="rect">
              <a:avLst/>
            </a:prstGeom>
            <a:noFill/>
            <a:ln>
              <a:noFill/>
            </a:ln>
          </p:spPr>
        </p:pic>
      </p:grpSp>
      <p:sp>
        <p:nvSpPr>
          <p:cNvPr id="164" name="Google Shape;164;p4"/>
          <p:cNvSpPr txBox="1"/>
          <p:nvPr/>
        </p:nvSpPr>
        <p:spPr>
          <a:xfrm>
            <a:off x="6329450" y="2868862"/>
            <a:ext cx="676275" cy="223520"/>
          </a:xfrm>
          <a:prstGeom prst="rect">
            <a:avLst/>
          </a:prstGeom>
          <a:solidFill>
            <a:srgbClr val="FFFFFF"/>
          </a:solidFill>
          <a:ln>
            <a:noFill/>
          </a:ln>
        </p:spPr>
        <p:txBody>
          <a:bodyPr anchorCtr="0" anchor="t" bIns="0" lIns="0" spcFirstLastPara="1" rIns="0" wrap="square" tIns="38100">
            <a:spAutoFit/>
          </a:bodyPr>
          <a:lstStyle/>
          <a:p>
            <a:pPr indent="0" lvl="0" marL="112395" rtl="0" algn="l">
              <a:lnSpc>
                <a:spcPct val="100000"/>
              </a:lnSpc>
              <a:spcBef>
                <a:spcPts val="0"/>
              </a:spcBef>
              <a:spcAft>
                <a:spcPts val="0"/>
              </a:spcAft>
              <a:buNone/>
            </a:pPr>
            <a:r>
              <a:rPr b="1" lang="en-US" sz="900">
                <a:solidFill>
                  <a:srgbClr val="7E7E7E"/>
                </a:solidFill>
                <a:latin typeface="Arial"/>
                <a:ea typeface="Arial"/>
                <a:cs typeface="Arial"/>
                <a:sym typeface="Arial"/>
              </a:rPr>
              <a:t>retrieves</a:t>
            </a:r>
            <a:endParaRPr sz="900">
              <a:latin typeface="Arial"/>
              <a:ea typeface="Arial"/>
              <a:cs typeface="Arial"/>
              <a:sym typeface="Arial"/>
            </a:endParaRPr>
          </a:p>
        </p:txBody>
      </p:sp>
      <p:sp>
        <p:nvSpPr>
          <p:cNvPr id="165" name="Google Shape;165;p4"/>
          <p:cNvSpPr txBox="1"/>
          <p:nvPr/>
        </p:nvSpPr>
        <p:spPr>
          <a:xfrm>
            <a:off x="4331175" y="3419337"/>
            <a:ext cx="1951355" cy="699770"/>
          </a:xfrm>
          <a:prstGeom prst="rect">
            <a:avLst/>
          </a:prstGeom>
          <a:noFill/>
          <a:ln>
            <a:noFill/>
          </a:ln>
        </p:spPr>
        <p:txBody>
          <a:bodyPr anchorCtr="0" anchor="t" bIns="0" lIns="0" spcFirstLastPara="1" rIns="0" wrap="square" tIns="12700">
            <a:spAutoFit/>
          </a:bodyPr>
          <a:lstStyle/>
          <a:p>
            <a:pPr indent="0" lvl="0" marL="125730" rtl="0" algn="l">
              <a:lnSpc>
                <a:spcPct val="100000"/>
              </a:lnSpc>
              <a:spcBef>
                <a:spcPts val="0"/>
              </a:spcBef>
              <a:spcAft>
                <a:spcPts val="0"/>
              </a:spcAft>
              <a:buNone/>
            </a:pPr>
            <a:r>
              <a:rPr b="1" lang="en-US" sz="1400">
                <a:solidFill>
                  <a:srgbClr val="FFFFFF"/>
                </a:solidFill>
                <a:latin typeface="Arial"/>
                <a:ea typeface="Arial"/>
                <a:cs typeface="Arial"/>
                <a:sym typeface="Arial"/>
              </a:rPr>
              <a:t>Doc 1	Doc 2</a:t>
            </a:r>
            <a:endParaRPr sz="1400">
              <a:latin typeface="Arial"/>
              <a:ea typeface="Arial"/>
              <a:cs typeface="Arial"/>
              <a:sym typeface="Arial"/>
            </a:endParaRPr>
          </a:p>
          <a:p>
            <a:pPr indent="0" lvl="0" marL="0" rtl="0" algn="l">
              <a:lnSpc>
                <a:spcPct val="100000"/>
              </a:lnSpc>
              <a:spcBef>
                <a:spcPts val="580"/>
              </a:spcBef>
              <a:spcAft>
                <a:spcPts val="0"/>
              </a:spcAft>
              <a:buNone/>
            </a:pPr>
            <a:r>
              <a:t/>
            </a:r>
            <a:endParaRPr sz="1400">
              <a:latin typeface="Arial"/>
              <a:ea typeface="Arial"/>
              <a:cs typeface="Arial"/>
              <a:sym typeface="Arial"/>
            </a:endParaRPr>
          </a:p>
          <a:p>
            <a:pPr indent="0" lvl="0" marL="12700" rtl="0" algn="l">
              <a:lnSpc>
                <a:spcPct val="100000"/>
              </a:lnSpc>
              <a:spcBef>
                <a:spcPts val="0"/>
              </a:spcBef>
              <a:spcAft>
                <a:spcPts val="0"/>
              </a:spcAft>
              <a:buNone/>
            </a:pPr>
            <a:r>
              <a:rPr b="1" lang="en-US" sz="1200">
                <a:solidFill>
                  <a:srgbClr val="7E7E7E"/>
                </a:solidFill>
                <a:latin typeface="Arial"/>
                <a:ea typeface="Arial"/>
                <a:cs typeface="Arial"/>
                <a:sym typeface="Arial"/>
              </a:rPr>
              <a:t>Relevant Document Chunks</a:t>
            </a:r>
            <a:endParaRPr sz="1200">
              <a:latin typeface="Arial"/>
              <a:ea typeface="Arial"/>
              <a:cs typeface="Arial"/>
              <a:sym typeface="Arial"/>
            </a:endParaRPr>
          </a:p>
        </p:txBody>
      </p:sp>
      <p:sp>
        <p:nvSpPr>
          <p:cNvPr id="166" name="Google Shape;166;p4"/>
          <p:cNvSpPr/>
          <p:nvPr/>
        </p:nvSpPr>
        <p:spPr>
          <a:xfrm>
            <a:off x="2142800" y="3334325"/>
            <a:ext cx="855980" cy="450215"/>
          </a:xfrm>
          <a:custGeom>
            <a:rect b="b" l="l" r="r" t="t"/>
            <a:pathLst>
              <a:path extrusionOk="0" h="450214" w="855980">
                <a:moveTo>
                  <a:pt x="716911" y="449699"/>
                </a:moveTo>
                <a:lnTo>
                  <a:pt x="138988" y="449699"/>
                </a:lnTo>
                <a:lnTo>
                  <a:pt x="95057" y="442614"/>
                </a:lnTo>
                <a:lnTo>
                  <a:pt x="56903" y="422883"/>
                </a:lnTo>
                <a:lnTo>
                  <a:pt x="26816" y="392796"/>
                </a:lnTo>
                <a:lnTo>
                  <a:pt x="7085" y="354642"/>
                </a:lnTo>
                <a:lnTo>
                  <a:pt x="0" y="310711"/>
                </a:lnTo>
                <a:lnTo>
                  <a:pt x="0" y="138988"/>
                </a:lnTo>
                <a:lnTo>
                  <a:pt x="7085" y="95057"/>
                </a:lnTo>
                <a:lnTo>
                  <a:pt x="26816" y="56903"/>
                </a:lnTo>
                <a:lnTo>
                  <a:pt x="56903" y="26816"/>
                </a:lnTo>
                <a:lnTo>
                  <a:pt x="95057" y="7085"/>
                </a:lnTo>
                <a:lnTo>
                  <a:pt x="138988" y="0"/>
                </a:lnTo>
                <a:lnTo>
                  <a:pt x="716911" y="0"/>
                </a:lnTo>
                <a:lnTo>
                  <a:pt x="770099" y="10579"/>
                </a:lnTo>
                <a:lnTo>
                  <a:pt x="815191" y="40708"/>
                </a:lnTo>
                <a:lnTo>
                  <a:pt x="845320" y="85799"/>
                </a:lnTo>
                <a:lnTo>
                  <a:pt x="855899" y="138988"/>
                </a:lnTo>
                <a:lnTo>
                  <a:pt x="855899" y="310711"/>
                </a:lnTo>
                <a:lnTo>
                  <a:pt x="848814" y="354642"/>
                </a:lnTo>
                <a:lnTo>
                  <a:pt x="829083" y="392796"/>
                </a:lnTo>
                <a:lnTo>
                  <a:pt x="798996" y="422883"/>
                </a:lnTo>
                <a:lnTo>
                  <a:pt x="760842" y="442614"/>
                </a:lnTo>
                <a:lnTo>
                  <a:pt x="716911" y="4496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7" name="Google Shape;167;p4"/>
          <p:cNvSpPr txBox="1"/>
          <p:nvPr/>
        </p:nvSpPr>
        <p:spPr>
          <a:xfrm>
            <a:off x="2381060" y="3434588"/>
            <a:ext cx="379730"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FFFFFF"/>
                </a:solidFill>
                <a:latin typeface="Arial"/>
                <a:ea typeface="Arial"/>
                <a:cs typeface="Arial"/>
                <a:sym typeface="Arial"/>
              </a:rPr>
              <a:t>LLM</a:t>
            </a:r>
            <a:endParaRPr sz="1400">
              <a:latin typeface="Arial"/>
              <a:ea typeface="Arial"/>
              <a:cs typeface="Arial"/>
              <a:sym typeface="Arial"/>
            </a:endParaRPr>
          </a:p>
        </p:txBody>
      </p:sp>
      <p:grpSp>
        <p:nvGrpSpPr>
          <p:cNvPr id="168" name="Google Shape;168;p4"/>
          <p:cNvGrpSpPr/>
          <p:nvPr/>
        </p:nvGrpSpPr>
        <p:grpSpPr>
          <a:xfrm>
            <a:off x="486049" y="2547574"/>
            <a:ext cx="3703225" cy="1053176"/>
            <a:chOff x="486049" y="2547574"/>
            <a:chExt cx="3703225" cy="1053176"/>
          </a:xfrm>
        </p:grpSpPr>
        <p:sp>
          <p:nvSpPr>
            <p:cNvPr id="169" name="Google Shape;169;p4"/>
            <p:cNvSpPr/>
            <p:nvPr/>
          </p:nvSpPr>
          <p:spPr>
            <a:xfrm>
              <a:off x="3112949" y="3559174"/>
              <a:ext cx="1076325" cy="635"/>
            </a:xfrm>
            <a:custGeom>
              <a:rect b="b" l="l" r="r" t="t"/>
              <a:pathLst>
                <a:path extrusionOk="0" h="635" w="1076325">
                  <a:moveTo>
                    <a:pt x="1076099" y="0"/>
                  </a:moveTo>
                  <a:lnTo>
                    <a:pt x="1004716" y="3"/>
                  </a:lnTo>
                  <a:lnTo>
                    <a:pt x="939016" y="11"/>
                  </a:lnTo>
                  <a:lnTo>
                    <a:pt x="878483" y="25"/>
                  </a:lnTo>
                  <a:lnTo>
                    <a:pt x="822600" y="44"/>
                  </a:lnTo>
                  <a:lnTo>
                    <a:pt x="770850" y="67"/>
                  </a:lnTo>
                  <a:lnTo>
                    <a:pt x="722716" y="93"/>
                  </a:lnTo>
                  <a:lnTo>
                    <a:pt x="677682" y="123"/>
                  </a:lnTo>
                  <a:lnTo>
                    <a:pt x="635231" y="155"/>
                  </a:lnTo>
                  <a:lnTo>
                    <a:pt x="594846" y="189"/>
                  </a:lnTo>
                  <a:lnTo>
                    <a:pt x="556011" y="225"/>
                  </a:lnTo>
                  <a:lnTo>
                    <a:pt x="480923" y="299"/>
                  </a:lnTo>
                  <a:lnTo>
                    <a:pt x="436134" y="344"/>
                  </a:lnTo>
                  <a:lnTo>
                    <a:pt x="390452" y="388"/>
                  </a:lnTo>
                  <a:lnTo>
                    <a:pt x="342983" y="430"/>
                  </a:lnTo>
                  <a:lnTo>
                    <a:pt x="292835" y="470"/>
                  </a:lnTo>
                  <a:lnTo>
                    <a:pt x="239116" y="506"/>
                  </a:lnTo>
                  <a:lnTo>
                    <a:pt x="165584" y="544"/>
                  </a:lnTo>
                  <a:lnTo>
                    <a:pt x="125657" y="560"/>
                  </a:lnTo>
                  <a:lnTo>
                    <a:pt x="83333" y="574"/>
                  </a:lnTo>
                  <a:lnTo>
                    <a:pt x="0" y="584"/>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70" name="Google Shape;170;p4"/>
            <p:cNvPicPr preferRelativeResize="0"/>
            <p:nvPr/>
          </p:nvPicPr>
          <p:blipFill rotWithShape="1">
            <a:blip r:embed="rId8">
              <a:alphaModFix/>
            </a:blip>
            <a:srcRect b="0" l="0" r="0" t="0"/>
            <a:stretch/>
          </p:blipFill>
          <p:spPr>
            <a:xfrm>
              <a:off x="3016974" y="3518769"/>
              <a:ext cx="105504" cy="81981"/>
            </a:xfrm>
            <a:prstGeom prst="rect">
              <a:avLst/>
            </a:prstGeom>
            <a:noFill/>
            <a:ln>
              <a:noFill/>
            </a:ln>
          </p:spPr>
        </p:pic>
        <p:sp>
          <p:nvSpPr>
            <p:cNvPr id="171" name="Google Shape;171;p4"/>
            <p:cNvSpPr/>
            <p:nvPr/>
          </p:nvSpPr>
          <p:spPr>
            <a:xfrm>
              <a:off x="486049" y="2547574"/>
              <a:ext cx="1154430" cy="321310"/>
            </a:xfrm>
            <a:custGeom>
              <a:rect b="b" l="l" r="r" t="t"/>
              <a:pathLst>
                <a:path extrusionOk="0" h="321310" w="1154430">
                  <a:moveTo>
                    <a:pt x="0" y="53550"/>
                  </a:moveTo>
                  <a:lnTo>
                    <a:pt x="4208" y="32706"/>
                  </a:lnTo>
                  <a:lnTo>
                    <a:pt x="15684" y="15684"/>
                  </a:lnTo>
                  <a:lnTo>
                    <a:pt x="32706" y="4208"/>
                  </a:lnTo>
                  <a:lnTo>
                    <a:pt x="53551" y="0"/>
                  </a:lnTo>
                  <a:lnTo>
                    <a:pt x="1100548" y="0"/>
                  </a:lnTo>
                  <a:lnTo>
                    <a:pt x="1138415" y="15684"/>
                  </a:lnTo>
                  <a:lnTo>
                    <a:pt x="1154099" y="53550"/>
                  </a:lnTo>
                  <a:lnTo>
                    <a:pt x="1154099" y="267748"/>
                  </a:lnTo>
                  <a:lnTo>
                    <a:pt x="1149891" y="288593"/>
                  </a:lnTo>
                  <a:lnTo>
                    <a:pt x="1138415" y="305615"/>
                  </a:lnTo>
                  <a:lnTo>
                    <a:pt x="1121393" y="317091"/>
                  </a:lnTo>
                  <a:lnTo>
                    <a:pt x="1100548" y="321299"/>
                  </a:lnTo>
                  <a:lnTo>
                    <a:pt x="53551" y="321299"/>
                  </a:lnTo>
                  <a:lnTo>
                    <a:pt x="32706" y="317091"/>
                  </a:lnTo>
                  <a:lnTo>
                    <a:pt x="15684" y="305615"/>
                  </a:lnTo>
                  <a:lnTo>
                    <a:pt x="4208" y="288593"/>
                  </a:lnTo>
                  <a:lnTo>
                    <a:pt x="0" y="267748"/>
                  </a:lnTo>
                  <a:lnTo>
                    <a:pt x="0" y="5355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72" name="Google Shape;172;p4"/>
          <p:cNvSpPr txBox="1"/>
          <p:nvPr/>
        </p:nvSpPr>
        <p:spPr>
          <a:xfrm>
            <a:off x="660331" y="2598941"/>
            <a:ext cx="80581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User Query</a:t>
            </a:r>
            <a:endParaRPr sz="1200">
              <a:latin typeface="Arial"/>
              <a:ea typeface="Arial"/>
              <a:cs typeface="Arial"/>
              <a:sym typeface="Arial"/>
            </a:endParaRPr>
          </a:p>
        </p:txBody>
      </p:sp>
      <p:sp>
        <p:nvSpPr>
          <p:cNvPr id="173" name="Google Shape;173;p4"/>
          <p:cNvSpPr/>
          <p:nvPr/>
        </p:nvSpPr>
        <p:spPr>
          <a:xfrm>
            <a:off x="3373050" y="3447712"/>
            <a:ext cx="676275" cy="223520"/>
          </a:xfrm>
          <a:custGeom>
            <a:rect b="b" l="l" r="r" t="t"/>
            <a:pathLst>
              <a:path extrusionOk="0" h="223520" w="676275">
                <a:moveTo>
                  <a:pt x="675899" y="222899"/>
                </a:moveTo>
                <a:lnTo>
                  <a:pt x="0" y="222899"/>
                </a:lnTo>
                <a:lnTo>
                  <a:pt x="0" y="0"/>
                </a:lnTo>
                <a:lnTo>
                  <a:pt x="675899" y="0"/>
                </a:lnTo>
                <a:lnTo>
                  <a:pt x="675899" y="222899"/>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4" name="Google Shape;174;p4"/>
          <p:cNvSpPr txBox="1"/>
          <p:nvPr/>
        </p:nvSpPr>
        <p:spPr>
          <a:xfrm>
            <a:off x="3431122" y="3404730"/>
            <a:ext cx="560070" cy="299720"/>
          </a:xfrm>
          <a:prstGeom prst="rect">
            <a:avLst/>
          </a:prstGeom>
          <a:noFill/>
          <a:ln>
            <a:noFill/>
          </a:ln>
        </p:spPr>
        <p:txBody>
          <a:bodyPr anchorCtr="0" anchor="t" bIns="0" lIns="0" spcFirstLastPara="1" rIns="0" wrap="square" tIns="12700">
            <a:spAutoFit/>
          </a:bodyPr>
          <a:lstStyle/>
          <a:p>
            <a:pPr indent="5080" lvl="0" marL="12700" marR="5080" rtl="0" algn="l">
              <a:lnSpc>
                <a:spcPct val="100000"/>
              </a:lnSpc>
              <a:spcBef>
                <a:spcPts val="0"/>
              </a:spcBef>
              <a:spcAft>
                <a:spcPts val="0"/>
              </a:spcAft>
              <a:buNone/>
            </a:pPr>
            <a:r>
              <a:rPr b="1" lang="en-US" sz="900">
                <a:solidFill>
                  <a:srgbClr val="7E7E7E"/>
                </a:solidFill>
                <a:latin typeface="Arial"/>
                <a:ea typeface="Arial"/>
                <a:cs typeface="Arial"/>
                <a:sym typeface="Arial"/>
              </a:rPr>
              <a:t>presented as context</a:t>
            </a:r>
            <a:endParaRPr sz="900">
              <a:latin typeface="Arial"/>
              <a:ea typeface="Arial"/>
              <a:cs typeface="Arial"/>
              <a:sym typeface="Arial"/>
            </a:endParaRPr>
          </a:p>
        </p:txBody>
      </p:sp>
      <p:sp>
        <p:nvSpPr>
          <p:cNvPr id="175" name="Google Shape;175;p4"/>
          <p:cNvSpPr/>
          <p:nvPr/>
        </p:nvSpPr>
        <p:spPr>
          <a:xfrm>
            <a:off x="486049" y="3398825"/>
            <a:ext cx="1154430" cy="321310"/>
          </a:xfrm>
          <a:custGeom>
            <a:rect b="b" l="l" r="r" t="t"/>
            <a:pathLst>
              <a:path extrusionOk="0" h="321310" w="1154430">
                <a:moveTo>
                  <a:pt x="0" y="53551"/>
                </a:moveTo>
                <a:lnTo>
                  <a:pt x="4208" y="32706"/>
                </a:lnTo>
                <a:lnTo>
                  <a:pt x="15684" y="15684"/>
                </a:lnTo>
                <a:lnTo>
                  <a:pt x="32706" y="4208"/>
                </a:lnTo>
                <a:lnTo>
                  <a:pt x="53551" y="0"/>
                </a:lnTo>
                <a:lnTo>
                  <a:pt x="1100548" y="0"/>
                </a:lnTo>
                <a:lnTo>
                  <a:pt x="1138415" y="15684"/>
                </a:lnTo>
                <a:lnTo>
                  <a:pt x="1154099" y="53551"/>
                </a:lnTo>
                <a:lnTo>
                  <a:pt x="1154099" y="267748"/>
                </a:lnTo>
                <a:lnTo>
                  <a:pt x="1149891" y="288593"/>
                </a:lnTo>
                <a:lnTo>
                  <a:pt x="1138415" y="305615"/>
                </a:lnTo>
                <a:lnTo>
                  <a:pt x="1121393" y="317091"/>
                </a:lnTo>
                <a:lnTo>
                  <a:pt x="1100548" y="321299"/>
                </a:lnTo>
                <a:lnTo>
                  <a:pt x="53551" y="321299"/>
                </a:lnTo>
                <a:lnTo>
                  <a:pt x="32706" y="317091"/>
                </a:lnTo>
                <a:lnTo>
                  <a:pt x="15684" y="305615"/>
                </a:lnTo>
                <a:lnTo>
                  <a:pt x="4208" y="288593"/>
                </a:lnTo>
                <a:lnTo>
                  <a:pt x="0" y="267748"/>
                </a:lnTo>
                <a:lnTo>
                  <a:pt x="0" y="5355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6" name="Google Shape;176;p4"/>
          <p:cNvSpPr txBox="1"/>
          <p:nvPr/>
        </p:nvSpPr>
        <p:spPr>
          <a:xfrm>
            <a:off x="715805" y="3450191"/>
            <a:ext cx="69532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Response</a:t>
            </a:r>
            <a:endParaRPr sz="1200">
              <a:latin typeface="Arial"/>
              <a:ea typeface="Arial"/>
              <a:cs typeface="Arial"/>
              <a:sym typeface="Arial"/>
            </a:endParaRPr>
          </a:p>
        </p:txBody>
      </p:sp>
      <p:grpSp>
        <p:nvGrpSpPr>
          <p:cNvPr id="177" name="Google Shape;177;p4"/>
          <p:cNvGrpSpPr/>
          <p:nvPr/>
        </p:nvGrpSpPr>
        <p:grpSpPr>
          <a:xfrm>
            <a:off x="1658624" y="3518416"/>
            <a:ext cx="484595" cy="81980"/>
            <a:chOff x="1658624" y="3518416"/>
            <a:chExt cx="484595" cy="81980"/>
          </a:xfrm>
        </p:grpSpPr>
        <p:sp>
          <p:nvSpPr>
            <p:cNvPr id="178" name="Google Shape;178;p4"/>
            <p:cNvSpPr/>
            <p:nvPr/>
          </p:nvSpPr>
          <p:spPr>
            <a:xfrm>
              <a:off x="1754599" y="3559175"/>
              <a:ext cx="388620" cy="635"/>
            </a:xfrm>
            <a:custGeom>
              <a:rect b="b" l="l" r="r" t="t"/>
              <a:pathLst>
                <a:path extrusionOk="0" h="635" w="388619">
                  <a:moveTo>
                    <a:pt x="388199" y="0"/>
                  </a:moveTo>
                  <a:lnTo>
                    <a:pt x="0" y="231"/>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79" name="Google Shape;179;p4"/>
            <p:cNvPicPr preferRelativeResize="0"/>
            <p:nvPr/>
          </p:nvPicPr>
          <p:blipFill rotWithShape="1">
            <a:blip r:embed="rId9">
              <a:alphaModFix/>
            </a:blip>
            <a:srcRect b="0" l="0" r="0" t="0"/>
            <a:stretch/>
          </p:blipFill>
          <p:spPr>
            <a:xfrm>
              <a:off x="1658624" y="3518416"/>
              <a:ext cx="105519" cy="81980"/>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grpSp>
        <p:nvGrpSpPr>
          <p:cNvPr id="184" name="Google Shape;184;p5"/>
          <p:cNvGrpSpPr/>
          <p:nvPr/>
        </p:nvGrpSpPr>
        <p:grpSpPr>
          <a:xfrm>
            <a:off x="-6" y="0"/>
            <a:ext cx="9144006" cy="5143500"/>
            <a:chOff x="-6" y="0"/>
            <a:chExt cx="9144006" cy="5143500"/>
          </a:xfrm>
        </p:grpSpPr>
        <p:sp>
          <p:nvSpPr>
            <p:cNvPr id="185" name="Google Shape;185;p5"/>
            <p:cNvSpPr/>
            <p:nvPr/>
          </p:nvSpPr>
          <p:spPr>
            <a:xfrm>
              <a:off x="-6" y="9"/>
              <a:ext cx="175895" cy="355600"/>
            </a:xfrm>
            <a:custGeom>
              <a:rect b="b" l="l" r="r" t="t"/>
              <a:pathLst>
                <a:path extrusionOk="0" h="355600" w="175895">
                  <a:moveTo>
                    <a:pt x="175499" y="355499"/>
                  </a:moveTo>
                  <a:lnTo>
                    <a:pt x="0" y="355499"/>
                  </a:lnTo>
                  <a:lnTo>
                    <a:pt x="0" y="0"/>
                  </a:lnTo>
                  <a:lnTo>
                    <a:pt x="175499" y="0"/>
                  </a:lnTo>
                  <a:lnTo>
                    <a:pt x="175499" y="3554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86" name="Google Shape;186;p5"/>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sp>
        <p:nvSpPr>
          <p:cNvPr id="187" name="Google Shape;187;p5"/>
          <p:cNvSpPr txBox="1"/>
          <p:nvPr>
            <p:ph type="title"/>
          </p:nvPr>
        </p:nvSpPr>
        <p:spPr>
          <a:xfrm>
            <a:off x="458750" y="2344696"/>
            <a:ext cx="5436235" cy="4368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700"/>
              <a:t>RAG with Mixed-Data Documents</a:t>
            </a:r>
            <a:endParaRPr sz="2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grpSp>
        <p:nvGrpSpPr>
          <p:cNvPr id="192" name="Google Shape;192;p6"/>
          <p:cNvGrpSpPr/>
          <p:nvPr/>
        </p:nvGrpSpPr>
        <p:grpSpPr>
          <a:xfrm>
            <a:off x="0" y="0"/>
            <a:ext cx="9144000" cy="5143500"/>
            <a:chOff x="0" y="0"/>
            <a:chExt cx="9144000" cy="5143500"/>
          </a:xfrm>
        </p:grpSpPr>
        <p:pic>
          <p:nvPicPr>
            <p:cNvPr id="193" name="Google Shape;193;p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94" name="Google Shape;194;p6"/>
            <p:cNvSpPr/>
            <p:nvPr/>
          </p:nvSpPr>
          <p:spPr>
            <a:xfrm>
              <a:off x="1489075" y="3064499"/>
              <a:ext cx="3210560" cy="1175385"/>
            </a:xfrm>
            <a:custGeom>
              <a:rect b="b" l="l" r="r" t="t"/>
              <a:pathLst>
                <a:path extrusionOk="0" h="1175385" w="3210560">
                  <a:moveTo>
                    <a:pt x="0" y="1174799"/>
                  </a:moveTo>
                  <a:lnTo>
                    <a:pt x="0" y="0"/>
                  </a:lnTo>
                  <a:lnTo>
                    <a:pt x="3209999" y="0"/>
                  </a:lnTo>
                  <a:lnTo>
                    <a:pt x="3209999" y="1174799"/>
                  </a:lnTo>
                  <a:lnTo>
                    <a:pt x="0" y="1174799"/>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5" name="Google Shape;195;p6"/>
            <p:cNvSpPr/>
            <p:nvPr/>
          </p:nvSpPr>
          <p:spPr>
            <a:xfrm>
              <a:off x="6089350" y="2195299"/>
              <a:ext cx="640715" cy="321310"/>
            </a:xfrm>
            <a:custGeom>
              <a:rect b="b" l="l" r="r" t="t"/>
              <a:pathLst>
                <a:path extrusionOk="0" h="321310" w="640715">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6" name="Google Shape;196;p6"/>
            <p:cNvSpPr/>
            <p:nvPr/>
          </p:nvSpPr>
          <p:spPr>
            <a:xfrm>
              <a:off x="6089350" y="2195299"/>
              <a:ext cx="640715" cy="321310"/>
            </a:xfrm>
            <a:custGeom>
              <a:rect b="b" l="l" r="r" t="t"/>
              <a:pathLst>
                <a:path extrusionOk="0" h="321310" w="640715">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7" name="Google Shape;197;p6"/>
            <p:cNvSpPr/>
            <p:nvPr/>
          </p:nvSpPr>
          <p:spPr>
            <a:xfrm>
              <a:off x="6051999" y="2236049"/>
              <a:ext cx="640715" cy="321310"/>
            </a:xfrm>
            <a:custGeom>
              <a:rect b="b" l="l" r="r" t="t"/>
              <a:pathLst>
                <a:path extrusionOk="0" h="321310" w="640715">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8" name="Google Shape;198;p6"/>
            <p:cNvSpPr/>
            <p:nvPr/>
          </p:nvSpPr>
          <p:spPr>
            <a:xfrm>
              <a:off x="6051999" y="2236049"/>
              <a:ext cx="640715" cy="321310"/>
            </a:xfrm>
            <a:custGeom>
              <a:rect b="b" l="l" r="r" t="t"/>
              <a:pathLst>
                <a:path extrusionOk="0" h="321310" w="640715">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9" name="Google Shape;199;p6"/>
            <p:cNvSpPr/>
            <p:nvPr/>
          </p:nvSpPr>
          <p:spPr>
            <a:xfrm>
              <a:off x="470899" y="1067412"/>
              <a:ext cx="640715" cy="572770"/>
            </a:xfrm>
            <a:custGeom>
              <a:rect b="b" l="l" r="r" t="t"/>
              <a:pathLst>
                <a:path extrusionOk="0" h="572769" w="640715">
                  <a:moveTo>
                    <a:pt x="640499" y="572699"/>
                  </a:moveTo>
                  <a:lnTo>
                    <a:pt x="0" y="572699"/>
                  </a:lnTo>
                  <a:lnTo>
                    <a:pt x="0" y="0"/>
                  </a:lnTo>
                  <a:lnTo>
                    <a:pt x="640499" y="0"/>
                  </a:lnTo>
                  <a:lnTo>
                    <a:pt x="640499" y="5726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0" name="Google Shape;200;p6"/>
            <p:cNvSpPr/>
            <p:nvPr/>
          </p:nvSpPr>
          <p:spPr>
            <a:xfrm>
              <a:off x="470899" y="1067412"/>
              <a:ext cx="640715" cy="572770"/>
            </a:xfrm>
            <a:custGeom>
              <a:rect b="b" l="l" r="r" t="t"/>
              <a:pathLst>
                <a:path extrusionOk="0" h="572769" w="640715">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1" name="Google Shape;201;p6"/>
            <p:cNvSpPr/>
            <p:nvPr/>
          </p:nvSpPr>
          <p:spPr>
            <a:xfrm>
              <a:off x="516124" y="1108124"/>
              <a:ext cx="640715" cy="572770"/>
            </a:xfrm>
            <a:custGeom>
              <a:rect b="b" l="l" r="r" t="t"/>
              <a:pathLst>
                <a:path extrusionOk="0" h="572769" w="640715">
                  <a:moveTo>
                    <a:pt x="640499" y="572699"/>
                  </a:moveTo>
                  <a:lnTo>
                    <a:pt x="0" y="572699"/>
                  </a:lnTo>
                  <a:lnTo>
                    <a:pt x="0" y="0"/>
                  </a:lnTo>
                  <a:lnTo>
                    <a:pt x="640499" y="0"/>
                  </a:lnTo>
                  <a:lnTo>
                    <a:pt x="640499" y="5726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2" name="Google Shape;202;p6"/>
            <p:cNvSpPr/>
            <p:nvPr/>
          </p:nvSpPr>
          <p:spPr>
            <a:xfrm>
              <a:off x="516124" y="1108124"/>
              <a:ext cx="640715" cy="572770"/>
            </a:xfrm>
            <a:custGeom>
              <a:rect b="b" l="l" r="r" t="t"/>
              <a:pathLst>
                <a:path extrusionOk="0" h="572769" w="640715">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03" name="Google Shape;203;p6"/>
          <p:cNvSpPr txBox="1"/>
          <p:nvPr>
            <p:ph type="title"/>
          </p:nvPr>
        </p:nvSpPr>
        <p:spPr>
          <a:xfrm>
            <a:off x="384725" y="188286"/>
            <a:ext cx="738124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 Workﬂow for Mixed-Data RAG</a:t>
            </a:r>
            <a:endParaRPr/>
          </a:p>
        </p:txBody>
      </p:sp>
      <p:grpSp>
        <p:nvGrpSpPr>
          <p:cNvPr id="204" name="Google Shape;204;p6"/>
          <p:cNvGrpSpPr/>
          <p:nvPr/>
        </p:nvGrpSpPr>
        <p:grpSpPr>
          <a:xfrm>
            <a:off x="567599" y="1151024"/>
            <a:ext cx="640715" cy="572770"/>
            <a:chOff x="567599" y="1151024"/>
            <a:chExt cx="640715" cy="572770"/>
          </a:xfrm>
        </p:grpSpPr>
        <p:sp>
          <p:nvSpPr>
            <p:cNvPr id="205" name="Google Shape;205;p6"/>
            <p:cNvSpPr/>
            <p:nvPr/>
          </p:nvSpPr>
          <p:spPr>
            <a:xfrm>
              <a:off x="567599" y="1151024"/>
              <a:ext cx="640715" cy="572770"/>
            </a:xfrm>
            <a:custGeom>
              <a:rect b="b" l="l" r="r" t="t"/>
              <a:pathLst>
                <a:path extrusionOk="0" h="572769" w="640715">
                  <a:moveTo>
                    <a:pt x="640499" y="572699"/>
                  </a:moveTo>
                  <a:lnTo>
                    <a:pt x="0" y="572699"/>
                  </a:lnTo>
                  <a:lnTo>
                    <a:pt x="0" y="0"/>
                  </a:lnTo>
                  <a:lnTo>
                    <a:pt x="640499" y="0"/>
                  </a:lnTo>
                  <a:lnTo>
                    <a:pt x="640499" y="5726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6" name="Google Shape;206;p6"/>
            <p:cNvSpPr/>
            <p:nvPr/>
          </p:nvSpPr>
          <p:spPr>
            <a:xfrm>
              <a:off x="567599" y="1151024"/>
              <a:ext cx="640715" cy="572770"/>
            </a:xfrm>
            <a:custGeom>
              <a:rect b="b" l="l" r="r" t="t"/>
              <a:pathLst>
                <a:path extrusionOk="0" h="572769" w="640715">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07" name="Google Shape;207;p6"/>
          <p:cNvSpPr txBox="1"/>
          <p:nvPr/>
        </p:nvSpPr>
        <p:spPr>
          <a:xfrm>
            <a:off x="494874" y="1791569"/>
            <a:ext cx="683260"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latin typeface="Arial"/>
                <a:ea typeface="Arial"/>
                <a:cs typeface="Arial"/>
                <a:sym typeface="Arial"/>
              </a:rPr>
              <a:t>Documents</a:t>
            </a:r>
            <a:endParaRPr sz="1000">
              <a:latin typeface="Arial"/>
              <a:ea typeface="Arial"/>
              <a:cs typeface="Arial"/>
              <a:sym typeface="Arial"/>
            </a:endParaRPr>
          </a:p>
        </p:txBody>
      </p:sp>
      <p:grpSp>
        <p:nvGrpSpPr>
          <p:cNvPr id="208" name="Google Shape;208;p6"/>
          <p:cNvGrpSpPr/>
          <p:nvPr/>
        </p:nvGrpSpPr>
        <p:grpSpPr>
          <a:xfrm>
            <a:off x="5975037" y="2283462"/>
            <a:ext cx="678440" cy="361848"/>
            <a:chOff x="5975037" y="2283462"/>
            <a:chExt cx="678440" cy="361848"/>
          </a:xfrm>
        </p:grpSpPr>
        <p:sp>
          <p:nvSpPr>
            <p:cNvPr id="209" name="Google Shape;209;p6"/>
            <p:cNvSpPr/>
            <p:nvPr/>
          </p:nvSpPr>
          <p:spPr>
            <a:xfrm>
              <a:off x="6012762" y="2283462"/>
              <a:ext cx="640715" cy="321310"/>
            </a:xfrm>
            <a:custGeom>
              <a:rect b="b" l="l" r="r" t="t"/>
              <a:pathLst>
                <a:path extrusionOk="0" h="321310" w="640715">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0" name="Google Shape;210;p6"/>
            <p:cNvSpPr/>
            <p:nvPr/>
          </p:nvSpPr>
          <p:spPr>
            <a:xfrm>
              <a:off x="6012762" y="2283462"/>
              <a:ext cx="640715" cy="321310"/>
            </a:xfrm>
            <a:custGeom>
              <a:rect b="b" l="l" r="r" t="t"/>
              <a:pathLst>
                <a:path extrusionOk="0" h="321310" w="640715">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1" name="Google Shape;211;p6"/>
            <p:cNvSpPr/>
            <p:nvPr/>
          </p:nvSpPr>
          <p:spPr>
            <a:xfrm>
              <a:off x="5975037" y="2324000"/>
              <a:ext cx="640715" cy="321310"/>
            </a:xfrm>
            <a:custGeom>
              <a:rect b="b" l="l" r="r" t="t"/>
              <a:pathLst>
                <a:path extrusionOk="0" h="321310" w="640715">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2" name="Google Shape;212;p6"/>
            <p:cNvSpPr/>
            <p:nvPr/>
          </p:nvSpPr>
          <p:spPr>
            <a:xfrm>
              <a:off x="5975037" y="2324000"/>
              <a:ext cx="640715" cy="321310"/>
            </a:xfrm>
            <a:custGeom>
              <a:rect b="b" l="l" r="r" t="t"/>
              <a:pathLst>
                <a:path extrusionOk="0" h="321310" w="640715">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13" name="Google Shape;213;p6"/>
          <p:cNvSpPr txBox="1"/>
          <p:nvPr/>
        </p:nvSpPr>
        <p:spPr>
          <a:xfrm>
            <a:off x="6046360" y="2671295"/>
            <a:ext cx="482600" cy="330200"/>
          </a:xfrm>
          <a:prstGeom prst="rect">
            <a:avLst/>
          </a:prstGeom>
          <a:noFill/>
          <a:ln>
            <a:noFill/>
          </a:ln>
        </p:spPr>
        <p:txBody>
          <a:bodyPr anchorCtr="0" anchor="t" bIns="0" lIns="0" spcFirstLastPara="1" rIns="0" wrap="square" tIns="12700">
            <a:spAutoFit/>
          </a:bodyPr>
          <a:lstStyle/>
          <a:p>
            <a:pPr indent="19050" lvl="0" marL="0" marR="5080" rtl="0" algn="l">
              <a:lnSpc>
                <a:spcPct val="100000"/>
              </a:lnSpc>
              <a:spcBef>
                <a:spcPts val="0"/>
              </a:spcBef>
              <a:spcAft>
                <a:spcPts val="0"/>
              </a:spcAft>
              <a:buNone/>
            </a:pPr>
            <a:r>
              <a:rPr b="1" lang="en-US" sz="1000">
                <a:latin typeface="Arial"/>
                <a:ea typeface="Arial"/>
                <a:cs typeface="Arial"/>
                <a:sym typeface="Arial"/>
              </a:rPr>
              <a:t>Chunks (Tables)</a:t>
            </a:r>
            <a:endParaRPr sz="1000">
              <a:latin typeface="Arial"/>
              <a:ea typeface="Arial"/>
              <a:cs typeface="Arial"/>
              <a:sym typeface="Arial"/>
            </a:endParaRPr>
          </a:p>
        </p:txBody>
      </p:sp>
      <p:sp>
        <p:nvSpPr>
          <p:cNvPr id="214" name="Google Shape;214;p6"/>
          <p:cNvSpPr txBox="1"/>
          <p:nvPr/>
        </p:nvSpPr>
        <p:spPr>
          <a:xfrm>
            <a:off x="7548486" y="2747495"/>
            <a:ext cx="627380"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latin typeface="Arial"/>
                <a:ea typeface="Arial"/>
                <a:cs typeface="Arial"/>
                <a:sym typeface="Arial"/>
              </a:rPr>
              <a:t>Vector DB</a:t>
            </a:r>
            <a:endParaRPr sz="1000">
              <a:latin typeface="Arial"/>
              <a:ea typeface="Arial"/>
              <a:cs typeface="Arial"/>
              <a:sym typeface="Arial"/>
            </a:endParaRPr>
          </a:p>
        </p:txBody>
      </p:sp>
      <p:grpSp>
        <p:nvGrpSpPr>
          <p:cNvPr id="215" name="Google Shape;215;p6"/>
          <p:cNvGrpSpPr/>
          <p:nvPr/>
        </p:nvGrpSpPr>
        <p:grpSpPr>
          <a:xfrm>
            <a:off x="1444762" y="2022949"/>
            <a:ext cx="6661353" cy="648335"/>
            <a:chOff x="1444762" y="2022949"/>
            <a:chExt cx="6661353" cy="648335"/>
          </a:xfrm>
        </p:grpSpPr>
        <p:sp>
          <p:nvSpPr>
            <p:cNvPr id="216" name="Google Shape;216;p6"/>
            <p:cNvSpPr/>
            <p:nvPr/>
          </p:nvSpPr>
          <p:spPr>
            <a:xfrm>
              <a:off x="7649550" y="2022949"/>
              <a:ext cx="456565" cy="648335"/>
            </a:xfrm>
            <a:custGeom>
              <a:rect b="b" l="l" r="r" t="t"/>
              <a:pathLst>
                <a:path extrusionOk="0" h="648335" w="456565">
                  <a:moveTo>
                    <a:pt x="228024" y="647999"/>
                  </a:moveTo>
                  <a:lnTo>
                    <a:pt x="167407" y="644142"/>
                  </a:lnTo>
                  <a:lnTo>
                    <a:pt x="112936" y="633254"/>
                  </a:lnTo>
                  <a:lnTo>
                    <a:pt x="66787" y="616367"/>
                  </a:lnTo>
                  <a:lnTo>
                    <a:pt x="31132" y="594509"/>
                  </a:lnTo>
                  <a:lnTo>
                    <a:pt x="0" y="539999"/>
                  </a:lnTo>
                  <a:lnTo>
                    <a:pt x="0" y="107999"/>
                  </a:lnTo>
                  <a:lnTo>
                    <a:pt x="31132" y="53490"/>
                  </a:lnTo>
                  <a:lnTo>
                    <a:pt x="66787" y="31632"/>
                  </a:lnTo>
                  <a:lnTo>
                    <a:pt x="112936" y="14745"/>
                  </a:lnTo>
                  <a:lnTo>
                    <a:pt x="167407" y="3857"/>
                  </a:lnTo>
                  <a:lnTo>
                    <a:pt x="228024" y="0"/>
                  </a:lnTo>
                  <a:lnTo>
                    <a:pt x="288642" y="3857"/>
                  </a:lnTo>
                  <a:lnTo>
                    <a:pt x="343113" y="14745"/>
                  </a:lnTo>
                  <a:lnTo>
                    <a:pt x="389262" y="31632"/>
                  </a:lnTo>
                  <a:lnTo>
                    <a:pt x="424917" y="53490"/>
                  </a:lnTo>
                  <a:lnTo>
                    <a:pt x="456049" y="107999"/>
                  </a:lnTo>
                  <a:lnTo>
                    <a:pt x="456049" y="539999"/>
                  </a:lnTo>
                  <a:lnTo>
                    <a:pt x="424917" y="594509"/>
                  </a:lnTo>
                  <a:lnTo>
                    <a:pt x="389262" y="616367"/>
                  </a:lnTo>
                  <a:lnTo>
                    <a:pt x="343113" y="633254"/>
                  </a:lnTo>
                  <a:lnTo>
                    <a:pt x="288642" y="644142"/>
                  </a:lnTo>
                  <a:lnTo>
                    <a:pt x="228024" y="647999"/>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7" name="Google Shape;217;p6"/>
            <p:cNvSpPr/>
            <p:nvPr/>
          </p:nvSpPr>
          <p:spPr>
            <a:xfrm>
              <a:off x="7649550" y="2022949"/>
              <a:ext cx="456565" cy="648335"/>
            </a:xfrm>
            <a:custGeom>
              <a:rect b="b" l="l" r="r" t="t"/>
              <a:pathLst>
                <a:path extrusionOk="0" h="648335" w="456565">
                  <a:moveTo>
                    <a:pt x="456049" y="107999"/>
                  </a:moveTo>
                  <a:lnTo>
                    <a:pt x="447904" y="136710"/>
                  </a:lnTo>
                  <a:lnTo>
                    <a:pt x="424917" y="162509"/>
                  </a:lnTo>
                  <a:lnTo>
                    <a:pt x="389262" y="184367"/>
                  </a:lnTo>
                  <a:lnTo>
                    <a:pt x="343113" y="201254"/>
                  </a:lnTo>
                  <a:lnTo>
                    <a:pt x="288642" y="212142"/>
                  </a:lnTo>
                  <a:lnTo>
                    <a:pt x="228024" y="215999"/>
                  </a:lnTo>
                  <a:lnTo>
                    <a:pt x="167407" y="212142"/>
                  </a:lnTo>
                  <a:lnTo>
                    <a:pt x="112936" y="201254"/>
                  </a:lnTo>
                  <a:lnTo>
                    <a:pt x="66787" y="184367"/>
                  </a:lnTo>
                  <a:lnTo>
                    <a:pt x="31132" y="162509"/>
                  </a:lnTo>
                  <a:lnTo>
                    <a:pt x="8145" y="136710"/>
                  </a:lnTo>
                  <a:lnTo>
                    <a:pt x="0" y="107999"/>
                  </a:lnTo>
                </a:path>
                <a:path extrusionOk="0" h="648335" w="456565">
                  <a:moveTo>
                    <a:pt x="0" y="107999"/>
                  </a:moveTo>
                  <a:lnTo>
                    <a:pt x="8145" y="79289"/>
                  </a:lnTo>
                  <a:lnTo>
                    <a:pt x="31132" y="53490"/>
                  </a:lnTo>
                  <a:lnTo>
                    <a:pt x="66787" y="31632"/>
                  </a:lnTo>
                  <a:lnTo>
                    <a:pt x="112936" y="14745"/>
                  </a:lnTo>
                  <a:lnTo>
                    <a:pt x="167407" y="3857"/>
                  </a:lnTo>
                  <a:lnTo>
                    <a:pt x="228024" y="0"/>
                  </a:lnTo>
                  <a:lnTo>
                    <a:pt x="288642" y="3857"/>
                  </a:lnTo>
                  <a:lnTo>
                    <a:pt x="343113" y="14745"/>
                  </a:lnTo>
                  <a:lnTo>
                    <a:pt x="389262" y="31632"/>
                  </a:lnTo>
                  <a:lnTo>
                    <a:pt x="424917" y="53490"/>
                  </a:lnTo>
                  <a:lnTo>
                    <a:pt x="456049" y="107999"/>
                  </a:lnTo>
                  <a:lnTo>
                    <a:pt x="456049" y="539999"/>
                  </a:lnTo>
                  <a:lnTo>
                    <a:pt x="424917" y="594509"/>
                  </a:lnTo>
                  <a:lnTo>
                    <a:pt x="389262" y="616367"/>
                  </a:lnTo>
                  <a:lnTo>
                    <a:pt x="343113" y="633254"/>
                  </a:lnTo>
                  <a:lnTo>
                    <a:pt x="288642" y="644142"/>
                  </a:lnTo>
                  <a:lnTo>
                    <a:pt x="228024" y="647999"/>
                  </a:lnTo>
                  <a:lnTo>
                    <a:pt x="167407" y="644142"/>
                  </a:lnTo>
                  <a:lnTo>
                    <a:pt x="112936" y="633254"/>
                  </a:lnTo>
                  <a:lnTo>
                    <a:pt x="66787" y="616367"/>
                  </a:lnTo>
                  <a:lnTo>
                    <a:pt x="31132" y="594509"/>
                  </a:lnTo>
                  <a:lnTo>
                    <a:pt x="0" y="539999"/>
                  </a:lnTo>
                  <a:lnTo>
                    <a:pt x="0" y="1079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8" name="Google Shape;218;p6"/>
            <p:cNvSpPr/>
            <p:nvPr/>
          </p:nvSpPr>
          <p:spPr>
            <a:xfrm>
              <a:off x="1444762" y="2326824"/>
              <a:ext cx="840740" cy="321310"/>
            </a:xfrm>
            <a:custGeom>
              <a:rect b="b" l="l" r="r" t="t"/>
              <a:pathLst>
                <a:path extrusionOk="0" h="321310" w="840739">
                  <a:moveTo>
                    <a:pt x="786748" y="321299"/>
                  </a:moveTo>
                  <a:lnTo>
                    <a:pt x="53551" y="321299"/>
                  </a:lnTo>
                  <a:lnTo>
                    <a:pt x="32706" y="317091"/>
                  </a:lnTo>
                  <a:lnTo>
                    <a:pt x="15684" y="305615"/>
                  </a:lnTo>
                  <a:lnTo>
                    <a:pt x="4208" y="288593"/>
                  </a:lnTo>
                  <a:lnTo>
                    <a:pt x="0" y="267748"/>
                  </a:lnTo>
                  <a:lnTo>
                    <a:pt x="0" y="53550"/>
                  </a:lnTo>
                  <a:lnTo>
                    <a:pt x="4137" y="33057"/>
                  </a:lnTo>
                  <a:lnTo>
                    <a:pt x="4208" y="32706"/>
                  </a:lnTo>
                  <a:lnTo>
                    <a:pt x="15684" y="15684"/>
                  </a:lnTo>
                  <a:lnTo>
                    <a:pt x="32706" y="4208"/>
                  </a:lnTo>
                  <a:lnTo>
                    <a:pt x="53551" y="0"/>
                  </a:lnTo>
                  <a:lnTo>
                    <a:pt x="786748" y="0"/>
                  </a:lnTo>
                  <a:lnTo>
                    <a:pt x="824615" y="15684"/>
                  </a:lnTo>
                  <a:lnTo>
                    <a:pt x="840299" y="53550"/>
                  </a:lnTo>
                  <a:lnTo>
                    <a:pt x="840299" y="267748"/>
                  </a:lnTo>
                  <a:lnTo>
                    <a:pt x="836091" y="288593"/>
                  </a:lnTo>
                  <a:lnTo>
                    <a:pt x="824615" y="305615"/>
                  </a:lnTo>
                  <a:lnTo>
                    <a:pt x="807593" y="317091"/>
                  </a:lnTo>
                  <a:lnTo>
                    <a:pt x="786748" y="3212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19" name="Google Shape;219;p6"/>
          <p:cNvSpPr txBox="1"/>
          <p:nvPr/>
        </p:nvSpPr>
        <p:spPr>
          <a:xfrm>
            <a:off x="1634051" y="2378191"/>
            <a:ext cx="46228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solidFill>
                  <a:srgbClr val="FFFFFF"/>
                </a:solidFill>
                <a:latin typeface="Arial"/>
                <a:ea typeface="Arial"/>
                <a:cs typeface="Arial"/>
                <a:sym typeface="Arial"/>
              </a:rPr>
              <a:t>Parser</a:t>
            </a:r>
            <a:endParaRPr sz="1200">
              <a:latin typeface="Arial"/>
              <a:ea typeface="Arial"/>
              <a:cs typeface="Arial"/>
              <a:sym typeface="Arial"/>
            </a:endParaRPr>
          </a:p>
        </p:txBody>
      </p:sp>
      <p:grpSp>
        <p:nvGrpSpPr>
          <p:cNvPr id="220" name="Google Shape;220;p6"/>
          <p:cNvGrpSpPr/>
          <p:nvPr/>
        </p:nvGrpSpPr>
        <p:grpSpPr>
          <a:xfrm>
            <a:off x="5959950" y="884150"/>
            <a:ext cx="755027" cy="450010"/>
            <a:chOff x="5959950" y="884150"/>
            <a:chExt cx="755027" cy="450010"/>
          </a:xfrm>
        </p:grpSpPr>
        <p:sp>
          <p:nvSpPr>
            <p:cNvPr id="221" name="Google Shape;221;p6"/>
            <p:cNvSpPr/>
            <p:nvPr/>
          </p:nvSpPr>
          <p:spPr>
            <a:xfrm>
              <a:off x="6074262" y="884150"/>
              <a:ext cx="640715" cy="321310"/>
            </a:xfrm>
            <a:custGeom>
              <a:rect b="b" l="l" r="r" t="t"/>
              <a:pathLst>
                <a:path extrusionOk="0" h="321309" w="640715">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2" name="Google Shape;222;p6"/>
            <p:cNvSpPr/>
            <p:nvPr/>
          </p:nvSpPr>
          <p:spPr>
            <a:xfrm>
              <a:off x="6074262" y="884150"/>
              <a:ext cx="640715" cy="321310"/>
            </a:xfrm>
            <a:custGeom>
              <a:rect b="b" l="l" r="r" t="t"/>
              <a:pathLst>
                <a:path extrusionOk="0" h="321309" w="640715">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3" name="Google Shape;223;p6"/>
            <p:cNvSpPr/>
            <p:nvPr/>
          </p:nvSpPr>
          <p:spPr>
            <a:xfrm>
              <a:off x="6036912" y="924900"/>
              <a:ext cx="640715" cy="321310"/>
            </a:xfrm>
            <a:custGeom>
              <a:rect b="b" l="l" r="r" t="t"/>
              <a:pathLst>
                <a:path extrusionOk="0" h="321309" w="640715">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4" name="Google Shape;224;p6"/>
            <p:cNvSpPr/>
            <p:nvPr/>
          </p:nvSpPr>
          <p:spPr>
            <a:xfrm>
              <a:off x="6036912" y="924900"/>
              <a:ext cx="640715" cy="321310"/>
            </a:xfrm>
            <a:custGeom>
              <a:rect b="b" l="l" r="r" t="t"/>
              <a:pathLst>
                <a:path extrusionOk="0" h="321309" w="640715">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5" name="Google Shape;225;p6"/>
            <p:cNvSpPr/>
            <p:nvPr/>
          </p:nvSpPr>
          <p:spPr>
            <a:xfrm>
              <a:off x="5997675" y="972312"/>
              <a:ext cx="640715" cy="321310"/>
            </a:xfrm>
            <a:custGeom>
              <a:rect b="b" l="l" r="r" t="t"/>
              <a:pathLst>
                <a:path extrusionOk="0" h="321309" w="640715">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6" name="Google Shape;226;p6"/>
            <p:cNvSpPr/>
            <p:nvPr/>
          </p:nvSpPr>
          <p:spPr>
            <a:xfrm>
              <a:off x="5997675" y="972312"/>
              <a:ext cx="640715" cy="321310"/>
            </a:xfrm>
            <a:custGeom>
              <a:rect b="b" l="l" r="r" t="t"/>
              <a:pathLst>
                <a:path extrusionOk="0" h="321309" w="640715">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7" name="Google Shape;227;p6"/>
            <p:cNvSpPr/>
            <p:nvPr/>
          </p:nvSpPr>
          <p:spPr>
            <a:xfrm>
              <a:off x="5959950" y="1012850"/>
              <a:ext cx="640715" cy="321310"/>
            </a:xfrm>
            <a:custGeom>
              <a:rect b="b" l="l" r="r" t="t"/>
              <a:pathLst>
                <a:path extrusionOk="0" h="321309" w="640715">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8" name="Google Shape;228;p6"/>
            <p:cNvSpPr/>
            <p:nvPr/>
          </p:nvSpPr>
          <p:spPr>
            <a:xfrm>
              <a:off x="5959950" y="1012850"/>
              <a:ext cx="640715" cy="321310"/>
            </a:xfrm>
            <a:custGeom>
              <a:rect b="b" l="l" r="r" t="t"/>
              <a:pathLst>
                <a:path extrusionOk="0" h="321309" w="640715">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29" name="Google Shape;229;p6"/>
          <p:cNvSpPr txBox="1"/>
          <p:nvPr/>
        </p:nvSpPr>
        <p:spPr>
          <a:xfrm>
            <a:off x="6065147" y="1342207"/>
            <a:ext cx="443230" cy="330200"/>
          </a:xfrm>
          <a:prstGeom prst="rect">
            <a:avLst/>
          </a:prstGeom>
          <a:noFill/>
          <a:ln>
            <a:noFill/>
          </a:ln>
        </p:spPr>
        <p:txBody>
          <a:bodyPr anchorCtr="0" anchor="t" bIns="0" lIns="0" spcFirstLastPara="1" rIns="0" wrap="square" tIns="12700">
            <a:spAutoFit/>
          </a:bodyPr>
          <a:lstStyle/>
          <a:p>
            <a:pPr indent="-39370" lvl="0" marL="39370" marR="5080" rtl="0" algn="l">
              <a:lnSpc>
                <a:spcPct val="100000"/>
              </a:lnSpc>
              <a:spcBef>
                <a:spcPts val="0"/>
              </a:spcBef>
              <a:spcAft>
                <a:spcPts val="0"/>
              </a:spcAft>
              <a:buNone/>
            </a:pPr>
            <a:r>
              <a:rPr b="1" lang="en-US" sz="1000">
                <a:latin typeface="Arial"/>
                <a:ea typeface="Arial"/>
                <a:cs typeface="Arial"/>
                <a:sym typeface="Arial"/>
              </a:rPr>
              <a:t>Chunks (Text)</a:t>
            </a:r>
            <a:endParaRPr sz="1000">
              <a:latin typeface="Arial"/>
              <a:ea typeface="Arial"/>
              <a:cs typeface="Arial"/>
              <a:sym typeface="Arial"/>
            </a:endParaRPr>
          </a:p>
        </p:txBody>
      </p:sp>
      <p:grpSp>
        <p:nvGrpSpPr>
          <p:cNvPr id="230" name="Google Shape;230;p6"/>
          <p:cNvGrpSpPr/>
          <p:nvPr/>
        </p:nvGrpSpPr>
        <p:grpSpPr>
          <a:xfrm>
            <a:off x="6028975" y="3410149"/>
            <a:ext cx="755027" cy="450010"/>
            <a:chOff x="6028975" y="3410149"/>
            <a:chExt cx="755027" cy="450010"/>
          </a:xfrm>
        </p:grpSpPr>
        <p:sp>
          <p:nvSpPr>
            <p:cNvPr id="231" name="Google Shape;231;p6"/>
            <p:cNvSpPr/>
            <p:nvPr/>
          </p:nvSpPr>
          <p:spPr>
            <a:xfrm>
              <a:off x="6143287" y="3410149"/>
              <a:ext cx="640715" cy="321310"/>
            </a:xfrm>
            <a:custGeom>
              <a:rect b="b" l="l" r="r" t="t"/>
              <a:pathLst>
                <a:path extrusionOk="0" h="321310" w="640715">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2" name="Google Shape;232;p6"/>
            <p:cNvSpPr/>
            <p:nvPr/>
          </p:nvSpPr>
          <p:spPr>
            <a:xfrm>
              <a:off x="6143287" y="3410149"/>
              <a:ext cx="640715" cy="321310"/>
            </a:xfrm>
            <a:custGeom>
              <a:rect b="b" l="l" r="r" t="t"/>
              <a:pathLst>
                <a:path extrusionOk="0" h="321310" w="640715">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3" name="Google Shape;233;p6"/>
            <p:cNvSpPr/>
            <p:nvPr/>
          </p:nvSpPr>
          <p:spPr>
            <a:xfrm>
              <a:off x="6105937" y="3450899"/>
              <a:ext cx="640715" cy="321310"/>
            </a:xfrm>
            <a:custGeom>
              <a:rect b="b" l="l" r="r" t="t"/>
              <a:pathLst>
                <a:path extrusionOk="0" h="321310" w="640715">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4" name="Google Shape;234;p6"/>
            <p:cNvSpPr/>
            <p:nvPr/>
          </p:nvSpPr>
          <p:spPr>
            <a:xfrm>
              <a:off x="6105937" y="3450899"/>
              <a:ext cx="640715" cy="321310"/>
            </a:xfrm>
            <a:custGeom>
              <a:rect b="b" l="l" r="r" t="t"/>
              <a:pathLst>
                <a:path extrusionOk="0" h="321310" w="640715">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5" name="Google Shape;235;p6"/>
            <p:cNvSpPr/>
            <p:nvPr/>
          </p:nvSpPr>
          <p:spPr>
            <a:xfrm>
              <a:off x="6066700" y="3498312"/>
              <a:ext cx="640715" cy="321310"/>
            </a:xfrm>
            <a:custGeom>
              <a:rect b="b" l="l" r="r" t="t"/>
              <a:pathLst>
                <a:path extrusionOk="0" h="321310" w="640715">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6" name="Google Shape;236;p6"/>
            <p:cNvSpPr/>
            <p:nvPr/>
          </p:nvSpPr>
          <p:spPr>
            <a:xfrm>
              <a:off x="6066700" y="3498312"/>
              <a:ext cx="640715" cy="321310"/>
            </a:xfrm>
            <a:custGeom>
              <a:rect b="b" l="l" r="r" t="t"/>
              <a:pathLst>
                <a:path extrusionOk="0" h="321310" w="640715">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7" name="Google Shape;237;p6"/>
            <p:cNvSpPr/>
            <p:nvPr/>
          </p:nvSpPr>
          <p:spPr>
            <a:xfrm>
              <a:off x="6028975" y="3538849"/>
              <a:ext cx="640715" cy="321310"/>
            </a:xfrm>
            <a:custGeom>
              <a:rect b="b" l="l" r="r" t="t"/>
              <a:pathLst>
                <a:path extrusionOk="0" h="321310" w="640715">
                  <a:moveTo>
                    <a:pt x="640499" y="321299"/>
                  </a:moveTo>
                  <a:lnTo>
                    <a:pt x="0" y="321299"/>
                  </a:lnTo>
                  <a:lnTo>
                    <a:pt x="0" y="0"/>
                  </a:lnTo>
                  <a:lnTo>
                    <a:pt x="640499" y="0"/>
                  </a:lnTo>
                  <a:lnTo>
                    <a:pt x="640499" y="3212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8" name="Google Shape;238;p6"/>
            <p:cNvSpPr/>
            <p:nvPr/>
          </p:nvSpPr>
          <p:spPr>
            <a:xfrm>
              <a:off x="6028975" y="3538849"/>
              <a:ext cx="640715" cy="321310"/>
            </a:xfrm>
            <a:custGeom>
              <a:rect b="b" l="l" r="r" t="t"/>
              <a:pathLst>
                <a:path extrusionOk="0" h="321310" w="640715">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39" name="Google Shape;239;p6"/>
          <p:cNvSpPr txBox="1"/>
          <p:nvPr/>
        </p:nvSpPr>
        <p:spPr>
          <a:xfrm>
            <a:off x="6097991" y="3880094"/>
            <a:ext cx="515620" cy="330200"/>
          </a:xfrm>
          <a:prstGeom prst="rect">
            <a:avLst/>
          </a:prstGeom>
          <a:noFill/>
          <a:ln>
            <a:noFill/>
          </a:ln>
        </p:spPr>
        <p:txBody>
          <a:bodyPr anchorCtr="0" anchor="t" bIns="0" lIns="0" spcFirstLastPara="1" rIns="0" wrap="square" tIns="12700">
            <a:spAutoFit/>
          </a:bodyPr>
          <a:lstStyle/>
          <a:p>
            <a:pPr indent="35560" lvl="0" marL="0" marR="5080" rtl="0" algn="l">
              <a:lnSpc>
                <a:spcPct val="100000"/>
              </a:lnSpc>
              <a:spcBef>
                <a:spcPts val="0"/>
              </a:spcBef>
              <a:spcAft>
                <a:spcPts val="0"/>
              </a:spcAft>
              <a:buNone/>
            </a:pPr>
            <a:r>
              <a:rPr b="1" lang="en-US" sz="1000">
                <a:latin typeface="Arial"/>
                <a:ea typeface="Arial"/>
                <a:cs typeface="Arial"/>
                <a:sym typeface="Arial"/>
              </a:rPr>
              <a:t>Chunks (Images)</a:t>
            </a:r>
            <a:endParaRPr sz="1000">
              <a:latin typeface="Arial"/>
              <a:ea typeface="Arial"/>
              <a:cs typeface="Arial"/>
              <a:sym typeface="Arial"/>
            </a:endParaRPr>
          </a:p>
        </p:txBody>
      </p:sp>
      <p:sp>
        <p:nvSpPr>
          <p:cNvPr id="240" name="Google Shape;240;p6"/>
          <p:cNvSpPr/>
          <p:nvPr/>
        </p:nvSpPr>
        <p:spPr>
          <a:xfrm>
            <a:off x="4038037" y="2335249"/>
            <a:ext cx="840740" cy="321310"/>
          </a:xfrm>
          <a:custGeom>
            <a:rect b="b" l="l" r="r" t="t"/>
            <a:pathLst>
              <a:path extrusionOk="0" h="321310" w="840739">
                <a:moveTo>
                  <a:pt x="786748" y="321299"/>
                </a:moveTo>
                <a:lnTo>
                  <a:pt x="53551" y="321299"/>
                </a:lnTo>
                <a:lnTo>
                  <a:pt x="32706" y="317091"/>
                </a:lnTo>
                <a:lnTo>
                  <a:pt x="15684" y="305615"/>
                </a:lnTo>
                <a:lnTo>
                  <a:pt x="4208" y="288593"/>
                </a:lnTo>
                <a:lnTo>
                  <a:pt x="0" y="267748"/>
                </a:lnTo>
                <a:lnTo>
                  <a:pt x="0" y="53550"/>
                </a:lnTo>
                <a:lnTo>
                  <a:pt x="4137" y="33057"/>
                </a:lnTo>
                <a:lnTo>
                  <a:pt x="4208" y="32706"/>
                </a:lnTo>
                <a:lnTo>
                  <a:pt x="15684" y="15684"/>
                </a:lnTo>
                <a:lnTo>
                  <a:pt x="32706" y="4208"/>
                </a:lnTo>
                <a:lnTo>
                  <a:pt x="53551" y="0"/>
                </a:lnTo>
                <a:lnTo>
                  <a:pt x="786748" y="0"/>
                </a:lnTo>
                <a:lnTo>
                  <a:pt x="824615" y="15684"/>
                </a:lnTo>
                <a:lnTo>
                  <a:pt x="840299" y="53550"/>
                </a:lnTo>
                <a:lnTo>
                  <a:pt x="840299" y="267748"/>
                </a:lnTo>
                <a:lnTo>
                  <a:pt x="836091" y="288593"/>
                </a:lnTo>
                <a:lnTo>
                  <a:pt x="824615" y="305615"/>
                </a:lnTo>
                <a:lnTo>
                  <a:pt x="807593" y="317091"/>
                </a:lnTo>
                <a:lnTo>
                  <a:pt x="786748" y="3212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1" name="Google Shape;241;p6"/>
          <p:cNvSpPr txBox="1"/>
          <p:nvPr/>
        </p:nvSpPr>
        <p:spPr>
          <a:xfrm>
            <a:off x="4159965" y="2386616"/>
            <a:ext cx="59690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solidFill>
                  <a:srgbClr val="FFFFFF"/>
                </a:solidFill>
                <a:latin typeface="Arial"/>
                <a:ea typeface="Arial"/>
                <a:cs typeface="Arial"/>
                <a:sym typeface="Arial"/>
              </a:rPr>
              <a:t>Chunker</a:t>
            </a:r>
            <a:endParaRPr sz="1200">
              <a:latin typeface="Arial"/>
              <a:ea typeface="Arial"/>
              <a:cs typeface="Arial"/>
              <a:sym typeface="Arial"/>
            </a:endParaRPr>
          </a:p>
        </p:txBody>
      </p:sp>
      <p:grpSp>
        <p:nvGrpSpPr>
          <p:cNvPr id="242" name="Google Shape;242;p6"/>
          <p:cNvGrpSpPr/>
          <p:nvPr/>
        </p:nvGrpSpPr>
        <p:grpSpPr>
          <a:xfrm>
            <a:off x="315574" y="972312"/>
            <a:ext cx="3077816" cy="2859083"/>
            <a:chOff x="315574" y="972312"/>
            <a:chExt cx="3077816" cy="2859083"/>
          </a:xfrm>
        </p:grpSpPr>
        <p:sp>
          <p:nvSpPr>
            <p:cNvPr id="243" name="Google Shape;243;p6"/>
            <p:cNvSpPr/>
            <p:nvPr/>
          </p:nvSpPr>
          <p:spPr>
            <a:xfrm>
              <a:off x="1589174" y="3175012"/>
              <a:ext cx="640715" cy="572770"/>
            </a:xfrm>
            <a:custGeom>
              <a:rect b="b" l="l" r="r" t="t"/>
              <a:pathLst>
                <a:path extrusionOk="0" h="572770" w="640714">
                  <a:moveTo>
                    <a:pt x="640499" y="572699"/>
                  </a:moveTo>
                  <a:lnTo>
                    <a:pt x="0" y="572699"/>
                  </a:lnTo>
                  <a:lnTo>
                    <a:pt x="0" y="0"/>
                  </a:lnTo>
                  <a:lnTo>
                    <a:pt x="640499" y="0"/>
                  </a:lnTo>
                  <a:lnTo>
                    <a:pt x="640499" y="5726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4" name="Google Shape;244;p6"/>
            <p:cNvSpPr/>
            <p:nvPr/>
          </p:nvSpPr>
          <p:spPr>
            <a:xfrm>
              <a:off x="1589174" y="3175012"/>
              <a:ext cx="640715" cy="572770"/>
            </a:xfrm>
            <a:custGeom>
              <a:rect b="b" l="l" r="r" t="t"/>
              <a:pathLst>
                <a:path extrusionOk="0" h="572770" w="640714">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5" name="Google Shape;245;p6"/>
            <p:cNvSpPr/>
            <p:nvPr/>
          </p:nvSpPr>
          <p:spPr>
            <a:xfrm>
              <a:off x="1634400" y="3215724"/>
              <a:ext cx="640715" cy="572770"/>
            </a:xfrm>
            <a:custGeom>
              <a:rect b="b" l="l" r="r" t="t"/>
              <a:pathLst>
                <a:path extrusionOk="0" h="572770" w="640714">
                  <a:moveTo>
                    <a:pt x="640499" y="572699"/>
                  </a:moveTo>
                  <a:lnTo>
                    <a:pt x="0" y="572699"/>
                  </a:lnTo>
                  <a:lnTo>
                    <a:pt x="0" y="0"/>
                  </a:lnTo>
                  <a:lnTo>
                    <a:pt x="640499" y="0"/>
                  </a:lnTo>
                  <a:lnTo>
                    <a:pt x="640499" y="5726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6" name="Google Shape;246;p6"/>
            <p:cNvSpPr/>
            <p:nvPr/>
          </p:nvSpPr>
          <p:spPr>
            <a:xfrm>
              <a:off x="1634400" y="3215724"/>
              <a:ext cx="640715" cy="572770"/>
            </a:xfrm>
            <a:custGeom>
              <a:rect b="b" l="l" r="r" t="t"/>
              <a:pathLst>
                <a:path extrusionOk="0" h="572770" w="640714">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7" name="Google Shape;247;p6"/>
            <p:cNvSpPr/>
            <p:nvPr/>
          </p:nvSpPr>
          <p:spPr>
            <a:xfrm>
              <a:off x="1685874" y="3258625"/>
              <a:ext cx="640715" cy="572770"/>
            </a:xfrm>
            <a:custGeom>
              <a:rect b="b" l="l" r="r" t="t"/>
              <a:pathLst>
                <a:path extrusionOk="0" h="572770" w="640714">
                  <a:moveTo>
                    <a:pt x="640499" y="572699"/>
                  </a:moveTo>
                  <a:lnTo>
                    <a:pt x="0" y="572699"/>
                  </a:lnTo>
                  <a:lnTo>
                    <a:pt x="0" y="0"/>
                  </a:lnTo>
                  <a:lnTo>
                    <a:pt x="640499" y="0"/>
                  </a:lnTo>
                  <a:lnTo>
                    <a:pt x="640499" y="5726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8" name="Google Shape;248;p6"/>
            <p:cNvSpPr/>
            <p:nvPr/>
          </p:nvSpPr>
          <p:spPr>
            <a:xfrm>
              <a:off x="1685874" y="3258625"/>
              <a:ext cx="640715" cy="572770"/>
            </a:xfrm>
            <a:custGeom>
              <a:rect b="b" l="l" r="r" t="t"/>
              <a:pathLst>
                <a:path extrusionOk="0" h="572770" w="640714">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9" name="Google Shape;249;p6"/>
            <p:cNvSpPr/>
            <p:nvPr/>
          </p:nvSpPr>
          <p:spPr>
            <a:xfrm>
              <a:off x="315574" y="972312"/>
              <a:ext cx="1042035" cy="1082675"/>
            </a:xfrm>
            <a:custGeom>
              <a:rect b="b" l="l" r="r" t="t"/>
              <a:pathLst>
                <a:path extrusionOk="0" h="1082675" w="1042035">
                  <a:moveTo>
                    <a:pt x="0" y="1082399"/>
                  </a:moveTo>
                  <a:lnTo>
                    <a:pt x="0" y="0"/>
                  </a:lnTo>
                  <a:lnTo>
                    <a:pt x="1041599" y="0"/>
                  </a:lnTo>
                  <a:lnTo>
                    <a:pt x="1041599" y="1082399"/>
                  </a:lnTo>
                  <a:lnTo>
                    <a:pt x="0" y="1082399"/>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0" name="Google Shape;250;p6"/>
            <p:cNvSpPr/>
            <p:nvPr/>
          </p:nvSpPr>
          <p:spPr>
            <a:xfrm>
              <a:off x="2655974" y="3175012"/>
              <a:ext cx="640715" cy="572770"/>
            </a:xfrm>
            <a:custGeom>
              <a:rect b="b" l="l" r="r" t="t"/>
              <a:pathLst>
                <a:path extrusionOk="0" h="572770" w="640714">
                  <a:moveTo>
                    <a:pt x="640499" y="572699"/>
                  </a:moveTo>
                  <a:lnTo>
                    <a:pt x="0" y="572699"/>
                  </a:lnTo>
                  <a:lnTo>
                    <a:pt x="0" y="0"/>
                  </a:lnTo>
                  <a:lnTo>
                    <a:pt x="640499" y="0"/>
                  </a:lnTo>
                  <a:lnTo>
                    <a:pt x="640499" y="5726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1" name="Google Shape;251;p6"/>
            <p:cNvSpPr/>
            <p:nvPr/>
          </p:nvSpPr>
          <p:spPr>
            <a:xfrm>
              <a:off x="2655974" y="3175012"/>
              <a:ext cx="640715" cy="572770"/>
            </a:xfrm>
            <a:custGeom>
              <a:rect b="b" l="l" r="r" t="t"/>
              <a:pathLst>
                <a:path extrusionOk="0" h="572770" w="640714">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2" name="Google Shape;252;p6"/>
            <p:cNvSpPr/>
            <p:nvPr/>
          </p:nvSpPr>
          <p:spPr>
            <a:xfrm>
              <a:off x="2701199" y="3215724"/>
              <a:ext cx="640715" cy="572770"/>
            </a:xfrm>
            <a:custGeom>
              <a:rect b="b" l="l" r="r" t="t"/>
              <a:pathLst>
                <a:path extrusionOk="0" h="572770" w="640714">
                  <a:moveTo>
                    <a:pt x="640499" y="572699"/>
                  </a:moveTo>
                  <a:lnTo>
                    <a:pt x="0" y="572699"/>
                  </a:lnTo>
                  <a:lnTo>
                    <a:pt x="0" y="0"/>
                  </a:lnTo>
                  <a:lnTo>
                    <a:pt x="640499" y="0"/>
                  </a:lnTo>
                  <a:lnTo>
                    <a:pt x="640499" y="5726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3" name="Google Shape;253;p6"/>
            <p:cNvSpPr/>
            <p:nvPr/>
          </p:nvSpPr>
          <p:spPr>
            <a:xfrm>
              <a:off x="2701199" y="3215724"/>
              <a:ext cx="640715" cy="572770"/>
            </a:xfrm>
            <a:custGeom>
              <a:rect b="b" l="l" r="r" t="t"/>
              <a:pathLst>
                <a:path extrusionOk="0" h="572770" w="640714">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4" name="Google Shape;254;p6"/>
            <p:cNvSpPr/>
            <p:nvPr/>
          </p:nvSpPr>
          <p:spPr>
            <a:xfrm>
              <a:off x="2752675" y="3258625"/>
              <a:ext cx="640715" cy="572770"/>
            </a:xfrm>
            <a:custGeom>
              <a:rect b="b" l="l" r="r" t="t"/>
              <a:pathLst>
                <a:path extrusionOk="0" h="572770" w="640714">
                  <a:moveTo>
                    <a:pt x="640499" y="572699"/>
                  </a:moveTo>
                  <a:lnTo>
                    <a:pt x="0" y="572699"/>
                  </a:lnTo>
                  <a:lnTo>
                    <a:pt x="0" y="0"/>
                  </a:lnTo>
                  <a:lnTo>
                    <a:pt x="640499" y="0"/>
                  </a:lnTo>
                  <a:lnTo>
                    <a:pt x="640499" y="5726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5" name="Google Shape;255;p6"/>
            <p:cNvSpPr/>
            <p:nvPr/>
          </p:nvSpPr>
          <p:spPr>
            <a:xfrm>
              <a:off x="2752675" y="3258625"/>
              <a:ext cx="640715" cy="572770"/>
            </a:xfrm>
            <a:custGeom>
              <a:rect b="b" l="l" r="r" t="t"/>
              <a:pathLst>
                <a:path extrusionOk="0" h="572770" w="640714">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56" name="Google Shape;256;p6"/>
          <p:cNvSpPr txBox="1"/>
          <p:nvPr/>
        </p:nvSpPr>
        <p:spPr>
          <a:xfrm>
            <a:off x="1817160" y="3899169"/>
            <a:ext cx="275590"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latin typeface="Arial"/>
                <a:ea typeface="Arial"/>
                <a:cs typeface="Arial"/>
                <a:sym typeface="Arial"/>
              </a:rPr>
              <a:t>Text</a:t>
            </a:r>
            <a:endParaRPr sz="1000">
              <a:latin typeface="Arial"/>
              <a:ea typeface="Arial"/>
              <a:cs typeface="Arial"/>
              <a:sym typeface="Arial"/>
            </a:endParaRPr>
          </a:p>
        </p:txBody>
      </p:sp>
      <p:sp>
        <p:nvSpPr>
          <p:cNvPr id="257" name="Google Shape;257;p6"/>
          <p:cNvSpPr txBox="1"/>
          <p:nvPr/>
        </p:nvSpPr>
        <p:spPr>
          <a:xfrm>
            <a:off x="2679846" y="3865395"/>
            <a:ext cx="747395" cy="330200"/>
          </a:xfrm>
          <a:prstGeom prst="rect">
            <a:avLst/>
          </a:prstGeom>
          <a:noFill/>
          <a:ln>
            <a:noFill/>
          </a:ln>
        </p:spPr>
        <p:txBody>
          <a:bodyPr anchorCtr="0" anchor="t" bIns="0" lIns="0" spcFirstLastPara="1" rIns="0" wrap="square" tIns="12700">
            <a:spAutoFit/>
          </a:bodyPr>
          <a:lstStyle/>
          <a:p>
            <a:pPr indent="201930" lvl="0" marL="12700" marR="5080" rtl="0" algn="l">
              <a:lnSpc>
                <a:spcPct val="100000"/>
              </a:lnSpc>
              <a:spcBef>
                <a:spcPts val="0"/>
              </a:spcBef>
              <a:spcAft>
                <a:spcPts val="0"/>
              </a:spcAft>
              <a:buNone/>
            </a:pPr>
            <a:r>
              <a:rPr b="1" lang="en-US" sz="1000">
                <a:latin typeface="Arial"/>
                <a:ea typeface="Arial"/>
                <a:cs typeface="Arial"/>
                <a:sym typeface="Arial"/>
              </a:rPr>
              <a:t>Table Descriptions</a:t>
            </a:r>
            <a:endParaRPr sz="1000">
              <a:latin typeface="Arial"/>
              <a:ea typeface="Arial"/>
              <a:cs typeface="Arial"/>
              <a:sym typeface="Arial"/>
            </a:endParaRPr>
          </a:p>
        </p:txBody>
      </p:sp>
      <p:grpSp>
        <p:nvGrpSpPr>
          <p:cNvPr id="258" name="Google Shape;258;p6"/>
          <p:cNvGrpSpPr/>
          <p:nvPr/>
        </p:nvGrpSpPr>
        <p:grpSpPr>
          <a:xfrm>
            <a:off x="1357175" y="719600"/>
            <a:ext cx="6143829" cy="3552825"/>
            <a:chOff x="1357175" y="719600"/>
            <a:chExt cx="6143829" cy="3552825"/>
          </a:xfrm>
        </p:grpSpPr>
        <p:sp>
          <p:nvSpPr>
            <p:cNvPr id="259" name="Google Shape;259;p6"/>
            <p:cNvSpPr/>
            <p:nvPr/>
          </p:nvSpPr>
          <p:spPr>
            <a:xfrm>
              <a:off x="3798974" y="3175012"/>
              <a:ext cx="640715" cy="572770"/>
            </a:xfrm>
            <a:custGeom>
              <a:rect b="b" l="l" r="r" t="t"/>
              <a:pathLst>
                <a:path extrusionOk="0" h="572770" w="640714">
                  <a:moveTo>
                    <a:pt x="640499" y="572699"/>
                  </a:moveTo>
                  <a:lnTo>
                    <a:pt x="0" y="572699"/>
                  </a:lnTo>
                  <a:lnTo>
                    <a:pt x="0" y="0"/>
                  </a:lnTo>
                  <a:lnTo>
                    <a:pt x="640499" y="0"/>
                  </a:lnTo>
                  <a:lnTo>
                    <a:pt x="640499" y="5726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60" name="Google Shape;260;p6"/>
            <p:cNvSpPr/>
            <p:nvPr/>
          </p:nvSpPr>
          <p:spPr>
            <a:xfrm>
              <a:off x="3798974" y="3175012"/>
              <a:ext cx="640715" cy="572770"/>
            </a:xfrm>
            <a:custGeom>
              <a:rect b="b" l="l" r="r" t="t"/>
              <a:pathLst>
                <a:path extrusionOk="0" h="572770" w="640714">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61" name="Google Shape;261;p6"/>
            <p:cNvSpPr/>
            <p:nvPr/>
          </p:nvSpPr>
          <p:spPr>
            <a:xfrm>
              <a:off x="3844199" y="3215724"/>
              <a:ext cx="640715" cy="572770"/>
            </a:xfrm>
            <a:custGeom>
              <a:rect b="b" l="l" r="r" t="t"/>
              <a:pathLst>
                <a:path extrusionOk="0" h="572770" w="640714">
                  <a:moveTo>
                    <a:pt x="640499" y="572699"/>
                  </a:moveTo>
                  <a:lnTo>
                    <a:pt x="0" y="572699"/>
                  </a:lnTo>
                  <a:lnTo>
                    <a:pt x="0" y="0"/>
                  </a:lnTo>
                  <a:lnTo>
                    <a:pt x="640499" y="0"/>
                  </a:lnTo>
                  <a:lnTo>
                    <a:pt x="640499" y="5726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62" name="Google Shape;262;p6"/>
            <p:cNvSpPr/>
            <p:nvPr/>
          </p:nvSpPr>
          <p:spPr>
            <a:xfrm>
              <a:off x="3844199" y="3215724"/>
              <a:ext cx="640715" cy="572770"/>
            </a:xfrm>
            <a:custGeom>
              <a:rect b="b" l="l" r="r" t="t"/>
              <a:pathLst>
                <a:path extrusionOk="0" h="572770" w="640714">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63" name="Google Shape;263;p6"/>
            <p:cNvSpPr/>
            <p:nvPr/>
          </p:nvSpPr>
          <p:spPr>
            <a:xfrm>
              <a:off x="3895674" y="3258625"/>
              <a:ext cx="640715" cy="572770"/>
            </a:xfrm>
            <a:custGeom>
              <a:rect b="b" l="l" r="r" t="t"/>
              <a:pathLst>
                <a:path extrusionOk="0" h="572770" w="640714">
                  <a:moveTo>
                    <a:pt x="640499" y="572699"/>
                  </a:moveTo>
                  <a:lnTo>
                    <a:pt x="0" y="572699"/>
                  </a:lnTo>
                  <a:lnTo>
                    <a:pt x="0" y="0"/>
                  </a:lnTo>
                  <a:lnTo>
                    <a:pt x="640499" y="0"/>
                  </a:lnTo>
                  <a:lnTo>
                    <a:pt x="640499" y="5726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64" name="Google Shape;264;p6"/>
            <p:cNvSpPr/>
            <p:nvPr/>
          </p:nvSpPr>
          <p:spPr>
            <a:xfrm>
              <a:off x="3895674" y="3258625"/>
              <a:ext cx="640715" cy="572770"/>
            </a:xfrm>
            <a:custGeom>
              <a:rect b="b" l="l" r="r" t="t"/>
              <a:pathLst>
                <a:path extrusionOk="0" h="572770" w="640714">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65" name="Google Shape;265;p6"/>
            <p:cNvSpPr/>
            <p:nvPr/>
          </p:nvSpPr>
          <p:spPr>
            <a:xfrm>
              <a:off x="1357175" y="1513512"/>
              <a:ext cx="508000" cy="699135"/>
            </a:xfrm>
            <a:custGeom>
              <a:rect b="b" l="l" r="r" t="t"/>
              <a:pathLst>
                <a:path extrusionOk="0" h="699135" w="508000">
                  <a:moveTo>
                    <a:pt x="0" y="0"/>
                  </a:moveTo>
                  <a:lnTo>
                    <a:pt x="507599" y="0"/>
                  </a:lnTo>
                  <a:lnTo>
                    <a:pt x="507599" y="6989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66" name="Google Shape;266;p6"/>
            <p:cNvPicPr preferRelativeResize="0"/>
            <p:nvPr/>
          </p:nvPicPr>
          <p:blipFill rotWithShape="1">
            <a:blip r:embed="rId4">
              <a:alphaModFix/>
            </a:blip>
            <a:srcRect b="0" l="0" r="0" t="0"/>
            <a:stretch/>
          </p:blipFill>
          <p:spPr>
            <a:xfrm>
              <a:off x="1823784" y="2202987"/>
              <a:ext cx="81980" cy="105500"/>
            </a:xfrm>
            <a:prstGeom prst="rect">
              <a:avLst/>
            </a:prstGeom>
            <a:noFill/>
            <a:ln>
              <a:noFill/>
            </a:ln>
          </p:spPr>
        </p:pic>
        <p:sp>
          <p:nvSpPr>
            <p:cNvPr id="267" name="Google Shape;267;p6"/>
            <p:cNvSpPr/>
            <p:nvPr/>
          </p:nvSpPr>
          <p:spPr>
            <a:xfrm>
              <a:off x="1864912" y="2648124"/>
              <a:ext cx="229870" cy="283845"/>
            </a:xfrm>
            <a:custGeom>
              <a:rect b="b" l="l" r="r" t="t"/>
              <a:pathLst>
                <a:path extrusionOk="0" h="283844" w="229869">
                  <a:moveTo>
                    <a:pt x="0" y="0"/>
                  </a:moveTo>
                  <a:lnTo>
                    <a:pt x="0" y="198899"/>
                  </a:lnTo>
                  <a:lnTo>
                    <a:pt x="229799" y="198899"/>
                  </a:lnTo>
                  <a:lnTo>
                    <a:pt x="229799" y="2834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68" name="Google Shape;268;p6"/>
            <p:cNvPicPr preferRelativeResize="0"/>
            <p:nvPr/>
          </p:nvPicPr>
          <p:blipFill rotWithShape="1">
            <a:blip r:embed="rId4">
              <a:alphaModFix/>
            </a:blip>
            <a:srcRect b="0" l="0" r="0" t="0"/>
            <a:stretch/>
          </p:blipFill>
          <p:spPr>
            <a:xfrm>
              <a:off x="2053722" y="2922100"/>
              <a:ext cx="81980" cy="105500"/>
            </a:xfrm>
            <a:prstGeom prst="rect">
              <a:avLst/>
            </a:prstGeom>
            <a:noFill/>
            <a:ln>
              <a:noFill/>
            </a:ln>
          </p:spPr>
        </p:pic>
        <p:sp>
          <p:nvSpPr>
            <p:cNvPr id="269" name="Google Shape;269;p6"/>
            <p:cNvSpPr/>
            <p:nvPr/>
          </p:nvSpPr>
          <p:spPr>
            <a:xfrm>
              <a:off x="4105987" y="2770850"/>
              <a:ext cx="352425" cy="283845"/>
            </a:xfrm>
            <a:custGeom>
              <a:rect b="b" l="l" r="r" t="t"/>
              <a:pathLst>
                <a:path extrusionOk="0" h="283844" w="352425">
                  <a:moveTo>
                    <a:pt x="0" y="283499"/>
                  </a:moveTo>
                  <a:lnTo>
                    <a:pt x="0" y="84599"/>
                  </a:lnTo>
                  <a:lnTo>
                    <a:pt x="352199" y="84599"/>
                  </a:lnTo>
                  <a:lnTo>
                    <a:pt x="352199"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70" name="Google Shape;270;p6"/>
            <p:cNvPicPr preferRelativeResize="0"/>
            <p:nvPr/>
          </p:nvPicPr>
          <p:blipFill rotWithShape="1">
            <a:blip r:embed="rId5">
              <a:alphaModFix/>
            </a:blip>
            <a:srcRect b="0" l="0" r="0" t="0"/>
            <a:stretch/>
          </p:blipFill>
          <p:spPr>
            <a:xfrm>
              <a:off x="4417196" y="2674874"/>
              <a:ext cx="81980" cy="105500"/>
            </a:xfrm>
            <a:prstGeom prst="rect">
              <a:avLst/>
            </a:prstGeom>
            <a:noFill/>
            <a:ln>
              <a:noFill/>
            </a:ln>
          </p:spPr>
        </p:pic>
        <p:sp>
          <p:nvSpPr>
            <p:cNvPr id="271" name="Google Shape;271;p6"/>
            <p:cNvSpPr/>
            <p:nvPr/>
          </p:nvSpPr>
          <p:spPr>
            <a:xfrm>
              <a:off x="5855824" y="719600"/>
              <a:ext cx="999490" cy="3552825"/>
            </a:xfrm>
            <a:custGeom>
              <a:rect b="b" l="l" r="r" t="t"/>
              <a:pathLst>
                <a:path extrusionOk="0" h="3552825" w="999490">
                  <a:moveTo>
                    <a:pt x="0" y="3552599"/>
                  </a:moveTo>
                  <a:lnTo>
                    <a:pt x="0" y="0"/>
                  </a:lnTo>
                  <a:lnTo>
                    <a:pt x="998999" y="0"/>
                  </a:lnTo>
                  <a:lnTo>
                    <a:pt x="998999" y="3552599"/>
                  </a:lnTo>
                  <a:lnTo>
                    <a:pt x="0" y="3552599"/>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72" name="Google Shape;272;p6"/>
            <p:cNvSpPr/>
            <p:nvPr/>
          </p:nvSpPr>
          <p:spPr>
            <a:xfrm>
              <a:off x="6854825" y="2495899"/>
              <a:ext cx="550545" cy="9525"/>
            </a:xfrm>
            <a:custGeom>
              <a:rect b="b" l="l" r="r" t="t"/>
              <a:pathLst>
                <a:path extrusionOk="0" h="9525" w="550545">
                  <a:moveTo>
                    <a:pt x="0" y="0"/>
                  </a:moveTo>
                  <a:lnTo>
                    <a:pt x="550215" y="919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73" name="Google Shape;273;p6"/>
            <p:cNvPicPr preferRelativeResize="0"/>
            <p:nvPr/>
          </p:nvPicPr>
          <p:blipFill rotWithShape="1">
            <a:blip r:embed="rId6">
              <a:alphaModFix/>
            </a:blip>
            <a:srcRect b="0" l="0" r="0" t="0"/>
            <a:stretch/>
          </p:blipFill>
          <p:spPr>
            <a:xfrm>
              <a:off x="7394990" y="2464104"/>
              <a:ext cx="106014" cy="81972"/>
            </a:xfrm>
            <a:prstGeom prst="rect">
              <a:avLst/>
            </a:prstGeom>
            <a:noFill/>
            <a:ln>
              <a:noFill/>
            </a:ln>
          </p:spPr>
        </p:pic>
        <p:sp>
          <p:nvSpPr>
            <p:cNvPr id="274" name="Google Shape;274;p6"/>
            <p:cNvSpPr/>
            <p:nvPr/>
          </p:nvSpPr>
          <p:spPr>
            <a:xfrm>
              <a:off x="4878337" y="2495899"/>
              <a:ext cx="863600" cy="0"/>
            </a:xfrm>
            <a:custGeom>
              <a:rect b="b" l="l" r="r" t="t"/>
              <a:pathLst>
                <a:path extrusionOk="0" h="120000" w="863600">
                  <a:moveTo>
                    <a:pt x="0" y="0"/>
                  </a:moveTo>
                  <a:lnTo>
                    <a:pt x="863099"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75" name="Google Shape;275;p6"/>
            <p:cNvPicPr preferRelativeResize="0"/>
            <p:nvPr/>
          </p:nvPicPr>
          <p:blipFill rotWithShape="1">
            <a:blip r:embed="rId7">
              <a:alphaModFix/>
            </a:blip>
            <a:srcRect b="0" l="0" r="0" t="0"/>
            <a:stretch/>
          </p:blipFill>
          <p:spPr>
            <a:xfrm>
              <a:off x="5731912" y="2454909"/>
              <a:ext cx="105500" cy="81980"/>
            </a:xfrm>
            <a:prstGeom prst="rect">
              <a:avLst/>
            </a:prstGeom>
            <a:noFill/>
            <a:ln>
              <a:noFill/>
            </a:ln>
          </p:spPr>
        </p:pic>
      </p:grpSp>
      <p:sp>
        <p:nvSpPr>
          <p:cNvPr id="276" name="Google Shape;276;p6"/>
          <p:cNvSpPr txBox="1"/>
          <p:nvPr/>
        </p:nvSpPr>
        <p:spPr>
          <a:xfrm>
            <a:off x="3867221" y="3882669"/>
            <a:ext cx="747395" cy="330200"/>
          </a:xfrm>
          <a:prstGeom prst="rect">
            <a:avLst/>
          </a:prstGeom>
          <a:noFill/>
          <a:ln>
            <a:noFill/>
          </a:ln>
        </p:spPr>
        <p:txBody>
          <a:bodyPr anchorCtr="0" anchor="t" bIns="0" lIns="0" spcFirstLastPara="1" rIns="0" wrap="square" tIns="12700">
            <a:spAutoFit/>
          </a:bodyPr>
          <a:lstStyle/>
          <a:p>
            <a:pPr indent="182245" lvl="0" marL="12700" marR="5080" rtl="0" algn="l">
              <a:lnSpc>
                <a:spcPct val="100000"/>
              </a:lnSpc>
              <a:spcBef>
                <a:spcPts val="0"/>
              </a:spcBef>
              <a:spcAft>
                <a:spcPts val="0"/>
              </a:spcAft>
              <a:buNone/>
            </a:pPr>
            <a:r>
              <a:rPr b="1" lang="en-US" sz="1000">
                <a:latin typeface="Arial"/>
                <a:ea typeface="Arial"/>
                <a:cs typeface="Arial"/>
                <a:sym typeface="Arial"/>
              </a:rPr>
              <a:t>Image Descriptions</a:t>
            </a:r>
            <a:endParaRPr sz="10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82" name="Google Shape;282;p7"/>
          <p:cNvSpPr txBox="1"/>
          <p:nvPr>
            <p:ph type="title"/>
          </p:nvPr>
        </p:nvSpPr>
        <p:spPr>
          <a:xfrm>
            <a:off x="458750" y="2344696"/>
            <a:ext cx="4633595" cy="4368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700"/>
              <a:t>Chunking Strategies for RAG</a:t>
            </a:r>
            <a:endParaRPr sz="2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grpSp>
        <p:nvGrpSpPr>
          <p:cNvPr id="287" name="Google Shape;287;p8"/>
          <p:cNvGrpSpPr/>
          <p:nvPr/>
        </p:nvGrpSpPr>
        <p:grpSpPr>
          <a:xfrm>
            <a:off x="0" y="0"/>
            <a:ext cx="9144000" cy="5143500"/>
            <a:chOff x="0" y="0"/>
            <a:chExt cx="9144000" cy="5143500"/>
          </a:xfrm>
        </p:grpSpPr>
        <p:pic>
          <p:nvPicPr>
            <p:cNvPr id="288" name="Google Shape;288;p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89" name="Google Shape;289;p8"/>
            <p:cNvSpPr/>
            <p:nvPr/>
          </p:nvSpPr>
          <p:spPr>
            <a:xfrm>
              <a:off x="2873724" y="2993300"/>
              <a:ext cx="1635125" cy="1073150"/>
            </a:xfrm>
            <a:custGeom>
              <a:rect b="b" l="l" r="r" t="t"/>
              <a:pathLst>
                <a:path extrusionOk="0" h="1073150" w="1635125">
                  <a:moveTo>
                    <a:pt x="0" y="178853"/>
                  </a:moveTo>
                  <a:lnTo>
                    <a:pt x="6388" y="131307"/>
                  </a:lnTo>
                  <a:lnTo>
                    <a:pt x="24418" y="88582"/>
                  </a:lnTo>
                  <a:lnTo>
                    <a:pt x="52384" y="52384"/>
                  </a:lnTo>
                  <a:lnTo>
                    <a:pt x="88582" y="24418"/>
                  </a:lnTo>
                  <a:lnTo>
                    <a:pt x="131307" y="6388"/>
                  </a:lnTo>
                  <a:lnTo>
                    <a:pt x="178853" y="0"/>
                  </a:lnTo>
                  <a:lnTo>
                    <a:pt x="1456146" y="0"/>
                  </a:lnTo>
                  <a:lnTo>
                    <a:pt x="1524590" y="13614"/>
                  </a:lnTo>
                  <a:lnTo>
                    <a:pt x="1582614" y="52384"/>
                  </a:lnTo>
                  <a:lnTo>
                    <a:pt x="1621385" y="110409"/>
                  </a:lnTo>
                  <a:lnTo>
                    <a:pt x="1634999" y="178853"/>
                  </a:lnTo>
                  <a:lnTo>
                    <a:pt x="1634999" y="894246"/>
                  </a:lnTo>
                  <a:lnTo>
                    <a:pt x="1628611" y="941792"/>
                  </a:lnTo>
                  <a:lnTo>
                    <a:pt x="1610581" y="984517"/>
                  </a:lnTo>
                  <a:lnTo>
                    <a:pt x="1582614" y="1020714"/>
                  </a:lnTo>
                  <a:lnTo>
                    <a:pt x="1546417" y="1048681"/>
                  </a:lnTo>
                  <a:lnTo>
                    <a:pt x="1503692" y="1066711"/>
                  </a:lnTo>
                  <a:lnTo>
                    <a:pt x="1456146" y="1073099"/>
                  </a:lnTo>
                  <a:lnTo>
                    <a:pt x="178853" y="1073099"/>
                  </a:lnTo>
                  <a:lnTo>
                    <a:pt x="131307" y="1066711"/>
                  </a:lnTo>
                  <a:lnTo>
                    <a:pt x="88582" y="1048681"/>
                  </a:lnTo>
                  <a:lnTo>
                    <a:pt x="52384" y="1020714"/>
                  </a:lnTo>
                  <a:lnTo>
                    <a:pt x="24418" y="984517"/>
                  </a:lnTo>
                  <a:lnTo>
                    <a:pt x="6388" y="941792"/>
                  </a:lnTo>
                  <a:lnTo>
                    <a:pt x="0" y="894246"/>
                  </a:lnTo>
                  <a:lnTo>
                    <a:pt x="0" y="178853"/>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90" name="Google Shape;290;p8"/>
          <p:cNvSpPr txBox="1"/>
          <p:nvPr>
            <p:ph type="title"/>
          </p:nvPr>
        </p:nvSpPr>
        <p:spPr>
          <a:xfrm>
            <a:off x="384725" y="188286"/>
            <a:ext cx="264668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Vector Databases</a:t>
            </a:r>
            <a:endParaRPr/>
          </a:p>
        </p:txBody>
      </p:sp>
      <p:sp>
        <p:nvSpPr>
          <p:cNvPr id="291" name="Google Shape;291;p8"/>
          <p:cNvSpPr/>
          <p:nvPr/>
        </p:nvSpPr>
        <p:spPr>
          <a:xfrm>
            <a:off x="3069625" y="1243299"/>
            <a:ext cx="1243330" cy="450215"/>
          </a:xfrm>
          <a:custGeom>
            <a:rect b="b" l="l" r="r" t="t"/>
            <a:pathLst>
              <a:path extrusionOk="0" h="450214" w="1243329">
                <a:moveTo>
                  <a:pt x="1104211" y="449699"/>
                </a:moveTo>
                <a:lnTo>
                  <a:pt x="138988" y="449699"/>
                </a:lnTo>
                <a:lnTo>
                  <a:pt x="95057" y="442614"/>
                </a:lnTo>
                <a:lnTo>
                  <a:pt x="56903" y="422883"/>
                </a:lnTo>
                <a:lnTo>
                  <a:pt x="26816" y="392796"/>
                </a:lnTo>
                <a:lnTo>
                  <a:pt x="7085" y="354642"/>
                </a:lnTo>
                <a:lnTo>
                  <a:pt x="0" y="310711"/>
                </a:lnTo>
                <a:lnTo>
                  <a:pt x="0" y="138988"/>
                </a:lnTo>
                <a:lnTo>
                  <a:pt x="7085" y="95057"/>
                </a:lnTo>
                <a:lnTo>
                  <a:pt x="26816" y="56903"/>
                </a:lnTo>
                <a:lnTo>
                  <a:pt x="56903" y="26816"/>
                </a:lnTo>
                <a:lnTo>
                  <a:pt x="95057" y="7085"/>
                </a:lnTo>
                <a:lnTo>
                  <a:pt x="138988" y="0"/>
                </a:lnTo>
                <a:lnTo>
                  <a:pt x="1104211" y="0"/>
                </a:lnTo>
                <a:lnTo>
                  <a:pt x="1157399" y="10579"/>
                </a:lnTo>
                <a:lnTo>
                  <a:pt x="1202490" y="40708"/>
                </a:lnTo>
                <a:lnTo>
                  <a:pt x="1232620" y="85800"/>
                </a:lnTo>
                <a:lnTo>
                  <a:pt x="1243199" y="138988"/>
                </a:lnTo>
                <a:lnTo>
                  <a:pt x="1243199" y="310711"/>
                </a:lnTo>
                <a:lnTo>
                  <a:pt x="1236114" y="354642"/>
                </a:lnTo>
                <a:lnTo>
                  <a:pt x="1216383" y="392796"/>
                </a:lnTo>
                <a:lnTo>
                  <a:pt x="1186296" y="422883"/>
                </a:lnTo>
                <a:lnTo>
                  <a:pt x="1148142" y="442614"/>
                </a:lnTo>
                <a:lnTo>
                  <a:pt x="1104211" y="4496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92" name="Google Shape;292;p8"/>
          <p:cNvSpPr txBox="1"/>
          <p:nvPr/>
        </p:nvSpPr>
        <p:spPr>
          <a:xfrm>
            <a:off x="3210727" y="1238787"/>
            <a:ext cx="962025" cy="448309"/>
          </a:xfrm>
          <a:prstGeom prst="rect">
            <a:avLst/>
          </a:prstGeom>
          <a:noFill/>
          <a:ln>
            <a:noFill/>
          </a:ln>
        </p:spPr>
        <p:txBody>
          <a:bodyPr anchorCtr="0" anchor="t" bIns="0" lIns="0" spcFirstLastPara="1" rIns="0" wrap="square" tIns="22850">
            <a:spAutoFit/>
          </a:bodyPr>
          <a:lstStyle/>
          <a:p>
            <a:pPr indent="251460" lvl="0" marL="12700" marR="5080" rtl="0" algn="l">
              <a:lnSpc>
                <a:spcPct val="117857"/>
              </a:lnSpc>
              <a:spcBef>
                <a:spcPts val="0"/>
              </a:spcBef>
              <a:spcAft>
                <a:spcPts val="0"/>
              </a:spcAft>
              <a:buNone/>
            </a:pPr>
            <a:r>
              <a:rPr b="1" lang="en-US" sz="1400">
                <a:solidFill>
                  <a:srgbClr val="FFFFFF"/>
                </a:solidFill>
                <a:latin typeface="Arial"/>
                <a:ea typeface="Arial"/>
                <a:cs typeface="Arial"/>
                <a:sym typeface="Arial"/>
              </a:rPr>
              <a:t>Input Documents</a:t>
            </a:r>
            <a:endParaRPr sz="1400">
              <a:latin typeface="Arial"/>
              <a:ea typeface="Arial"/>
              <a:cs typeface="Arial"/>
              <a:sym typeface="Arial"/>
            </a:endParaRPr>
          </a:p>
        </p:txBody>
      </p:sp>
      <p:sp>
        <p:nvSpPr>
          <p:cNvPr id="293" name="Google Shape;293;p8"/>
          <p:cNvSpPr/>
          <p:nvPr/>
        </p:nvSpPr>
        <p:spPr>
          <a:xfrm>
            <a:off x="3069625" y="2118299"/>
            <a:ext cx="1243330" cy="450215"/>
          </a:xfrm>
          <a:custGeom>
            <a:rect b="b" l="l" r="r" t="t"/>
            <a:pathLst>
              <a:path extrusionOk="0" h="450214" w="1243329">
                <a:moveTo>
                  <a:pt x="1104211" y="449699"/>
                </a:moveTo>
                <a:lnTo>
                  <a:pt x="138988" y="449699"/>
                </a:lnTo>
                <a:lnTo>
                  <a:pt x="95057" y="442614"/>
                </a:lnTo>
                <a:lnTo>
                  <a:pt x="56903" y="422883"/>
                </a:lnTo>
                <a:lnTo>
                  <a:pt x="26816" y="392796"/>
                </a:lnTo>
                <a:lnTo>
                  <a:pt x="7085" y="354642"/>
                </a:lnTo>
                <a:lnTo>
                  <a:pt x="0" y="310711"/>
                </a:lnTo>
                <a:lnTo>
                  <a:pt x="0" y="138988"/>
                </a:lnTo>
                <a:lnTo>
                  <a:pt x="7085" y="95057"/>
                </a:lnTo>
                <a:lnTo>
                  <a:pt x="26816" y="56903"/>
                </a:lnTo>
                <a:lnTo>
                  <a:pt x="56903" y="26816"/>
                </a:lnTo>
                <a:lnTo>
                  <a:pt x="95057" y="7085"/>
                </a:lnTo>
                <a:lnTo>
                  <a:pt x="138988" y="0"/>
                </a:lnTo>
                <a:lnTo>
                  <a:pt x="1104211" y="0"/>
                </a:lnTo>
                <a:lnTo>
                  <a:pt x="1157399" y="10579"/>
                </a:lnTo>
                <a:lnTo>
                  <a:pt x="1202490" y="40708"/>
                </a:lnTo>
                <a:lnTo>
                  <a:pt x="1232620" y="85800"/>
                </a:lnTo>
                <a:lnTo>
                  <a:pt x="1243199" y="138988"/>
                </a:lnTo>
                <a:lnTo>
                  <a:pt x="1243199" y="310711"/>
                </a:lnTo>
                <a:lnTo>
                  <a:pt x="1236114" y="354642"/>
                </a:lnTo>
                <a:lnTo>
                  <a:pt x="1216383" y="392796"/>
                </a:lnTo>
                <a:lnTo>
                  <a:pt x="1186296" y="422883"/>
                </a:lnTo>
                <a:lnTo>
                  <a:pt x="1148142" y="442614"/>
                </a:lnTo>
                <a:lnTo>
                  <a:pt x="1104211" y="449699"/>
                </a:lnTo>
                <a:close/>
              </a:path>
            </a:pathLst>
          </a:custGeom>
          <a:solidFill>
            <a:srgbClr val="58585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94" name="Google Shape;294;p8"/>
          <p:cNvSpPr txBox="1"/>
          <p:nvPr/>
        </p:nvSpPr>
        <p:spPr>
          <a:xfrm>
            <a:off x="3211172" y="2113788"/>
            <a:ext cx="960755" cy="448309"/>
          </a:xfrm>
          <a:prstGeom prst="rect">
            <a:avLst/>
          </a:prstGeom>
          <a:noFill/>
          <a:ln>
            <a:noFill/>
          </a:ln>
        </p:spPr>
        <p:txBody>
          <a:bodyPr anchorCtr="0" anchor="t" bIns="0" lIns="0" spcFirstLastPara="1" rIns="0" wrap="square" tIns="22850">
            <a:spAutoFit/>
          </a:bodyPr>
          <a:lstStyle/>
          <a:p>
            <a:pPr indent="-209550" lvl="0" marL="221615" marR="5080" rtl="0" algn="l">
              <a:lnSpc>
                <a:spcPct val="117857"/>
              </a:lnSpc>
              <a:spcBef>
                <a:spcPts val="0"/>
              </a:spcBef>
              <a:spcAft>
                <a:spcPts val="0"/>
              </a:spcAft>
              <a:buNone/>
            </a:pPr>
            <a:r>
              <a:rPr b="1" lang="en-US" sz="1400">
                <a:solidFill>
                  <a:srgbClr val="FFFFFF"/>
                </a:solidFill>
                <a:latin typeface="Arial"/>
                <a:ea typeface="Arial"/>
                <a:cs typeface="Arial"/>
                <a:sym typeface="Arial"/>
              </a:rPr>
              <a:t>Embedding Model</a:t>
            </a:r>
            <a:endParaRPr sz="1400">
              <a:latin typeface="Arial"/>
              <a:ea typeface="Arial"/>
              <a:cs typeface="Arial"/>
              <a:sym typeface="Arial"/>
            </a:endParaRPr>
          </a:p>
        </p:txBody>
      </p:sp>
      <p:sp>
        <p:nvSpPr>
          <p:cNvPr id="295" name="Google Shape;295;p8"/>
          <p:cNvSpPr/>
          <p:nvPr/>
        </p:nvSpPr>
        <p:spPr>
          <a:xfrm>
            <a:off x="2969124" y="3556649"/>
            <a:ext cx="1444625" cy="450215"/>
          </a:xfrm>
          <a:custGeom>
            <a:rect b="b" l="l" r="r" t="t"/>
            <a:pathLst>
              <a:path extrusionOk="0" h="450214" w="1444625">
                <a:moveTo>
                  <a:pt x="1305211" y="449699"/>
                </a:moveTo>
                <a:lnTo>
                  <a:pt x="138988" y="449699"/>
                </a:lnTo>
                <a:lnTo>
                  <a:pt x="95057" y="442614"/>
                </a:lnTo>
                <a:lnTo>
                  <a:pt x="56903" y="422883"/>
                </a:lnTo>
                <a:lnTo>
                  <a:pt x="26816" y="392796"/>
                </a:lnTo>
                <a:lnTo>
                  <a:pt x="7085" y="354642"/>
                </a:lnTo>
                <a:lnTo>
                  <a:pt x="0" y="310711"/>
                </a:lnTo>
                <a:lnTo>
                  <a:pt x="0" y="138988"/>
                </a:lnTo>
                <a:lnTo>
                  <a:pt x="7085" y="95057"/>
                </a:lnTo>
                <a:lnTo>
                  <a:pt x="26816" y="56903"/>
                </a:lnTo>
                <a:lnTo>
                  <a:pt x="56903" y="26816"/>
                </a:lnTo>
                <a:lnTo>
                  <a:pt x="95057" y="7085"/>
                </a:lnTo>
                <a:lnTo>
                  <a:pt x="138988" y="0"/>
                </a:lnTo>
                <a:lnTo>
                  <a:pt x="1305211" y="0"/>
                </a:lnTo>
                <a:lnTo>
                  <a:pt x="1358399" y="10579"/>
                </a:lnTo>
                <a:lnTo>
                  <a:pt x="1403490" y="40708"/>
                </a:lnTo>
                <a:lnTo>
                  <a:pt x="1433620" y="85799"/>
                </a:lnTo>
                <a:lnTo>
                  <a:pt x="1444199" y="138988"/>
                </a:lnTo>
                <a:lnTo>
                  <a:pt x="1444199" y="310711"/>
                </a:lnTo>
                <a:lnTo>
                  <a:pt x="1437114" y="354642"/>
                </a:lnTo>
                <a:lnTo>
                  <a:pt x="1417383" y="392796"/>
                </a:lnTo>
                <a:lnTo>
                  <a:pt x="1387296" y="422883"/>
                </a:lnTo>
                <a:lnTo>
                  <a:pt x="1349142" y="442614"/>
                </a:lnTo>
                <a:lnTo>
                  <a:pt x="1305211" y="4496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96" name="Google Shape;296;p8"/>
          <p:cNvSpPr txBox="1"/>
          <p:nvPr/>
        </p:nvSpPr>
        <p:spPr>
          <a:xfrm>
            <a:off x="3167812" y="3656912"/>
            <a:ext cx="1047750"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FFFFFF"/>
                </a:solidFill>
                <a:latin typeface="Arial"/>
                <a:ea typeface="Arial"/>
                <a:cs typeface="Arial"/>
                <a:sym typeface="Arial"/>
              </a:rPr>
              <a:t>Embeddings</a:t>
            </a:r>
            <a:endParaRPr sz="1400">
              <a:latin typeface="Arial"/>
              <a:ea typeface="Arial"/>
              <a:cs typeface="Arial"/>
              <a:sym typeface="Arial"/>
            </a:endParaRPr>
          </a:p>
        </p:txBody>
      </p:sp>
      <p:sp>
        <p:nvSpPr>
          <p:cNvPr id="297" name="Google Shape;297;p8"/>
          <p:cNvSpPr/>
          <p:nvPr/>
        </p:nvSpPr>
        <p:spPr>
          <a:xfrm>
            <a:off x="2969124" y="3053350"/>
            <a:ext cx="1444625" cy="450215"/>
          </a:xfrm>
          <a:custGeom>
            <a:rect b="b" l="l" r="r" t="t"/>
            <a:pathLst>
              <a:path extrusionOk="0" h="450214" w="1444625">
                <a:moveTo>
                  <a:pt x="1305211" y="449699"/>
                </a:moveTo>
                <a:lnTo>
                  <a:pt x="138988" y="449699"/>
                </a:lnTo>
                <a:lnTo>
                  <a:pt x="95057" y="442614"/>
                </a:lnTo>
                <a:lnTo>
                  <a:pt x="56903" y="422883"/>
                </a:lnTo>
                <a:lnTo>
                  <a:pt x="26816" y="392796"/>
                </a:lnTo>
                <a:lnTo>
                  <a:pt x="7085" y="354642"/>
                </a:lnTo>
                <a:lnTo>
                  <a:pt x="0" y="310711"/>
                </a:lnTo>
                <a:lnTo>
                  <a:pt x="0" y="138988"/>
                </a:lnTo>
                <a:lnTo>
                  <a:pt x="7085" y="95057"/>
                </a:lnTo>
                <a:lnTo>
                  <a:pt x="26816" y="56903"/>
                </a:lnTo>
                <a:lnTo>
                  <a:pt x="56903" y="26816"/>
                </a:lnTo>
                <a:lnTo>
                  <a:pt x="95057" y="7085"/>
                </a:lnTo>
                <a:lnTo>
                  <a:pt x="138988" y="0"/>
                </a:lnTo>
                <a:lnTo>
                  <a:pt x="1305211" y="0"/>
                </a:lnTo>
                <a:lnTo>
                  <a:pt x="1358399" y="10579"/>
                </a:lnTo>
                <a:lnTo>
                  <a:pt x="1403490" y="40708"/>
                </a:lnTo>
                <a:lnTo>
                  <a:pt x="1433620" y="85800"/>
                </a:lnTo>
                <a:lnTo>
                  <a:pt x="1444199" y="138988"/>
                </a:lnTo>
                <a:lnTo>
                  <a:pt x="1444199" y="310711"/>
                </a:lnTo>
                <a:lnTo>
                  <a:pt x="1437114" y="354642"/>
                </a:lnTo>
                <a:lnTo>
                  <a:pt x="1417383" y="392796"/>
                </a:lnTo>
                <a:lnTo>
                  <a:pt x="1387296" y="422883"/>
                </a:lnTo>
                <a:lnTo>
                  <a:pt x="1349142" y="442614"/>
                </a:lnTo>
                <a:lnTo>
                  <a:pt x="1305211" y="4496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98" name="Google Shape;298;p8"/>
          <p:cNvSpPr txBox="1"/>
          <p:nvPr/>
        </p:nvSpPr>
        <p:spPr>
          <a:xfrm>
            <a:off x="3210727" y="3153613"/>
            <a:ext cx="96202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FFFFFF"/>
                </a:solidFill>
                <a:latin typeface="Arial"/>
                <a:ea typeface="Arial"/>
                <a:cs typeface="Arial"/>
                <a:sym typeface="Arial"/>
              </a:rPr>
              <a:t>Documents</a:t>
            </a:r>
            <a:endParaRPr sz="1400">
              <a:latin typeface="Arial"/>
              <a:ea typeface="Arial"/>
              <a:cs typeface="Arial"/>
              <a:sym typeface="Arial"/>
            </a:endParaRPr>
          </a:p>
        </p:txBody>
      </p:sp>
      <p:grpSp>
        <p:nvGrpSpPr>
          <p:cNvPr id="299" name="Google Shape;299;p8"/>
          <p:cNvGrpSpPr/>
          <p:nvPr/>
        </p:nvGrpSpPr>
        <p:grpSpPr>
          <a:xfrm>
            <a:off x="3650234" y="1692999"/>
            <a:ext cx="3035971" cy="2149115"/>
            <a:chOff x="3650234" y="1692999"/>
            <a:chExt cx="3035971" cy="2149115"/>
          </a:xfrm>
        </p:grpSpPr>
        <p:sp>
          <p:nvSpPr>
            <p:cNvPr id="300" name="Google Shape;300;p8"/>
            <p:cNvSpPr/>
            <p:nvPr/>
          </p:nvSpPr>
          <p:spPr>
            <a:xfrm>
              <a:off x="3691225" y="1692999"/>
              <a:ext cx="0" cy="311150"/>
            </a:xfrm>
            <a:custGeom>
              <a:rect b="b" l="l" r="r" t="t"/>
              <a:pathLst>
                <a:path extrusionOk="0" h="311150" w="120000">
                  <a:moveTo>
                    <a:pt x="0" y="0"/>
                  </a:moveTo>
                  <a:lnTo>
                    <a:pt x="0" y="311099"/>
                  </a:lnTo>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01" name="Google Shape;301;p8"/>
            <p:cNvPicPr preferRelativeResize="0"/>
            <p:nvPr/>
          </p:nvPicPr>
          <p:blipFill rotWithShape="1">
            <a:blip r:embed="rId4">
              <a:alphaModFix/>
            </a:blip>
            <a:srcRect b="0" l="0" r="0" t="0"/>
            <a:stretch/>
          </p:blipFill>
          <p:spPr>
            <a:xfrm>
              <a:off x="3650234" y="1994574"/>
              <a:ext cx="81980" cy="105500"/>
            </a:xfrm>
            <a:prstGeom prst="rect">
              <a:avLst/>
            </a:prstGeom>
            <a:noFill/>
            <a:ln>
              <a:noFill/>
            </a:ln>
          </p:spPr>
        </p:pic>
        <p:sp>
          <p:nvSpPr>
            <p:cNvPr id="302" name="Google Shape;302;p8"/>
            <p:cNvSpPr/>
            <p:nvPr/>
          </p:nvSpPr>
          <p:spPr>
            <a:xfrm>
              <a:off x="3691225" y="2567999"/>
              <a:ext cx="0" cy="311150"/>
            </a:xfrm>
            <a:custGeom>
              <a:rect b="b" l="l" r="r" t="t"/>
              <a:pathLst>
                <a:path extrusionOk="0" h="311150" w="120000">
                  <a:moveTo>
                    <a:pt x="0" y="0"/>
                  </a:moveTo>
                  <a:lnTo>
                    <a:pt x="0" y="311099"/>
                  </a:lnTo>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03" name="Google Shape;303;p8"/>
            <p:cNvPicPr preferRelativeResize="0"/>
            <p:nvPr/>
          </p:nvPicPr>
          <p:blipFill rotWithShape="1">
            <a:blip r:embed="rId4">
              <a:alphaModFix/>
            </a:blip>
            <a:srcRect b="0" l="0" r="0" t="0"/>
            <a:stretch/>
          </p:blipFill>
          <p:spPr>
            <a:xfrm>
              <a:off x="3650234" y="2869574"/>
              <a:ext cx="81980" cy="105500"/>
            </a:xfrm>
            <a:prstGeom prst="rect">
              <a:avLst/>
            </a:prstGeom>
            <a:noFill/>
            <a:ln>
              <a:noFill/>
            </a:ln>
          </p:spPr>
        </p:pic>
        <p:sp>
          <p:nvSpPr>
            <p:cNvPr id="304" name="Google Shape;304;p8"/>
            <p:cNvSpPr/>
            <p:nvPr/>
          </p:nvSpPr>
          <p:spPr>
            <a:xfrm>
              <a:off x="4703450" y="3230474"/>
              <a:ext cx="652780" cy="0"/>
            </a:xfrm>
            <a:custGeom>
              <a:rect b="b" l="l" r="r" t="t"/>
              <a:pathLst>
                <a:path extrusionOk="0" h="120000" w="652779">
                  <a:moveTo>
                    <a:pt x="652499" y="0"/>
                  </a:moveTo>
                  <a:lnTo>
                    <a:pt x="0" y="0"/>
                  </a:lnTo>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05" name="Google Shape;305;p8"/>
            <p:cNvPicPr preferRelativeResize="0"/>
            <p:nvPr/>
          </p:nvPicPr>
          <p:blipFill rotWithShape="1">
            <a:blip r:embed="rId5">
              <a:alphaModFix/>
            </a:blip>
            <a:srcRect b="0" l="0" r="0" t="0"/>
            <a:stretch/>
          </p:blipFill>
          <p:spPr>
            <a:xfrm>
              <a:off x="4607474" y="3189484"/>
              <a:ext cx="105500" cy="81980"/>
            </a:xfrm>
            <a:prstGeom prst="rect">
              <a:avLst/>
            </a:prstGeom>
            <a:noFill/>
            <a:ln>
              <a:noFill/>
            </a:ln>
          </p:spPr>
        </p:pic>
        <p:sp>
          <p:nvSpPr>
            <p:cNvPr id="306" name="Google Shape;306;p8"/>
            <p:cNvSpPr/>
            <p:nvPr/>
          </p:nvSpPr>
          <p:spPr>
            <a:xfrm>
              <a:off x="4629475" y="3801125"/>
              <a:ext cx="647700" cy="6985"/>
            </a:xfrm>
            <a:custGeom>
              <a:rect b="b" l="l" r="r" t="t"/>
              <a:pathLst>
                <a:path extrusionOk="0" h="6985" w="647700">
                  <a:moveTo>
                    <a:pt x="647105" y="0"/>
                  </a:moveTo>
                  <a:lnTo>
                    <a:pt x="0" y="6374"/>
                  </a:lnTo>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07" name="Google Shape;307;p8"/>
            <p:cNvPicPr preferRelativeResize="0"/>
            <p:nvPr/>
          </p:nvPicPr>
          <p:blipFill rotWithShape="1">
            <a:blip r:embed="rId6">
              <a:alphaModFix/>
            </a:blip>
            <a:srcRect b="0" l="0" r="0" t="0"/>
            <a:stretch/>
          </p:blipFill>
          <p:spPr>
            <a:xfrm>
              <a:off x="5266745" y="3760136"/>
              <a:ext cx="105806" cy="81978"/>
            </a:xfrm>
            <a:prstGeom prst="rect">
              <a:avLst/>
            </a:prstGeom>
            <a:noFill/>
            <a:ln>
              <a:noFill/>
            </a:ln>
          </p:spPr>
        </p:pic>
        <p:sp>
          <p:nvSpPr>
            <p:cNvPr id="308" name="Google Shape;308;p8"/>
            <p:cNvSpPr/>
            <p:nvPr/>
          </p:nvSpPr>
          <p:spPr>
            <a:xfrm>
              <a:off x="5531775" y="3069824"/>
              <a:ext cx="1154430" cy="321310"/>
            </a:xfrm>
            <a:custGeom>
              <a:rect b="b" l="l" r="r" t="t"/>
              <a:pathLst>
                <a:path extrusionOk="0" h="321310" w="1154429">
                  <a:moveTo>
                    <a:pt x="0" y="53550"/>
                  </a:moveTo>
                  <a:lnTo>
                    <a:pt x="4208" y="32706"/>
                  </a:lnTo>
                  <a:lnTo>
                    <a:pt x="15684" y="15684"/>
                  </a:lnTo>
                  <a:lnTo>
                    <a:pt x="32706" y="4208"/>
                  </a:lnTo>
                  <a:lnTo>
                    <a:pt x="53551" y="0"/>
                  </a:lnTo>
                  <a:lnTo>
                    <a:pt x="1100549" y="0"/>
                  </a:lnTo>
                  <a:lnTo>
                    <a:pt x="1138415" y="15684"/>
                  </a:lnTo>
                  <a:lnTo>
                    <a:pt x="1154099" y="53550"/>
                  </a:lnTo>
                  <a:lnTo>
                    <a:pt x="1154099" y="267748"/>
                  </a:lnTo>
                  <a:lnTo>
                    <a:pt x="1149891" y="288593"/>
                  </a:lnTo>
                  <a:lnTo>
                    <a:pt x="1138415" y="305615"/>
                  </a:lnTo>
                  <a:lnTo>
                    <a:pt x="1121393" y="317091"/>
                  </a:lnTo>
                  <a:lnTo>
                    <a:pt x="1100549" y="321299"/>
                  </a:lnTo>
                  <a:lnTo>
                    <a:pt x="53551" y="321299"/>
                  </a:lnTo>
                  <a:lnTo>
                    <a:pt x="32706" y="317091"/>
                  </a:lnTo>
                  <a:lnTo>
                    <a:pt x="15684" y="305615"/>
                  </a:lnTo>
                  <a:lnTo>
                    <a:pt x="4208" y="288593"/>
                  </a:lnTo>
                  <a:lnTo>
                    <a:pt x="0" y="267748"/>
                  </a:lnTo>
                  <a:lnTo>
                    <a:pt x="0" y="5355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09" name="Google Shape;309;p8"/>
          <p:cNvSpPr txBox="1"/>
          <p:nvPr/>
        </p:nvSpPr>
        <p:spPr>
          <a:xfrm>
            <a:off x="3317249" y="4125214"/>
            <a:ext cx="69278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200">
                <a:solidFill>
                  <a:srgbClr val="7E7E7E"/>
                </a:solidFill>
                <a:latin typeface="Arial"/>
                <a:ea typeface="Arial"/>
                <a:cs typeface="Arial"/>
                <a:sym typeface="Arial"/>
              </a:rPr>
              <a:t>VectorDB</a:t>
            </a:r>
            <a:endParaRPr sz="1200">
              <a:latin typeface="Arial"/>
              <a:ea typeface="Arial"/>
              <a:cs typeface="Arial"/>
              <a:sym typeface="Arial"/>
            </a:endParaRPr>
          </a:p>
        </p:txBody>
      </p:sp>
      <p:sp>
        <p:nvSpPr>
          <p:cNvPr id="310" name="Google Shape;310;p8"/>
          <p:cNvSpPr txBox="1"/>
          <p:nvPr/>
        </p:nvSpPr>
        <p:spPr>
          <a:xfrm>
            <a:off x="1066050" y="2978670"/>
            <a:ext cx="1562735" cy="1092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solidFill>
                  <a:srgbClr val="7E7E7E"/>
                </a:solidFill>
                <a:latin typeface="Arial"/>
                <a:ea typeface="Arial"/>
                <a:cs typeface="Arial"/>
                <a:sym typeface="Arial"/>
              </a:rPr>
              <a:t>The vector database is</a:t>
            </a:r>
            <a:endParaRPr sz="1000">
              <a:latin typeface="Arial"/>
              <a:ea typeface="Arial"/>
              <a:cs typeface="Arial"/>
              <a:sym typeface="Arial"/>
            </a:endParaRPr>
          </a:p>
          <a:p>
            <a:pPr indent="0" lvl="0" marL="12700" marR="5080" rtl="0" algn="l">
              <a:lnSpc>
                <a:spcPct val="100000"/>
              </a:lnSpc>
              <a:spcBef>
                <a:spcPts val="0"/>
              </a:spcBef>
              <a:spcAft>
                <a:spcPts val="0"/>
              </a:spcAft>
              <a:buNone/>
            </a:pPr>
            <a:r>
              <a:rPr b="1" lang="en-US" sz="1000">
                <a:solidFill>
                  <a:srgbClr val="7E7E7E"/>
                </a:solidFill>
                <a:latin typeface="Arial"/>
                <a:ea typeface="Arial"/>
                <a:cs typeface="Arial"/>
                <a:sym typeface="Arial"/>
              </a:rPr>
              <a:t>pre-populated by indexing all the document chunks and the vectors created using the embedding.</a:t>
            </a:r>
            <a:endParaRPr sz="1000">
              <a:latin typeface="Arial"/>
              <a:ea typeface="Arial"/>
              <a:cs typeface="Arial"/>
              <a:sym typeface="Arial"/>
            </a:endParaRPr>
          </a:p>
          <a:p>
            <a:pPr indent="0" lvl="0" marL="12700" marR="23495" rtl="0" algn="l">
              <a:lnSpc>
                <a:spcPct val="100000"/>
              </a:lnSpc>
              <a:spcBef>
                <a:spcPts val="0"/>
              </a:spcBef>
              <a:spcAft>
                <a:spcPts val="0"/>
              </a:spcAft>
              <a:buNone/>
            </a:pPr>
            <a:r>
              <a:rPr b="1" lang="en-US" sz="1000">
                <a:solidFill>
                  <a:srgbClr val="7E7E7E"/>
                </a:solidFill>
                <a:latin typeface="Arial"/>
                <a:ea typeface="Arial"/>
                <a:cs typeface="Arial"/>
                <a:sym typeface="Arial"/>
              </a:rPr>
              <a:t>Indexes are organized into collections.</a:t>
            </a:r>
            <a:endParaRPr sz="1000">
              <a:latin typeface="Arial"/>
              <a:ea typeface="Arial"/>
              <a:cs typeface="Arial"/>
              <a:sym typeface="Arial"/>
            </a:endParaRPr>
          </a:p>
        </p:txBody>
      </p:sp>
      <p:sp>
        <p:nvSpPr>
          <p:cNvPr id="311" name="Google Shape;311;p8"/>
          <p:cNvSpPr txBox="1"/>
          <p:nvPr/>
        </p:nvSpPr>
        <p:spPr>
          <a:xfrm>
            <a:off x="1066050" y="1221769"/>
            <a:ext cx="1499870" cy="4826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000">
                <a:solidFill>
                  <a:srgbClr val="7E7E7E"/>
                </a:solidFill>
                <a:latin typeface="Arial"/>
                <a:ea typeface="Arial"/>
                <a:cs typeface="Arial"/>
                <a:sym typeface="Arial"/>
              </a:rPr>
              <a:t>Input documents are split into chunks of a certain size.</a:t>
            </a:r>
            <a:endParaRPr sz="1000">
              <a:latin typeface="Arial"/>
              <a:ea typeface="Arial"/>
              <a:cs typeface="Arial"/>
              <a:sym typeface="Arial"/>
            </a:endParaRPr>
          </a:p>
        </p:txBody>
      </p:sp>
      <p:sp>
        <p:nvSpPr>
          <p:cNvPr id="312" name="Google Shape;312;p8"/>
          <p:cNvSpPr txBox="1"/>
          <p:nvPr/>
        </p:nvSpPr>
        <p:spPr>
          <a:xfrm>
            <a:off x="4507050" y="2169319"/>
            <a:ext cx="1447165" cy="3302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000">
                <a:solidFill>
                  <a:srgbClr val="7E7E7E"/>
                </a:solidFill>
                <a:latin typeface="Arial"/>
                <a:ea typeface="Arial"/>
                <a:cs typeface="Arial"/>
                <a:sym typeface="Arial"/>
              </a:rPr>
              <a:t>Each chunk is associated with a vector.</a:t>
            </a:r>
            <a:endParaRPr sz="1000">
              <a:latin typeface="Arial"/>
              <a:ea typeface="Arial"/>
              <a:cs typeface="Arial"/>
              <a:sym typeface="Arial"/>
            </a:endParaRPr>
          </a:p>
        </p:txBody>
      </p:sp>
      <p:sp>
        <p:nvSpPr>
          <p:cNvPr id="313" name="Google Shape;313;p8"/>
          <p:cNvSpPr txBox="1"/>
          <p:nvPr/>
        </p:nvSpPr>
        <p:spPr>
          <a:xfrm>
            <a:off x="5706056" y="3121191"/>
            <a:ext cx="80581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User Query</a:t>
            </a:r>
            <a:endParaRPr sz="1200">
              <a:latin typeface="Arial"/>
              <a:ea typeface="Arial"/>
              <a:cs typeface="Arial"/>
              <a:sym typeface="Arial"/>
            </a:endParaRPr>
          </a:p>
        </p:txBody>
      </p:sp>
      <p:sp>
        <p:nvSpPr>
          <p:cNvPr id="314" name="Google Shape;314;p8"/>
          <p:cNvSpPr/>
          <p:nvPr/>
        </p:nvSpPr>
        <p:spPr>
          <a:xfrm>
            <a:off x="5511624" y="3568799"/>
            <a:ext cx="1154430" cy="425450"/>
          </a:xfrm>
          <a:custGeom>
            <a:rect b="b" l="l" r="r" t="t"/>
            <a:pathLst>
              <a:path extrusionOk="0" h="425450" w="1154429">
                <a:moveTo>
                  <a:pt x="0" y="70901"/>
                </a:moveTo>
                <a:lnTo>
                  <a:pt x="5571" y="43303"/>
                </a:lnTo>
                <a:lnTo>
                  <a:pt x="20766" y="20766"/>
                </a:lnTo>
                <a:lnTo>
                  <a:pt x="43303" y="5571"/>
                </a:lnTo>
                <a:lnTo>
                  <a:pt x="70901" y="0"/>
                </a:lnTo>
                <a:lnTo>
                  <a:pt x="1083198" y="0"/>
                </a:lnTo>
                <a:lnTo>
                  <a:pt x="1122534" y="11912"/>
                </a:lnTo>
                <a:lnTo>
                  <a:pt x="1148702" y="43768"/>
                </a:lnTo>
                <a:lnTo>
                  <a:pt x="1154099" y="70901"/>
                </a:lnTo>
                <a:lnTo>
                  <a:pt x="1154099" y="354498"/>
                </a:lnTo>
                <a:lnTo>
                  <a:pt x="1148528" y="382096"/>
                </a:lnTo>
                <a:lnTo>
                  <a:pt x="1133333" y="404633"/>
                </a:lnTo>
                <a:lnTo>
                  <a:pt x="1110796" y="419828"/>
                </a:lnTo>
                <a:lnTo>
                  <a:pt x="1083198" y="425399"/>
                </a:lnTo>
                <a:lnTo>
                  <a:pt x="70901" y="425399"/>
                </a:lnTo>
                <a:lnTo>
                  <a:pt x="43303" y="419828"/>
                </a:lnTo>
                <a:lnTo>
                  <a:pt x="20766" y="404633"/>
                </a:lnTo>
                <a:lnTo>
                  <a:pt x="5571" y="382096"/>
                </a:lnTo>
                <a:lnTo>
                  <a:pt x="0" y="354498"/>
                </a:lnTo>
                <a:lnTo>
                  <a:pt x="0" y="7090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15" name="Google Shape;315;p8"/>
          <p:cNvSpPr txBox="1"/>
          <p:nvPr/>
        </p:nvSpPr>
        <p:spPr>
          <a:xfrm>
            <a:off x="5686668" y="3581729"/>
            <a:ext cx="804545" cy="389255"/>
          </a:xfrm>
          <a:prstGeom prst="rect">
            <a:avLst/>
          </a:prstGeom>
          <a:noFill/>
          <a:ln>
            <a:noFill/>
          </a:ln>
        </p:spPr>
        <p:txBody>
          <a:bodyPr anchorCtr="0" anchor="t" bIns="0" lIns="0" spcFirstLastPara="1" rIns="0" wrap="square" tIns="19675">
            <a:spAutoFit/>
          </a:bodyPr>
          <a:lstStyle/>
          <a:p>
            <a:pPr indent="151130" lvl="0" marL="12700" marR="5080" rtl="0" algn="l">
              <a:lnSpc>
                <a:spcPct val="119166"/>
              </a:lnSpc>
              <a:spcBef>
                <a:spcPts val="0"/>
              </a:spcBef>
              <a:spcAft>
                <a:spcPts val="0"/>
              </a:spcAft>
              <a:buNone/>
            </a:pPr>
            <a:r>
              <a:rPr lang="en-US" sz="1200">
                <a:latin typeface="Arial"/>
                <a:ea typeface="Arial"/>
                <a:cs typeface="Arial"/>
                <a:sym typeface="Arial"/>
              </a:rPr>
              <a:t>Similar Documents</a:t>
            </a:r>
            <a:endParaRPr sz="12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grpSp>
        <p:nvGrpSpPr>
          <p:cNvPr id="320" name="Google Shape;320;p9"/>
          <p:cNvGrpSpPr/>
          <p:nvPr/>
        </p:nvGrpSpPr>
        <p:grpSpPr>
          <a:xfrm>
            <a:off x="0" y="0"/>
            <a:ext cx="9144000" cy="5143500"/>
            <a:chOff x="0" y="0"/>
            <a:chExt cx="9144000" cy="5143500"/>
          </a:xfrm>
        </p:grpSpPr>
        <p:pic>
          <p:nvPicPr>
            <p:cNvPr id="321" name="Google Shape;321;p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22" name="Google Shape;322;p9"/>
            <p:cNvSpPr/>
            <p:nvPr/>
          </p:nvSpPr>
          <p:spPr>
            <a:xfrm>
              <a:off x="2728024" y="2210974"/>
              <a:ext cx="2071370" cy="2350135"/>
            </a:xfrm>
            <a:custGeom>
              <a:rect b="b" l="l" r="r" t="t"/>
              <a:pathLst>
                <a:path extrusionOk="0" h="2350135" w="2071370">
                  <a:moveTo>
                    <a:pt x="0" y="0"/>
                  </a:moveTo>
                  <a:lnTo>
                    <a:pt x="2071199" y="0"/>
                  </a:lnTo>
                  <a:lnTo>
                    <a:pt x="2071199" y="2349599"/>
                  </a:lnTo>
                  <a:lnTo>
                    <a:pt x="0" y="2349599"/>
                  </a:lnTo>
                  <a:lnTo>
                    <a:pt x="0" y="0"/>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23" name="Google Shape;323;p9"/>
          <p:cNvSpPr txBox="1"/>
          <p:nvPr/>
        </p:nvSpPr>
        <p:spPr>
          <a:xfrm>
            <a:off x="2801050" y="2276887"/>
            <a:ext cx="607060"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latin typeface="Arial"/>
                <a:ea typeface="Arial"/>
                <a:cs typeface="Arial"/>
                <a:sym typeface="Arial"/>
              </a:rPr>
              <a:t>Length</a:t>
            </a:r>
            <a:endParaRPr sz="1400">
              <a:latin typeface="Arial"/>
              <a:ea typeface="Arial"/>
              <a:cs typeface="Arial"/>
              <a:sym typeface="Arial"/>
            </a:endParaRPr>
          </a:p>
        </p:txBody>
      </p:sp>
      <p:sp>
        <p:nvSpPr>
          <p:cNvPr id="324" name="Google Shape;324;p9"/>
          <p:cNvSpPr txBox="1"/>
          <p:nvPr>
            <p:ph type="title"/>
          </p:nvPr>
        </p:nvSpPr>
        <p:spPr>
          <a:xfrm>
            <a:off x="384725" y="188286"/>
            <a:ext cx="738124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Chunking Strategies</a:t>
            </a:r>
            <a:endParaRPr/>
          </a:p>
        </p:txBody>
      </p:sp>
      <p:grpSp>
        <p:nvGrpSpPr>
          <p:cNvPr id="325" name="Google Shape;325;p9"/>
          <p:cNvGrpSpPr/>
          <p:nvPr/>
        </p:nvGrpSpPr>
        <p:grpSpPr>
          <a:xfrm>
            <a:off x="2980584" y="2707275"/>
            <a:ext cx="1276208" cy="1625399"/>
            <a:chOff x="2980584" y="2707275"/>
            <a:chExt cx="1276208" cy="1625399"/>
          </a:xfrm>
        </p:grpSpPr>
        <p:sp>
          <p:nvSpPr>
            <p:cNvPr id="326" name="Google Shape;326;p9"/>
            <p:cNvSpPr/>
            <p:nvPr/>
          </p:nvSpPr>
          <p:spPr>
            <a:xfrm>
              <a:off x="3392075" y="3891349"/>
              <a:ext cx="783590" cy="441325"/>
            </a:xfrm>
            <a:custGeom>
              <a:rect b="b" l="l" r="r" t="t"/>
              <a:pathLst>
                <a:path extrusionOk="0" h="441325" w="783589">
                  <a:moveTo>
                    <a:pt x="0" y="441125"/>
                  </a:moveTo>
                  <a:lnTo>
                    <a:pt x="782999" y="441125"/>
                  </a:lnTo>
                  <a:lnTo>
                    <a:pt x="782999" y="0"/>
                  </a:lnTo>
                  <a:lnTo>
                    <a:pt x="0" y="0"/>
                  </a:lnTo>
                  <a:lnTo>
                    <a:pt x="0" y="441125"/>
                  </a:lnTo>
                  <a:close/>
                </a:path>
              </a:pathLst>
            </a:custGeom>
            <a:solidFill>
              <a:srgbClr val="C9DA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27" name="Google Shape;327;p9"/>
            <p:cNvSpPr/>
            <p:nvPr/>
          </p:nvSpPr>
          <p:spPr>
            <a:xfrm>
              <a:off x="3392075" y="3698875"/>
              <a:ext cx="783590" cy="633730"/>
            </a:xfrm>
            <a:custGeom>
              <a:rect b="b" l="l" r="r" t="t"/>
              <a:pathLst>
                <a:path extrusionOk="0" h="633729" w="783589">
                  <a:moveTo>
                    <a:pt x="0" y="0"/>
                  </a:moveTo>
                  <a:lnTo>
                    <a:pt x="782999" y="0"/>
                  </a:lnTo>
                  <a:lnTo>
                    <a:pt x="782999" y="633599"/>
                  </a:lnTo>
                  <a:lnTo>
                    <a:pt x="0" y="633599"/>
                  </a:lnTo>
                  <a:lnTo>
                    <a:pt x="0" y="0"/>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28" name="Google Shape;328;p9"/>
            <p:cNvSpPr/>
            <p:nvPr/>
          </p:nvSpPr>
          <p:spPr>
            <a:xfrm>
              <a:off x="3392068" y="3200730"/>
              <a:ext cx="783590" cy="695960"/>
            </a:xfrm>
            <a:custGeom>
              <a:rect b="b" l="l" r="r" t="t"/>
              <a:pathLst>
                <a:path extrusionOk="0" h="695960" w="783589">
                  <a:moveTo>
                    <a:pt x="783005" y="690626"/>
                  </a:moveTo>
                  <a:lnTo>
                    <a:pt x="0" y="690626"/>
                  </a:lnTo>
                  <a:lnTo>
                    <a:pt x="0" y="695401"/>
                  </a:lnTo>
                  <a:lnTo>
                    <a:pt x="783005" y="695401"/>
                  </a:lnTo>
                  <a:lnTo>
                    <a:pt x="783005" y="690626"/>
                  </a:lnTo>
                  <a:close/>
                </a:path>
                <a:path extrusionOk="0" h="695960" w="783589">
                  <a:moveTo>
                    <a:pt x="783005" y="0"/>
                  </a:moveTo>
                  <a:lnTo>
                    <a:pt x="0" y="0"/>
                  </a:lnTo>
                  <a:lnTo>
                    <a:pt x="0" y="488721"/>
                  </a:lnTo>
                  <a:lnTo>
                    <a:pt x="783005" y="488721"/>
                  </a:lnTo>
                  <a:lnTo>
                    <a:pt x="783005" y="0"/>
                  </a:lnTo>
                  <a:close/>
                </a:path>
              </a:pathLst>
            </a:custGeom>
            <a:solidFill>
              <a:srgbClr val="C9DA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29" name="Google Shape;329;p9"/>
            <p:cNvSpPr/>
            <p:nvPr/>
          </p:nvSpPr>
          <p:spPr>
            <a:xfrm>
              <a:off x="3392075" y="3200725"/>
              <a:ext cx="783590" cy="695960"/>
            </a:xfrm>
            <a:custGeom>
              <a:rect b="b" l="l" r="r" t="t"/>
              <a:pathLst>
                <a:path extrusionOk="0" h="695960" w="783589">
                  <a:moveTo>
                    <a:pt x="0" y="0"/>
                  </a:moveTo>
                  <a:lnTo>
                    <a:pt x="782999" y="0"/>
                  </a:lnTo>
                  <a:lnTo>
                    <a:pt x="782999" y="695399"/>
                  </a:lnTo>
                  <a:lnTo>
                    <a:pt x="0" y="695399"/>
                  </a:lnTo>
                  <a:lnTo>
                    <a:pt x="0" y="0"/>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0" name="Google Shape;330;p9"/>
            <p:cNvSpPr/>
            <p:nvPr/>
          </p:nvSpPr>
          <p:spPr>
            <a:xfrm>
              <a:off x="3392075" y="2707275"/>
              <a:ext cx="783590" cy="494030"/>
            </a:xfrm>
            <a:custGeom>
              <a:rect b="b" l="l" r="r" t="t"/>
              <a:pathLst>
                <a:path extrusionOk="0" h="494030" w="783589">
                  <a:moveTo>
                    <a:pt x="0" y="493449"/>
                  </a:moveTo>
                  <a:lnTo>
                    <a:pt x="782999" y="493449"/>
                  </a:lnTo>
                  <a:lnTo>
                    <a:pt x="782999" y="0"/>
                  </a:lnTo>
                  <a:lnTo>
                    <a:pt x="0" y="0"/>
                  </a:lnTo>
                  <a:lnTo>
                    <a:pt x="0" y="493449"/>
                  </a:lnTo>
                  <a:close/>
                </a:path>
              </a:pathLst>
            </a:custGeom>
            <a:solidFill>
              <a:srgbClr val="C9DA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1" name="Google Shape;331;p9"/>
            <p:cNvSpPr/>
            <p:nvPr/>
          </p:nvSpPr>
          <p:spPr>
            <a:xfrm>
              <a:off x="3392075" y="2707275"/>
              <a:ext cx="783590" cy="695960"/>
            </a:xfrm>
            <a:custGeom>
              <a:rect b="b" l="l" r="r" t="t"/>
              <a:pathLst>
                <a:path extrusionOk="0" h="695960" w="783589">
                  <a:moveTo>
                    <a:pt x="0" y="0"/>
                  </a:moveTo>
                  <a:lnTo>
                    <a:pt x="782999" y="0"/>
                  </a:lnTo>
                  <a:lnTo>
                    <a:pt x="782999" y="695399"/>
                  </a:lnTo>
                  <a:lnTo>
                    <a:pt x="0" y="695399"/>
                  </a:lnTo>
                  <a:lnTo>
                    <a:pt x="0" y="0"/>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2" name="Google Shape;332;p9"/>
            <p:cNvSpPr/>
            <p:nvPr/>
          </p:nvSpPr>
          <p:spPr>
            <a:xfrm>
              <a:off x="3392075" y="3200724"/>
              <a:ext cx="783590" cy="201930"/>
            </a:xfrm>
            <a:custGeom>
              <a:rect b="b" l="l" r="r" t="t"/>
              <a:pathLst>
                <a:path extrusionOk="0" h="201929" w="783589">
                  <a:moveTo>
                    <a:pt x="782999" y="201899"/>
                  </a:moveTo>
                  <a:lnTo>
                    <a:pt x="0" y="201899"/>
                  </a:lnTo>
                  <a:lnTo>
                    <a:pt x="0" y="0"/>
                  </a:lnTo>
                  <a:lnTo>
                    <a:pt x="782999" y="0"/>
                  </a:lnTo>
                  <a:lnTo>
                    <a:pt x="782999" y="201899"/>
                  </a:lnTo>
                  <a:close/>
                </a:path>
              </a:pathLst>
            </a:custGeom>
            <a:solidFill>
              <a:srgbClr val="9E9E9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3" name="Google Shape;333;p9"/>
            <p:cNvSpPr/>
            <p:nvPr/>
          </p:nvSpPr>
          <p:spPr>
            <a:xfrm>
              <a:off x="3392075" y="3200724"/>
              <a:ext cx="783590" cy="201930"/>
            </a:xfrm>
            <a:custGeom>
              <a:rect b="b" l="l" r="r" t="t"/>
              <a:pathLst>
                <a:path extrusionOk="0" h="201929" w="783589">
                  <a:moveTo>
                    <a:pt x="0" y="0"/>
                  </a:moveTo>
                  <a:lnTo>
                    <a:pt x="782999" y="0"/>
                  </a:lnTo>
                  <a:lnTo>
                    <a:pt x="782999" y="201899"/>
                  </a:lnTo>
                  <a:lnTo>
                    <a:pt x="0" y="201899"/>
                  </a:lnTo>
                  <a:lnTo>
                    <a:pt x="0" y="0"/>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4" name="Google Shape;334;p9"/>
            <p:cNvSpPr/>
            <p:nvPr/>
          </p:nvSpPr>
          <p:spPr>
            <a:xfrm>
              <a:off x="4240775" y="3257874"/>
              <a:ext cx="0" cy="87630"/>
            </a:xfrm>
            <a:custGeom>
              <a:rect b="b" l="l" r="r" t="t"/>
              <a:pathLst>
                <a:path extrusionOk="0" h="87629" w="120000">
                  <a:moveTo>
                    <a:pt x="0" y="0"/>
                  </a:moveTo>
                  <a:lnTo>
                    <a:pt x="0" y="87599"/>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5" name="Google Shape;335;p9"/>
            <p:cNvSpPr/>
            <p:nvPr/>
          </p:nvSpPr>
          <p:spPr>
            <a:xfrm>
              <a:off x="4225042" y="3214648"/>
              <a:ext cx="31750" cy="43815"/>
            </a:xfrm>
            <a:custGeom>
              <a:rect b="b" l="l" r="r" t="t"/>
              <a:pathLst>
                <a:path extrusionOk="0" h="43814" w="31750">
                  <a:moveTo>
                    <a:pt x="31465" y="43225"/>
                  </a:moveTo>
                  <a:lnTo>
                    <a:pt x="0" y="43225"/>
                  </a:lnTo>
                  <a:lnTo>
                    <a:pt x="15732" y="0"/>
                  </a:lnTo>
                  <a:lnTo>
                    <a:pt x="31465" y="43225"/>
                  </a:lnTo>
                  <a:close/>
                </a:path>
              </a:pathLst>
            </a:custGeom>
            <a:solidFill>
              <a:srgbClr val="5959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6" name="Google Shape;336;p9"/>
            <p:cNvSpPr/>
            <p:nvPr/>
          </p:nvSpPr>
          <p:spPr>
            <a:xfrm>
              <a:off x="4225042" y="3214648"/>
              <a:ext cx="31750" cy="43815"/>
            </a:xfrm>
            <a:custGeom>
              <a:rect b="b" l="l" r="r" t="t"/>
              <a:pathLst>
                <a:path extrusionOk="0" h="43814" w="31750">
                  <a:moveTo>
                    <a:pt x="31465" y="43225"/>
                  </a:moveTo>
                  <a:lnTo>
                    <a:pt x="15732" y="0"/>
                  </a:lnTo>
                  <a:lnTo>
                    <a:pt x="0" y="43225"/>
                  </a:lnTo>
                  <a:lnTo>
                    <a:pt x="31465" y="43225"/>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7" name="Google Shape;337;p9"/>
            <p:cNvSpPr/>
            <p:nvPr/>
          </p:nvSpPr>
          <p:spPr>
            <a:xfrm>
              <a:off x="4225042" y="3345474"/>
              <a:ext cx="31750" cy="43815"/>
            </a:xfrm>
            <a:custGeom>
              <a:rect b="b" l="l" r="r" t="t"/>
              <a:pathLst>
                <a:path extrusionOk="0" h="43814" w="31750">
                  <a:moveTo>
                    <a:pt x="15732" y="43225"/>
                  </a:moveTo>
                  <a:lnTo>
                    <a:pt x="0" y="0"/>
                  </a:lnTo>
                  <a:lnTo>
                    <a:pt x="31465" y="0"/>
                  </a:lnTo>
                  <a:lnTo>
                    <a:pt x="15732" y="43225"/>
                  </a:lnTo>
                  <a:close/>
                </a:path>
              </a:pathLst>
            </a:custGeom>
            <a:solidFill>
              <a:srgbClr val="5959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8" name="Google Shape;338;p9"/>
            <p:cNvSpPr/>
            <p:nvPr/>
          </p:nvSpPr>
          <p:spPr>
            <a:xfrm>
              <a:off x="4225042" y="3345474"/>
              <a:ext cx="31750" cy="43815"/>
            </a:xfrm>
            <a:custGeom>
              <a:rect b="b" l="l" r="r" t="t"/>
              <a:pathLst>
                <a:path extrusionOk="0" h="43814" w="31750">
                  <a:moveTo>
                    <a:pt x="0" y="0"/>
                  </a:moveTo>
                  <a:lnTo>
                    <a:pt x="15732" y="43225"/>
                  </a:lnTo>
                  <a:lnTo>
                    <a:pt x="31465" y="0"/>
                  </a:lnTo>
                  <a:lnTo>
                    <a:pt x="0"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9" name="Google Shape;339;p9"/>
            <p:cNvSpPr/>
            <p:nvPr/>
          </p:nvSpPr>
          <p:spPr>
            <a:xfrm>
              <a:off x="3021575" y="2821524"/>
              <a:ext cx="0" cy="467359"/>
            </a:xfrm>
            <a:custGeom>
              <a:rect b="b" l="l" r="r" t="t"/>
              <a:pathLst>
                <a:path extrusionOk="0" h="467360" w="120000">
                  <a:moveTo>
                    <a:pt x="0" y="334350"/>
                  </a:moveTo>
                  <a:lnTo>
                    <a:pt x="0" y="466799"/>
                  </a:lnTo>
                </a:path>
                <a:path extrusionOk="0" h="467360" w="120000">
                  <a:moveTo>
                    <a:pt x="0" y="0"/>
                  </a:moveTo>
                  <a:lnTo>
                    <a:pt x="0" y="13245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40" name="Google Shape;340;p9"/>
            <p:cNvPicPr preferRelativeResize="0"/>
            <p:nvPr/>
          </p:nvPicPr>
          <p:blipFill rotWithShape="1">
            <a:blip r:embed="rId4">
              <a:alphaModFix/>
            </a:blip>
            <a:srcRect b="0" l="0" r="0" t="0"/>
            <a:stretch/>
          </p:blipFill>
          <p:spPr>
            <a:xfrm>
              <a:off x="2980584" y="2725548"/>
              <a:ext cx="81980" cy="105500"/>
            </a:xfrm>
            <a:prstGeom prst="rect">
              <a:avLst/>
            </a:prstGeom>
            <a:noFill/>
            <a:ln>
              <a:noFill/>
            </a:ln>
          </p:spPr>
        </p:pic>
        <p:pic>
          <p:nvPicPr>
            <p:cNvPr id="341" name="Google Shape;341;p9"/>
            <p:cNvPicPr preferRelativeResize="0"/>
            <p:nvPr/>
          </p:nvPicPr>
          <p:blipFill rotWithShape="1">
            <a:blip r:embed="rId5">
              <a:alphaModFix/>
            </a:blip>
            <a:srcRect b="0" l="0" r="0" t="0"/>
            <a:stretch/>
          </p:blipFill>
          <p:spPr>
            <a:xfrm>
              <a:off x="2980584" y="3278799"/>
              <a:ext cx="81980" cy="105500"/>
            </a:xfrm>
            <a:prstGeom prst="rect">
              <a:avLst/>
            </a:prstGeom>
            <a:noFill/>
            <a:ln>
              <a:noFill/>
            </a:ln>
          </p:spPr>
        </p:pic>
        <p:sp>
          <p:nvSpPr>
            <p:cNvPr id="342" name="Google Shape;342;p9"/>
            <p:cNvSpPr/>
            <p:nvPr/>
          </p:nvSpPr>
          <p:spPr>
            <a:xfrm>
              <a:off x="3392075" y="3689449"/>
              <a:ext cx="783590" cy="201930"/>
            </a:xfrm>
            <a:custGeom>
              <a:rect b="b" l="l" r="r" t="t"/>
              <a:pathLst>
                <a:path extrusionOk="0" h="201929" w="783589">
                  <a:moveTo>
                    <a:pt x="782999" y="201899"/>
                  </a:moveTo>
                  <a:lnTo>
                    <a:pt x="0" y="201899"/>
                  </a:lnTo>
                  <a:lnTo>
                    <a:pt x="0" y="0"/>
                  </a:lnTo>
                  <a:lnTo>
                    <a:pt x="782999" y="0"/>
                  </a:lnTo>
                  <a:lnTo>
                    <a:pt x="782999" y="201899"/>
                  </a:lnTo>
                  <a:close/>
                </a:path>
              </a:pathLst>
            </a:custGeom>
            <a:solidFill>
              <a:srgbClr val="9E9E9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43" name="Google Shape;343;p9"/>
            <p:cNvSpPr/>
            <p:nvPr/>
          </p:nvSpPr>
          <p:spPr>
            <a:xfrm>
              <a:off x="3392075" y="3689449"/>
              <a:ext cx="783590" cy="201930"/>
            </a:xfrm>
            <a:custGeom>
              <a:rect b="b" l="l" r="r" t="t"/>
              <a:pathLst>
                <a:path extrusionOk="0" h="201929" w="783589">
                  <a:moveTo>
                    <a:pt x="0" y="0"/>
                  </a:moveTo>
                  <a:lnTo>
                    <a:pt x="782999" y="0"/>
                  </a:lnTo>
                  <a:lnTo>
                    <a:pt x="782999" y="201899"/>
                  </a:lnTo>
                  <a:lnTo>
                    <a:pt x="0" y="201899"/>
                  </a:lnTo>
                  <a:lnTo>
                    <a:pt x="0" y="0"/>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44" name="Google Shape;344;p9"/>
            <p:cNvSpPr/>
            <p:nvPr/>
          </p:nvSpPr>
          <p:spPr>
            <a:xfrm>
              <a:off x="3128075" y="3315024"/>
              <a:ext cx="0" cy="467359"/>
            </a:xfrm>
            <a:custGeom>
              <a:rect b="b" l="l" r="r" t="t"/>
              <a:pathLst>
                <a:path extrusionOk="0" h="467360" w="120000">
                  <a:moveTo>
                    <a:pt x="0" y="334350"/>
                  </a:moveTo>
                  <a:lnTo>
                    <a:pt x="0" y="466799"/>
                  </a:lnTo>
                </a:path>
                <a:path extrusionOk="0" h="467360" w="120000">
                  <a:moveTo>
                    <a:pt x="0" y="0"/>
                  </a:moveTo>
                  <a:lnTo>
                    <a:pt x="0" y="13245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45" name="Google Shape;345;p9"/>
            <p:cNvPicPr preferRelativeResize="0"/>
            <p:nvPr/>
          </p:nvPicPr>
          <p:blipFill rotWithShape="1">
            <a:blip r:embed="rId4">
              <a:alphaModFix/>
            </a:blip>
            <a:srcRect b="0" l="0" r="0" t="0"/>
            <a:stretch/>
          </p:blipFill>
          <p:spPr>
            <a:xfrm>
              <a:off x="3087084" y="3219048"/>
              <a:ext cx="81980" cy="105500"/>
            </a:xfrm>
            <a:prstGeom prst="rect">
              <a:avLst/>
            </a:prstGeom>
            <a:noFill/>
            <a:ln>
              <a:noFill/>
            </a:ln>
          </p:spPr>
        </p:pic>
        <p:pic>
          <p:nvPicPr>
            <p:cNvPr id="346" name="Google Shape;346;p9"/>
            <p:cNvPicPr preferRelativeResize="0"/>
            <p:nvPr/>
          </p:nvPicPr>
          <p:blipFill rotWithShape="1">
            <a:blip r:embed="rId6">
              <a:alphaModFix/>
            </a:blip>
            <a:srcRect b="0" l="0" r="0" t="0"/>
            <a:stretch/>
          </p:blipFill>
          <p:spPr>
            <a:xfrm>
              <a:off x="3087084" y="3772299"/>
              <a:ext cx="81980" cy="105500"/>
            </a:xfrm>
            <a:prstGeom prst="rect">
              <a:avLst/>
            </a:prstGeom>
            <a:noFill/>
            <a:ln>
              <a:noFill/>
            </a:ln>
          </p:spPr>
        </p:pic>
      </p:grpSp>
      <p:sp>
        <p:nvSpPr>
          <p:cNvPr id="347" name="Google Shape;347;p9"/>
          <p:cNvSpPr txBox="1"/>
          <p:nvPr/>
        </p:nvSpPr>
        <p:spPr>
          <a:xfrm>
            <a:off x="4306475" y="3200724"/>
            <a:ext cx="381000" cy="201930"/>
          </a:xfrm>
          <a:prstGeom prst="rect">
            <a:avLst/>
          </a:prstGeom>
          <a:solidFill>
            <a:srgbClr val="FFFFFF"/>
          </a:solidFill>
          <a:ln>
            <a:noFill/>
          </a:ln>
        </p:spPr>
        <p:txBody>
          <a:bodyPr anchorCtr="0" anchor="t" bIns="0" lIns="0" spcFirstLastPara="1" rIns="0" wrap="square" tIns="0">
            <a:spAutoFit/>
          </a:bodyPr>
          <a:lstStyle/>
          <a:p>
            <a:pPr indent="0" lvl="0" marL="83185" rtl="0" algn="l">
              <a:lnSpc>
                <a:spcPct val="112857"/>
              </a:lnSpc>
              <a:spcBef>
                <a:spcPts val="0"/>
              </a:spcBef>
              <a:spcAft>
                <a:spcPts val="0"/>
              </a:spcAft>
              <a:buNone/>
            </a:pPr>
            <a:r>
              <a:rPr b="1" lang="en-US" sz="1400">
                <a:latin typeface="Arial"/>
                <a:ea typeface="Arial"/>
                <a:cs typeface="Arial"/>
                <a:sym typeface="Arial"/>
              </a:rPr>
              <a:t>16</a:t>
            </a:r>
            <a:endParaRPr sz="1400">
              <a:latin typeface="Arial"/>
              <a:ea typeface="Arial"/>
              <a:cs typeface="Arial"/>
              <a:sym typeface="Arial"/>
            </a:endParaRPr>
          </a:p>
        </p:txBody>
      </p:sp>
      <p:sp>
        <p:nvSpPr>
          <p:cNvPr id="348" name="Google Shape;348;p9"/>
          <p:cNvSpPr txBox="1"/>
          <p:nvPr/>
        </p:nvSpPr>
        <p:spPr>
          <a:xfrm>
            <a:off x="2886724" y="3447474"/>
            <a:ext cx="483234" cy="201930"/>
          </a:xfrm>
          <a:prstGeom prst="rect">
            <a:avLst/>
          </a:prstGeom>
          <a:solidFill>
            <a:srgbClr val="FFFFFF"/>
          </a:solidFill>
          <a:ln>
            <a:noFill/>
          </a:ln>
        </p:spPr>
        <p:txBody>
          <a:bodyPr anchorCtr="0" anchor="t" bIns="0" lIns="0" spcFirstLastPara="1" rIns="0" wrap="square" tIns="0">
            <a:spAutoFit/>
          </a:bodyPr>
          <a:lstStyle/>
          <a:p>
            <a:pPr indent="0" lvl="0" marL="81280" rtl="0" algn="l">
              <a:lnSpc>
                <a:spcPct val="112857"/>
              </a:lnSpc>
              <a:spcBef>
                <a:spcPts val="0"/>
              </a:spcBef>
              <a:spcAft>
                <a:spcPts val="0"/>
              </a:spcAft>
              <a:buNone/>
            </a:pPr>
            <a:r>
              <a:rPr b="1" lang="en-US" sz="1400">
                <a:latin typeface="Arial"/>
                <a:ea typeface="Arial"/>
                <a:cs typeface="Arial"/>
                <a:sym typeface="Arial"/>
              </a:rPr>
              <a:t>512</a:t>
            </a:r>
            <a:endParaRPr sz="1400">
              <a:latin typeface="Arial"/>
              <a:ea typeface="Arial"/>
              <a:cs typeface="Arial"/>
              <a:sym typeface="Arial"/>
            </a:endParaRPr>
          </a:p>
        </p:txBody>
      </p:sp>
      <p:grpSp>
        <p:nvGrpSpPr>
          <p:cNvPr id="349" name="Google Shape;349;p9"/>
          <p:cNvGrpSpPr/>
          <p:nvPr/>
        </p:nvGrpSpPr>
        <p:grpSpPr>
          <a:xfrm>
            <a:off x="2728024" y="2953974"/>
            <a:ext cx="1518268" cy="924040"/>
            <a:chOff x="2728024" y="2953974"/>
            <a:chExt cx="1518268" cy="924040"/>
          </a:xfrm>
        </p:grpSpPr>
        <p:sp>
          <p:nvSpPr>
            <p:cNvPr id="350" name="Google Shape;350;p9"/>
            <p:cNvSpPr/>
            <p:nvPr/>
          </p:nvSpPr>
          <p:spPr>
            <a:xfrm>
              <a:off x="4230274" y="3746599"/>
              <a:ext cx="0" cy="87630"/>
            </a:xfrm>
            <a:custGeom>
              <a:rect b="b" l="l" r="r" t="t"/>
              <a:pathLst>
                <a:path extrusionOk="0" h="87629" w="120000">
                  <a:moveTo>
                    <a:pt x="0" y="0"/>
                  </a:moveTo>
                  <a:lnTo>
                    <a:pt x="0" y="87599"/>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51" name="Google Shape;351;p9"/>
            <p:cNvSpPr/>
            <p:nvPr/>
          </p:nvSpPr>
          <p:spPr>
            <a:xfrm>
              <a:off x="4214542" y="3703373"/>
              <a:ext cx="31750" cy="43815"/>
            </a:xfrm>
            <a:custGeom>
              <a:rect b="b" l="l" r="r" t="t"/>
              <a:pathLst>
                <a:path extrusionOk="0" h="43814" w="31750">
                  <a:moveTo>
                    <a:pt x="31465" y="43225"/>
                  </a:moveTo>
                  <a:lnTo>
                    <a:pt x="0" y="43225"/>
                  </a:lnTo>
                  <a:lnTo>
                    <a:pt x="15732" y="0"/>
                  </a:lnTo>
                  <a:lnTo>
                    <a:pt x="31465" y="43225"/>
                  </a:lnTo>
                  <a:close/>
                </a:path>
              </a:pathLst>
            </a:custGeom>
            <a:solidFill>
              <a:srgbClr val="5959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52" name="Google Shape;352;p9"/>
            <p:cNvSpPr/>
            <p:nvPr/>
          </p:nvSpPr>
          <p:spPr>
            <a:xfrm>
              <a:off x="4214542" y="3703373"/>
              <a:ext cx="31750" cy="43815"/>
            </a:xfrm>
            <a:custGeom>
              <a:rect b="b" l="l" r="r" t="t"/>
              <a:pathLst>
                <a:path extrusionOk="0" h="43814" w="31750">
                  <a:moveTo>
                    <a:pt x="31465" y="43225"/>
                  </a:moveTo>
                  <a:lnTo>
                    <a:pt x="15732" y="0"/>
                  </a:lnTo>
                  <a:lnTo>
                    <a:pt x="0" y="43225"/>
                  </a:lnTo>
                  <a:lnTo>
                    <a:pt x="31465" y="43225"/>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53" name="Google Shape;353;p9"/>
            <p:cNvSpPr/>
            <p:nvPr/>
          </p:nvSpPr>
          <p:spPr>
            <a:xfrm>
              <a:off x="4214542" y="3834199"/>
              <a:ext cx="31750" cy="43815"/>
            </a:xfrm>
            <a:custGeom>
              <a:rect b="b" l="l" r="r" t="t"/>
              <a:pathLst>
                <a:path extrusionOk="0" h="43814" w="31750">
                  <a:moveTo>
                    <a:pt x="15732" y="43225"/>
                  </a:moveTo>
                  <a:lnTo>
                    <a:pt x="0" y="0"/>
                  </a:lnTo>
                  <a:lnTo>
                    <a:pt x="31465" y="0"/>
                  </a:lnTo>
                  <a:lnTo>
                    <a:pt x="15732" y="43225"/>
                  </a:lnTo>
                  <a:close/>
                </a:path>
              </a:pathLst>
            </a:custGeom>
            <a:solidFill>
              <a:srgbClr val="5959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54" name="Google Shape;354;p9"/>
            <p:cNvSpPr/>
            <p:nvPr/>
          </p:nvSpPr>
          <p:spPr>
            <a:xfrm>
              <a:off x="4214542" y="3834199"/>
              <a:ext cx="31750" cy="43815"/>
            </a:xfrm>
            <a:custGeom>
              <a:rect b="b" l="l" r="r" t="t"/>
              <a:pathLst>
                <a:path extrusionOk="0" h="43814" w="31750">
                  <a:moveTo>
                    <a:pt x="0" y="0"/>
                  </a:moveTo>
                  <a:lnTo>
                    <a:pt x="15732" y="43225"/>
                  </a:lnTo>
                  <a:lnTo>
                    <a:pt x="31465" y="0"/>
                  </a:lnTo>
                  <a:lnTo>
                    <a:pt x="0"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55" name="Google Shape;355;p9"/>
            <p:cNvSpPr/>
            <p:nvPr/>
          </p:nvSpPr>
          <p:spPr>
            <a:xfrm>
              <a:off x="2728024" y="2953974"/>
              <a:ext cx="587375" cy="201930"/>
            </a:xfrm>
            <a:custGeom>
              <a:rect b="b" l="l" r="r" t="t"/>
              <a:pathLst>
                <a:path extrusionOk="0" h="201930" w="587375">
                  <a:moveTo>
                    <a:pt x="587099" y="201899"/>
                  </a:moveTo>
                  <a:lnTo>
                    <a:pt x="0" y="201899"/>
                  </a:lnTo>
                  <a:lnTo>
                    <a:pt x="0" y="0"/>
                  </a:lnTo>
                  <a:lnTo>
                    <a:pt x="587099" y="0"/>
                  </a:lnTo>
                  <a:lnTo>
                    <a:pt x="587099" y="201899"/>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56" name="Google Shape;356;p9"/>
          <p:cNvSpPr txBox="1"/>
          <p:nvPr/>
        </p:nvSpPr>
        <p:spPr>
          <a:xfrm>
            <a:off x="4306475" y="3689449"/>
            <a:ext cx="381000" cy="201930"/>
          </a:xfrm>
          <a:prstGeom prst="rect">
            <a:avLst/>
          </a:prstGeom>
          <a:solidFill>
            <a:srgbClr val="FFFFFF"/>
          </a:solidFill>
          <a:ln>
            <a:noFill/>
          </a:ln>
        </p:spPr>
        <p:txBody>
          <a:bodyPr anchorCtr="0" anchor="t" bIns="0" lIns="0" spcFirstLastPara="1" rIns="0" wrap="square" tIns="0">
            <a:spAutoFit/>
          </a:bodyPr>
          <a:lstStyle/>
          <a:p>
            <a:pPr indent="0" lvl="0" marL="83185" rtl="0" algn="l">
              <a:lnSpc>
                <a:spcPct val="112857"/>
              </a:lnSpc>
              <a:spcBef>
                <a:spcPts val="0"/>
              </a:spcBef>
              <a:spcAft>
                <a:spcPts val="0"/>
              </a:spcAft>
              <a:buNone/>
            </a:pPr>
            <a:r>
              <a:rPr b="1" lang="en-US" sz="1400">
                <a:latin typeface="Arial"/>
                <a:ea typeface="Arial"/>
                <a:cs typeface="Arial"/>
                <a:sym typeface="Arial"/>
              </a:rPr>
              <a:t>16</a:t>
            </a:r>
            <a:endParaRPr sz="1400">
              <a:latin typeface="Arial"/>
              <a:ea typeface="Arial"/>
              <a:cs typeface="Arial"/>
              <a:sym typeface="Arial"/>
            </a:endParaRPr>
          </a:p>
        </p:txBody>
      </p:sp>
      <p:sp>
        <p:nvSpPr>
          <p:cNvPr id="357" name="Google Shape;357;p9"/>
          <p:cNvSpPr txBox="1"/>
          <p:nvPr/>
        </p:nvSpPr>
        <p:spPr>
          <a:xfrm>
            <a:off x="2848944" y="2928433"/>
            <a:ext cx="345440"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latin typeface="Arial"/>
                <a:ea typeface="Arial"/>
                <a:cs typeface="Arial"/>
                <a:sym typeface="Arial"/>
              </a:rPr>
              <a:t>512</a:t>
            </a:r>
            <a:endParaRPr sz="1400">
              <a:latin typeface="Arial"/>
              <a:ea typeface="Arial"/>
              <a:cs typeface="Arial"/>
              <a:sym typeface="Arial"/>
            </a:endParaRPr>
          </a:p>
        </p:txBody>
      </p:sp>
      <p:sp>
        <p:nvSpPr>
          <p:cNvPr id="358" name="Google Shape;358;p9"/>
          <p:cNvSpPr/>
          <p:nvPr/>
        </p:nvSpPr>
        <p:spPr>
          <a:xfrm>
            <a:off x="3021575" y="875012"/>
            <a:ext cx="1444625" cy="450215"/>
          </a:xfrm>
          <a:custGeom>
            <a:rect b="b" l="l" r="r" t="t"/>
            <a:pathLst>
              <a:path extrusionOk="0" h="450215" w="1444625">
                <a:moveTo>
                  <a:pt x="1305211" y="449699"/>
                </a:moveTo>
                <a:lnTo>
                  <a:pt x="138988" y="449699"/>
                </a:lnTo>
                <a:lnTo>
                  <a:pt x="95057" y="442614"/>
                </a:lnTo>
                <a:lnTo>
                  <a:pt x="56903" y="422883"/>
                </a:lnTo>
                <a:lnTo>
                  <a:pt x="26816" y="392796"/>
                </a:lnTo>
                <a:lnTo>
                  <a:pt x="7085" y="354642"/>
                </a:lnTo>
                <a:lnTo>
                  <a:pt x="0" y="310711"/>
                </a:lnTo>
                <a:lnTo>
                  <a:pt x="0" y="138988"/>
                </a:lnTo>
                <a:lnTo>
                  <a:pt x="7085" y="95057"/>
                </a:lnTo>
                <a:lnTo>
                  <a:pt x="26816" y="56903"/>
                </a:lnTo>
                <a:lnTo>
                  <a:pt x="56903" y="26816"/>
                </a:lnTo>
                <a:lnTo>
                  <a:pt x="95057" y="7085"/>
                </a:lnTo>
                <a:lnTo>
                  <a:pt x="138988" y="0"/>
                </a:lnTo>
                <a:lnTo>
                  <a:pt x="1305211" y="0"/>
                </a:lnTo>
                <a:lnTo>
                  <a:pt x="1358399" y="10579"/>
                </a:lnTo>
                <a:lnTo>
                  <a:pt x="1403490" y="40708"/>
                </a:lnTo>
                <a:lnTo>
                  <a:pt x="1433620" y="85800"/>
                </a:lnTo>
                <a:lnTo>
                  <a:pt x="1444199" y="138988"/>
                </a:lnTo>
                <a:lnTo>
                  <a:pt x="1444199" y="310711"/>
                </a:lnTo>
                <a:lnTo>
                  <a:pt x="1437114" y="354642"/>
                </a:lnTo>
                <a:lnTo>
                  <a:pt x="1417383" y="392796"/>
                </a:lnTo>
                <a:lnTo>
                  <a:pt x="1387296" y="422883"/>
                </a:lnTo>
                <a:lnTo>
                  <a:pt x="1349142" y="442614"/>
                </a:lnTo>
                <a:lnTo>
                  <a:pt x="1305211" y="4496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59" name="Google Shape;359;p9"/>
          <p:cNvSpPr txBox="1"/>
          <p:nvPr/>
        </p:nvSpPr>
        <p:spPr>
          <a:xfrm>
            <a:off x="3263177" y="975275"/>
            <a:ext cx="96202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FFFFFF"/>
                </a:solidFill>
                <a:latin typeface="Arial"/>
                <a:ea typeface="Arial"/>
                <a:cs typeface="Arial"/>
                <a:sym typeface="Arial"/>
              </a:rPr>
              <a:t>Documents</a:t>
            </a:r>
            <a:endParaRPr sz="1400">
              <a:latin typeface="Arial"/>
              <a:ea typeface="Arial"/>
              <a:cs typeface="Arial"/>
              <a:sym typeface="Arial"/>
            </a:endParaRPr>
          </a:p>
        </p:txBody>
      </p:sp>
      <p:sp>
        <p:nvSpPr>
          <p:cNvPr id="360" name="Google Shape;360;p9"/>
          <p:cNvSpPr/>
          <p:nvPr/>
        </p:nvSpPr>
        <p:spPr>
          <a:xfrm>
            <a:off x="502350" y="2210974"/>
            <a:ext cx="1431290" cy="2350135"/>
          </a:xfrm>
          <a:custGeom>
            <a:rect b="b" l="l" r="r" t="t"/>
            <a:pathLst>
              <a:path extrusionOk="0" h="2350135" w="1431289">
                <a:moveTo>
                  <a:pt x="0" y="0"/>
                </a:moveTo>
                <a:lnTo>
                  <a:pt x="1430699" y="0"/>
                </a:lnTo>
                <a:lnTo>
                  <a:pt x="1430699" y="2349599"/>
                </a:lnTo>
                <a:lnTo>
                  <a:pt x="0" y="2349599"/>
                </a:lnTo>
                <a:lnTo>
                  <a:pt x="0" y="0"/>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61" name="Google Shape;361;p9"/>
          <p:cNvSpPr txBox="1"/>
          <p:nvPr/>
        </p:nvSpPr>
        <p:spPr>
          <a:xfrm>
            <a:off x="575375" y="2276887"/>
            <a:ext cx="59880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latin typeface="Arial"/>
                <a:ea typeface="Arial"/>
                <a:cs typeface="Arial"/>
                <a:sym typeface="Arial"/>
              </a:rPr>
              <a:t>Theme</a:t>
            </a:r>
            <a:endParaRPr sz="1400">
              <a:latin typeface="Arial"/>
              <a:ea typeface="Arial"/>
              <a:cs typeface="Arial"/>
              <a:sym typeface="Arial"/>
            </a:endParaRPr>
          </a:p>
        </p:txBody>
      </p:sp>
      <p:graphicFrame>
        <p:nvGraphicFramePr>
          <p:cNvPr id="362" name="Google Shape;362;p9"/>
          <p:cNvGraphicFramePr/>
          <p:nvPr/>
        </p:nvGraphicFramePr>
        <p:xfrm>
          <a:off x="715549" y="2773950"/>
          <a:ext cx="3000000" cy="3000000"/>
        </p:xfrm>
        <a:graphic>
          <a:graphicData uri="http://schemas.openxmlformats.org/drawingml/2006/table">
            <a:tbl>
              <a:tblPr bandRow="1" firstRow="1">
                <a:noFill/>
                <a:tableStyleId>{5FF8B437-568C-4FF6-A4B5-1A98E675727F}</a:tableStyleId>
              </a:tblPr>
              <a:tblGrid>
                <a:gridCol w="914400"/>
              </a:tblGrid>
              <a:tr h="695325">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0" marR="0" rtl="0" algn="l">
                        <a:lnSpc>
                          <a:spcPct val="100000"/>
                        </a:lnSpc>
                        <a:spcBef>
                          <a:spcPts val="90"/>
                        </a:spcBef>
                        <a:spcAft>
                          <a:spcPts val="0"/>
                        </a:spcAft>
                        <a:buNone/>
                      </a:pPr>
                      <a:r>
                        <a:t/>
                      </a:r>
                      <a:endParaRPr sz="900" u="none" cap="none" strike="noStrike">
                        <a:latin typeface="Times New Roman"/>
                        <a:ea typeface="Times New Roman"/>
                        <a:cs typeface="Times New Roman"/>
                        <a:sym typeface="Times New Roman"/>
                      </a:endParaRPr>
                    </a:p>
                    <a:p>
                      <a:pPr indent="0" lvl="0" marL="85725" marR="0" rtl="0" algn="l">
                        <a:lnSpc>
                          <a:spcPct val="100000"/>
                        </a:lnSpc>
                        <a:spcBef>
                          <a:spcPts val="0"/>
                        </a:spcBef>
                        <a:spcAft>
                          <a:spcPts val="0"/>
                        </a:spcAft>
                        <a:buNone/>
                      </a:pPr>
                      <a:r>
                        <a:rPr lang="en-US" sz="900" u="none" cap="none" strike="noStrike">
                          <a:latin typeface="Arial"/>
                          <a:ea typeface="Arial"/>
                          <a:cs typeface="Arial"/>
                          <a:sym typeface="Arial"/>
                        </a:rPr>
                        <a:t>Introduction</a:t>
                      </a:r>
                      <a:endParaRPr sz="900" u="none" cap="none" strike="noStrike">
                        <a:latin typeface="Arial"/>
                        <a:ea typeface="Arial"/>
                        <a:cs typeface="Arial"/>
                        <a:sym typeface="Arial"/>
                      </a:endParaRPr>
                    </a:p>
                  </a:txBody>
                  <a:tcPr marT="0" marB="0" marR="0" marL="0">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rgbClr val="C9DAF7"/>
                    </a:solidFill>
                  </a:tcPr>
                </a:tc>
              </a:tr>
              <a:tr h="493400">
                <a:tc>
                  <a:txBody>
                    <a:bodyPr/>
                    <a:lstStyle/>
                    <a:p>
                      <a:pPr indent="0" lvl="0" marL="85725" marR="0" rtl="0" algn="l">
                        <a:lnSpc>
                          <a:spcPct val="100000"/>
                        </a:lnSpc>
                        <a:spcBef>
                          <a:spcPts val="0"/>
                        </a:spcBef>
                        <a:spcAft>
                          <a:spcPts val="0"/>
                        </a:spcAft>
                        <a:buNone/>
                      </a:pPr>
                      <a:r>
                        <a:rPr lang="en-US" sz="900" u="none" cap="none" strike="noStrike">
                          <a:latin typeface="Arial"/>
                          <a:ea typeface="Arial"/>
                          <a:cs typeface="Arial"/>
                          <a:sym typeface="Arial"/>
                        </a:rPr>
                        <a:t>Section 1</a:t>
                      </a:r>
                      <a:endParaRPr sz="900" u="none" cap="none" strike="noStrike">
                        <a:latin typeface="Arial"/>
                        <a:ea typeface="Arial"/>
                        <a:cs typeface="Arial"/>
                        <a:sym typeface="Arial"/>
                      </a:endParaRPr>
                    </a:p>
                  </a:txBody>
                  <a:tcPr marT="72400" marB="0" marR="0" marL="0">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rgbClr val="C9DAF7"/>
                    </a:solidFill>
                  </a:tcPr>
                </a:tc>
              </a:tr>
              <a:tr h="436250">
                <a:tc>
                  <a:txBody>
                    <a:bodyPr/>
                    <a:lstStyle/>
                    <a:p>
                      <a:pPr indent="0" lvl="0" marL="85725" marR="0" rtl="0" algn="l">
                        <a:lnSpc>
                          <a:spcPct val="100000"/>
                        </a:lnSpc>
                        <a:spcBef>
                          <a:spcPts val="0"/>
                        </a:spcBef>
                        <a:spcAft>
                          <a:spcPts val="0"/>
                        </a:spcAft>
                        <a:buNone/>
                      </a:pPr>
                      <a:r>
                        <a:rPr lang="en-US" sz="900" u="none" cap="none" strike="noStrike">
                          <a:latin typeface="Arial"/>
                          <a:ea typeface="Arial"/>
                          <a:cs typeface="Arial"/>
                          <a:sym typeface="Arial"/>
                        </a:rPr>
                        <a:t>Conclusion</a:t>
                      </a:r>
                      <a:endParaRPr sz="900" u="none" cap="none" strike="noStrike">
                        <a:latin typeface="Arial"/>
                        <a:ea typeface="Arial"/>
                        <a:cs typeface="Arial"/>
                        <a:sym typeface="Arial"/>
                      </a:endParaRPr>
                    </a:p>
                  </a:txBody>
                  <a:tcPr marT="46350" marB="0" marR="0" marL="0">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rgbClr val="C9DAF7"/>
                    </a:solidFill>
                  </a:tcPr>
                </a:tc>
              </a:tr>
            </a:tbl>
          </a:graphicData>
        </a:graphic>
      </p:graphicFrame>
      <p:grpSp>
        <p:nvGrpSpPr>
          <p:cNvPr id="363" name="Google Shape;363;p9"/>
          <p:cNvGrpSpPr/>
          <p:nvPr/>
        </p:nvGrpSpPr>
        <p:grpSpPr>
          <a:xfrm>
            <a:off x="1176684" y="824129"/>
            <a:ext cx="5557556" cy="3736980"/>
            <a:chOff x="1176684" y="824129"/>
            <a:chExt cx="5557556" cy="3736980"/>
          </a:xfrm>
        </p:grpSpPr>
        <p:pic>
          <p:nvPicPr>
            <p:cNvPr id="364" name="Google Shape;364;p9"/>
            <p:cNvPicPr preferRelativeResize="0"/>
            <p:nvPr/>
          </p:nvPicPr>
          <p:blipFill rotWithShape="1">
            <a:blip r:embed="rId7">
              <a:alphaModFix/>
            </a:blip>
            <a:srcRect b="0" l="0" r="0" t="0"/>
            <a:stretch/>
          </p:blipFill>
          <p:spPr>
            <a:xfrm>
              <a:off x="4553612" y="824129"/>
              <a:ext cx="482549" cy="551494"/>
            </a:xfrm>
            <a:prstGeom prst="rect">
              <a:avLst/>
            </a:prstGeom>
            <a:noFill/>
            <a:ln>
              <a:noFill/>
            </a:ln>
          </p:spPr>
        </p:pic>
        <p:sp>
          <p:nvSpPr>
            <p:cNvPr id="365" name="Google Shape;365;p9"/>
            <p:cNvSpPr/>
            <p:nvPr/>
          </p:nvSpPr>
          <p:spPr>
            <a:xfrm>
              <a:off x="1217674" y="1324712"/>
              <a:ext cx="2526030" cy="772160"/>
            </a:xfrm>
            <a:custGeom>
              <a:rect b="b" l="l" r="r" t="t"/>
              <a:pathLst>
                <a:path extrusionOk="0" h="772160" w="2526029">
                  <a:moveTo>
                    <a:pt x="2525999" y="0"/>
                  </a:moveTo>
                  <a:lnTo>
                    <a:pt x="2525999" y="443135"/>
                  </a:lnTo>
                  <a:lnTo>
                    <a:pt x="0" y="443135"/>
                  </a:lnTo>
                  <a:lnTo>
                    <a:pt x="0" y="7718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66" name="Google Shape;366;p9"/>
            <p:cNvPicPr preferRelativeResize="0"/>
            <p:nvPr/>
          </p:nvPicPr>
          <p:blipFill rotWithShape="1">
            <a:blip r:embed="rId6">
              <a:alphaModFix/>
            </a:blip>
            <a:srcRect b="0" l="0" r="0" t="0"/>
            <a:stretch/>
          </p:blipFill>
          <p:spPr>
            <a:xfrm>
              <a:off x="1176684" y="2087087"/>
              <a:ext cx="81980" cy="105500"/>
            </a:xfrm>
            <a:prstGeom prst="rect">
              <a:avLst/>
            </a:prstGeom>
            <a:noFill/>
            <a:ln>
              <a:noFill/>
            </a:ln>
          </p:spPr>
        </p:pic>
        <p:sp>
          <p:nvSpPr>
            <p:cNvPr id="367" name="Google Shape;367;p9"/>
            <p:cNvSpPr/>
            <p:nvPr/>
          </p:nvSpPr>
          <p:spPr>
            <a:xfrm>
              <a:off x="3743674" y="1324712"/>
              <a:ext cx="20320" cy="772160"/>
            </a:xfrm>
            <a:custGeom>
              <a:rect b="b" l="l" r="r" t="t"/>
              <a:pathLst>
                <a:path extrusionOk="0" h="772160" w="20320">
                  <a:moveTo>
                    <a:pt x="0" y="0"/>
                  </a:moveTo>
                  <a:lnTo>
                    <a:pt x="0" y="443135"/>
                  </a:lnTo>
                  <a:lnTo>
                    <a:pt x="20099" y="443135"/>
                  </a:lnTo>
                  <a:lnTo>
                    <a:pt x="20099" y="7718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68" name="Google Shape;368;p9"/>
            <p:cNvPicPr preferRelativeResize="0"/>
            <p:nvPr/>
          </p:nvPicPr>
          <p:blipFill rotWithShape="1">
            <a:blip r:embed="rId6">
              <a:alphaModFix/>
            </a:blip>
            <a:srcRect b="0" l="0" r="0" t="0"/>
            <a:stretch/>
          </p:blipFill>
          <p:spPr>
            <a:xfrm>
              <a:off x="3722784" y="2087087"/>
              <a:ext cx="81980" cy="105500"/>
            </a:xfrm>
            <a:prstGeom prst="rect">
              <a:avLst/>
            </a:prstGeom>
            <a:noFill/>
            <a:ln>
              <a:noFill/>
            </a:ln>
          </p:spPr>
        </p:pic>
        <p:sp>
          <p:nvSpPr>
            <p:cNvPr id="369" name="Google Shape;369;p9"/>
            <p:cNvSpPr/>
            <p:nvPr/>
          </p:nvSpPr>
          <p:spPr>
            <a:xfrm>
              <a:off x="5302950" y="2210974"/>
              <a:ext cx="1431290" cy="2350135"/>
            </a:xfrm>
            <a:custGeom>
              <a:rect b="b" l="l" r="r" t="t"/>
              <a:pathLst>
                <a:path extrusionOk="0" h="2350135" w="1431290">
                  <a:moveTo>
                    <a:pt x="0" y="0"/>
                  </a:moveTo>
                  <a:lnTo>
                    <a:pt x="1430699" y="0"/>
                  </a:lnTo>
                  <a:lnTo>
                    <a:pt x="1430699" y="2349599"/>
                  </a:lnTo>
                  <a:lnTo>
                    <a:pt x="0" y="2349599"/>
                  </a:lnTo>
                  <a:lnTo>
                    <a:pt x="0" y="0"/>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70" name="Google Shape;370;p9"/>
          <p:cNvSpPr txBox="1"/>
          <p:nvPr/>
        </p:nvSpPr>
        <p:spPr>
          <a:xfrm>
            <a:off x="1525041" y="4784173"/>
            <a:ext cx="1617345" cy="1625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900">
                <a:latin typeface="Arial"/>
                <a:ea typeface="Arial"/>
                <a:cs typeface="Arial"/>
                <a:sym typeface="Arial"/>
              </a:rPr>
              <a:t>https://chunkviz.up.railway.app/</a:t>
            </a:r>
            <a:endParaRPr sz="900">
              <a:latin typeface="Arial"/>
              <a:ea typeface="Arial"/>
              <a:cs typeface="Arial"/>
              <a:sym typeface="Arial"/>
            </a:endParaRPr>
          </a:p>
        </p:txBody>
      </p:sp>
      <p:sp>
        <p:nvSpPr>
          <p:cNvPr id="371" name="Google Shape;371;p9"/>
          <p:cNvSpPr txBox="1"/>
          <p:nvPr/>
        </p:nvSpPr>
        <p:spPr>
          <a:xfrm>
            <a:off x="5375975" y="2276887"/>
            <a:ext cx="734695"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latin typeface="Arial"/>
                <a:ea typeface="Arial"/>
                <a:cs typeface="Arial"/>
                <a:sym typeface="Arial"/>
              </a:rPr>
              <a:t>Meaning</a:t>
            </a:r>
            <a:endParaRPr sz="1400">
              <a:latin typeface="Arial"/>
              <a:ea typeface="Arial"/>
              <a:cs typeface="Arial"/>
              <a:sym typeface="Arial"/>
            </a:endParaRPr>
          </a:p>
        </p:txBody>
      </p:sp>
      <p:graphicFrame>
        <p:nvGraphicFramePr>
          <p:cNvPr id="372" name="Google Shape;372;p9"/>
          <p:cNvGraphicFramePr/>
          <p:nvPr/>
        </p:nvGraphicFramePr>
        <p:xfrm>
          <a:off x="5516150" y="2773950"/>
          <a:ext cx="3000000" cy="3000000"/>
        </p:xfrm>
        <a:graphic>
          <a:graphicData uri="http://schemas.openxmlformats.org/drawingml/2006/table">
            <a:tbl>
              <a:tblPr bandRow="1" firstRow="1">
                <a:noFill/>
                <a:tableStyleId>{5FF8B437-568C-4FF6-A4B5-1A98E675727F}</a:tableStyleId>
              </a:tblPr>
              <a:tblGrid>
                <a:gridCol w="914400"/>
              </a:tblGrid>
              <a:tr h="702950">
                <a:tc>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p>
                      <a:pPr indent="0" lvl="0" marL="85725" marR="346075" rtl="0" algn="l">
                        <a:lnSpc>
                          <a:spcPct val="100000"/>
                        </a:lnSpc>
                        <a:spcBef>
                          <a:spcPts val="0"/>
                        </a:spcBef>
                        <a:spcAft>
                          <a:spcPts val="0"/>
                        </a:spcAft>
                        <a:buNone/>
                      </a:pPr>
                      <a:r>
                        <a:rPr lang="en-US" sz="900" u="none" cap="none" strike="noStrike">
                          <a:latin typeface="Arial"/>
                          <a:ea typeface="Arial"/>
                          <a:cs typeface="Arial"/>
                          <a:sym typeface="Arial"/>
                        </a:rPr>
                        <a:t>Semantic Chunk 1</a:t>
                      </a:r>
                      <a:endParaRPr sz="900" u="none" cap="none" strike="noStrike">
                        <a:latin typeface="Arial"/>
                        <a:ea typeface="Arial"/>
                        <a:cs typeface="Arial"/>
                        <a:sym typeface="Arial"/>
                      </a:endParaRPr>
                    </a:p>
                  </a:txBody>
                  <a:tcPr marT="74300" marB="0" marR="0" marL="0">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38100">
                      <a:solidFill>
                        <a:srgbClr val="595959"/>
                      </a:solidFill>
                      <a:prstDash val="solid"/>
                      <a:round/>
                      <a:headEnd len="sm" w="sm" type="none"/>
                      <a:tailEnd len="sm" w="sm" type="none"/>
                    </a:lnB>
                    <a:solidFill>
                      <a:srgbClr val="C9DAF7"/>
                    </a:solidFill>
                  </a:tcPr>
                </a:tc>
              </a:tr>
              <a:tr h="464825">
                <a:tc>
                  <a:txBody>
                    <a:bodyPr/>
                    <a:lstStyle/>
                    <a:p>
                      <a:pPr indent="0" lvl="0" marL="85725" marR="346075" rtl="0" algn="l">
                        <a:lnSpc>
                          <a:spcPct val="100000"/>
                        </a:lnSpc>
                        <a:spcBef>
                          <a:spcPts val="0"/>
                        </a:spcBef>
                        <a:spcAft>
                          <a:spcPts val="0"/>
                        </a:spcAft>
                        <a:buNone/>
                      </a:pPr>
                      <a:r>
                        <a:rPr lang="en-US" sz="900" u="none" cap="none" strike="noStrike">
                          <a:latin typeface="Arial"/>
                          <a:ea typeface="Arial"/>
                          <a:cs typeface="Arial"/>
                          <a:sym typeface="Arial"/>
                        </a:rPr>
                        <a:t>Semantic Chunk 2</a:t>
                      </a:r>
                      <a:endParaRPr sz="900" u="none" cap="none" strike="noStrike">
                        <a:latin typeface="Arial"/>
                        <a:ea typeface="Arial"/>
                        <a:cs typeface="Arial"/>
                        <a:sym typeface="Arial"/>
                      </a:endParaRPr>
                    </a:p>
                  </a:txBody>
                  <a:tcPr marT="90800" marB="0" marR="0" marL="0">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38100">
                      <a:solidFill>
                        <a:srgbClr val="595959"/>
                      </a:solidFill>
                      <a:prstDash val="solid"/>
                      <a:round/>
                      <a:headEnd len="sm" w="sm" type="none"/>
                      <a:tailEnd len="sm" w="sm" type="none"/>
                    </a:lnT>
                    <a:lnB cap="flat" cmpd="sng" w="38100">
                      <a:solidFill>
                        <a:srgbClr val="595959"/>
                      </a:solidFill>
                      <a:prstDash val="solid"/>
                      <a:round/>
                      <a:headEnd len="sm" w="sm" type="none"/>
                      <a:tailEnd len="sm" w="sm" type="none"/>
                    </a:lnB>
                    <a:solidFill>
                      <a:srgbClr val="C9DAF7"/>
                    </a:solidFill>
                  </a:tcPr>
                </a:tc>
              </a:tr>
              <a:tr h="457200">
                <a:tc>
                  <a:txBody>
                    <a:bodyPr/>
                    <a:lstStyle/>
                    <a:p>
                      <a:pPr indent="0" lvl="0" marL="85725" marR="346075" rtl="0" algn="l">
                        <a:lnSpc>
                          <a:spcPct val="100000"/>
                        </a:lnSpc>
                        <a:spcBef>
                          <a:spcPts val="0"/>
                        </a:spcBef>
                        <a:spcAft>
                          <a:spcPts val="0"/>
                        </a:spcAft>
                        <a:buNone/>
                      </a:pPr>
                      <a:r>
                        <a:rPr lang="en-US" sz="900" u="none" cap="none" strike="noStrike">
                          <a:latin typeface="Arial"/>
                          <a:ea typeface="Arial"/>
                          <a:cs typeface="Arial"/>
                          <a:sym typeface="Arial"/>
                        </a:rPr>
                        <a:t>Semantic chunk 3</a:t>
                      </a:r>
                      <a:endParaRPr sz="900" u="none" cap="none" strike="noStrike">
                        <a:latin typeface="Arial"/>
                        <a:ea typeface="Arial"/>
                        <a:cs typeface="Arial"/>
                        <a:sym typeface="Arial"/>
                      </a:endParaRPr>
                    </a:p>
                  </a:txBody>
                  <a:tcPr marT="90800" marB="0" marR="0" marL="0">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3810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rgbClr val="C9DAF7"/>
                    </a:solidFill>
                  </a:tcPr>
                </a:tc>
              </a:tr>
            </a:tbl>
          </a:graphicData>
        </a:graphic>
      </p:graphicFrame>
      <p:grpSp>
        <p:nvGrpSpPr>
          <p:cNvPr id="373" name="Google Shape;373;p9"/>
          <p:cNvGrpSpPr/>
          <p:nvPr/>
        </p:nvGrpSpPr>
        <p:grpSpPr>
          <a:xfrm>
            <a:off x="3743674" y="1324712"/>
            <a:ext cx="2315590" cy="867875"/>
            <a:chOff x="3743674" y="1324712"/>
            <a:chExt cx="2315590" cy="867875"/>
          </a:xfrm>
        </p:grpSpPr>
        <p:sp>
          <p:nvSpPr>
            <p:cNvPr id="374" name="Google Shape;374;p9"/>
            <p:cNvSpPr/>
            <p:nvPr/>
          </p:nvSpPr>
          <p:spPr>
            <a:xfrm>
              <a:off x="3743674" y="1324712"/>
              <a:ext cx="2275205" cy="772160"/>
            </a:xfrm>
            <a:custGeom>
              <a:rect b="b" l="l" r="r" t="t"/>
              <a:pathLst>
                <a:path extrusionOk="0" h="772160" w="2275204">
                  <a:moveTo>
                    <a:pt x="0" y="0"/>
                  </a:moveTo>
                  <a:lnTo>
                    <a:pt x="0" y="443135"/>
                  </a:lnTo>
                  <a:lnTo>
                    <a:pt x="2274599" y="443135"/>
                  </a:lnTo>
                  <a:lnTo>
                    <a:pt x="2274599" y="7718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75" name="Google Shape;375;p9"/>
            <p:cNvPicPr preferRelativeResize="0"/>
            <p:nvPr/>
          </p:nvPicPr>
          <p:blipFill rotWithShape="1">
            <a:blip r:embed="rId6">
              <a:alphaModFix/>
            </a:blip>
            <a:srcRect b="0" l="0" r="0" t="0"/>
            <a:stretch/>
          </p:blipFill>
          <p:spPr>
            <a:xfrm>
              <a:off x="5977284" y="2087087"/>
              <a:ext cx="81980" cy="105500"/>
            </a:xfrm>
            <a:prstGeom prst="rect">
              <a:avLst/>
            </a:prstGeom>
            <a:noFill/>
            <a:ln>
              <a:noFill/>
            </a:ln>
          </p:spPr>
        </p:pic>
      </p:grpSp>
      <p:sp>
        <p:nvSpPr>
          <p:cNvPr id="376" name="Google Shape;376;p9"/>
          <p:cNvSpPr txBox="1"/>
          <p:nvPr/>
        </p:nvSpPr>
        <p:spPr>
          <a:xfrm>
            <a:off x="3372125" y="1498962"/>
            <a:ext cx="783590" cy="410209"/>
          </a:xfrm>
          <a:prstGeom prst="rect">
            <a:avLst/>
          </a:prstGeom>
          <a:solidFill>
            <a:srgbClr val="FFFFFF"/>
          </a:solidFill>
          <a:ln>
            <a:noFill/>
          </a:ln>
        </p:spPr>
        <p:txBody>
          <a:bodyPr anchorCtr="0" anchor="t" bIns="0" lIns="0" spcFirstLastPara="1" rIns="0" wrap="square" tIns="62850">
            <a:spAutoFit/>
          </a:bodyPr>
          <a:lstStyle/>
          <a:p>
            <a:pPr indent="64135" lvl="0" marL="94615" marR="86995" rtl="0" algn="l">
              <a:lnSpc>
                <a:spcPct val="100000"/>
              </a:lnSpc>
              <a:spcBef>
                <a:spcPts val="0"/>
              </a:spcBef>
              <a:spcAft>
                <a:spcPts val="0"/>
              </a:spcAft>
              <a:buNone/>
            </a:pPr>
            <a:r>
              <a:rPr b="1" lang="en-US" sz="900">
                <a:solidFill>
                  <a:srgbClr val="7E7E7E"/>
                </a:solidFill>
                <a:latin typeface="Arial"/>
                <a:ea typeface="Arial"/>
                <a:cs typeface="Arial"/>
                <a:sym typeface="Arial"/>
              </a:rPr>
              <a:t>Could be chunked by</a:t>
            </a:r>
            <a:endParaRPr sz="9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id="381" name="Google Shape;381;p1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82" name="Google Shape;382;p10"/>
          <p:cNvSpPr txBox="1"/>
          <p:nvPr>
            <p:ph type="title"/>
          </p:nvPr>
        </p:nvSpPr>
        <p:spPr>
          <a:xfrm>
            <a:off x="458750" y="2344696"/>
            <a:ext cx="4994275" cy="4368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700"/>
              <a:t>Advanced Retrieval Techniques</a:t>
            </a:r>
            <a:endParaRPr sz="2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grpSp>
        <p:nvGrpSpPr>
          <p:cNvPr id="387" name="Google Shape;387;p12"/>
          <p:cNvGrpSpPr/>
          <p:nvPr/>
        </p:nvGrpSpPr>
        <p:grpSpPr>
          <a:xfrm>
            <a:off x="0" y="0"/>
            <a:ext cx="9144000" cy="5143500"/>
            <a:chOff x="0" y="0"/>
            <a:chExt cx="9144000" cy="5143500"/>
          </a:xfrm>
        </p:grpSpPr>
        <p:pic>
          <p:nvPicPr>
            <p:cNvPr id="388" name="Google Shape;388;p1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89" name="Google Shape;389;p12"/>
            <p:cNvSpPr/>
            <p:nvPr/>
          </p:nvSpPr>
          <p:spPr>
            <a:xfrm>
              <a:off x="439024" y="1177675"/>
              <a:ext cx="4741545" cy="2700020"/>
            </a:xfrm>
            <a:custGeom>
              <a:rect b="b" l="l" r="r" t="t"/>
              <a:pathLst>
                <a:path extrusionOk="0" h="2700020" w="4741545">
                  <a:moveTo>
                    <a:pt x="0" y="2699399"/>
                  </a:moveTo>
                  <a:lnTo>
                    <a:pt x="0" y="0"/>
                  </a:lnTo>
                  <a:lnTo>
                    <a:pt x="4741499" y="0"/>
                  </a:lnTo>
                  <a:lnTo>
                    <a:pt x="4741499" y="2699399"/>
                  </a:lnTo>
                  <a:lnTo>
                    <a:pt x="0" y="2699399"/>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90" name="Google Shape;390;p12"/>
          <p:cNvSpPr txBox="1"/>
          <p:nvPr>
            <p:ph type="title"/>
          </p:nvPr>
        </p:nvSpPr>
        <p:spPr>
          <a:xfrm>
            <a:off x="384725" y="188286"/>
            <a:ext cx="738124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Hypothetical Questions</a:t>
            </a:r>
            <a:endParaRPr/>
          </a:p>
        </p:txBody>
      </p:sp>
      <p:sp>
        <p:nvSpPr>
          <p:cNvPr id="391" name="Google Shape;391;p12"/>
          <p:cNvSpPr txBox="1"/>
          <p:nvPr/>
        </p:nvSpPr>
        <p:spPr>
          <a:xfrm>
            <a:off x="5336800" y="1439453"/>
            <a:ext cx="3594735" cy="2219960"/>
          </a:xfrm>
          <a:prstGeom prst="rect">
            <a:avLst/>
          </a:prstGeom>
          <a:noFill/>
          <a:ln>
            <a:noFill/>
          </a:ln>
        </p:spPr>
        <p:txBody>
          <a:bodyPr anchorCtr="0" anchor="t" bIns="0" lIns="0" spcFirstLastPara="1" rIns="0" wrap="square" tIns="12700">
            <a:spAutoFit/>
          </a:bodyPr>
          <a:lstStyle/>
          <a:p>
            <a:pPr indent="0" lvl="0" marL="12700" marR="44450" rtl="0" algn="l">
              <a:lnSpc>
                <a:spcPct val="100000"/>
              </a:lnSpc>
              <a:spcBef>
                <a:spcPts val="0"/>
              </a:spcBef>
              <a:spcAft>
                <a:spcPts val="0"/>
              </a:spcAft>
              <a:buNone/>
            </a:pPr>
            <a:r>
              <a:rPr lang="en-US" sz="1200">
                <a:solidFill>
                  <a:srgbClr val="595959"/>
                </a:solidFill>
                <a:latin typeface="Arial"/>
                <a:ea typeface="Arial"/>
                <a:cs typeface="Arial"/>
                <a:sym typeface="Arial"/>
              </a:rPr>
              <a:t>Used when user queries are sparse while document chunks are verbose.</a:t>
            </a:r>
            <a:endParaRPr sz="1200">
              <a:latin typeface="Arial"/>
              <a:ea typeface="Arial"/>
              <a:cs typeface="Arial"/>
              <a:sym typeface="Arial"/>
            </a:endParaRPr>
          </a:p>
          <a:p>
            <a:pPr indent="0" lvl="0" marL="0" rtl="0" algn="l">
              <a:lnSpc>
                <a:spcPct val="100000"/>
              </a:lnSpc>
              <a:spcBef>
                <a:spcPts val="60"/>
              </a:spcBef>
              <a:spcAft>
                <a:spcPts val="0"/>
              </a:spcAft>
              <a:buNone/>
            </a:pPr>
            <a:r>
              <a:t/>
            </a:r>
            <a:endParaRPr sz="1200">
              <a:latin typeface="Arial"/>
              <a:ea typeface="Arial"/>
              <a:cs typeface="Arial"/>
              <a:sym typeface="Arial"/>
            </a:endParaRPr>
          </a:p>
          <a:p>
            <a:pPr indent="0" lvl="0" marL="12700" marR="60960" rtl="0" algn="l">
              <a:lnSpc>
                <a:spcPct val="100000"/>
              </a:lnSpc>
              <a:spcBef>
                <a:spcPts val="0"/>
              </a:spcBef>
              <a:spcAft>
                <a:spcPts val="0"/>
              </a:spcAft>
              <a:buNone/>
            </a:pPr>
            <a:r>
              <a:rPr lang="en-US" sz="1200">
                <a:solidFill>
                  <a:srgbClr val="595959"/>
                </a:solidFill>
                <a:latin typeface="Arial"/>
                <a:ea typeface="Arial"/>
                <a:cs typeface="Arial"/>
                <a:sym typeface="Arial"/>
              </a:rPr>
              <a:t>Each document chunk is sent to an LLM to generate k (e.g, 5) questions that might be answered by the chunk.</a:t>
            </a:r>
            <a:endParaRPr sz="1200">
              <a:latin typeface="Arial"/>
              <a:ea typeface="Arial"/>
              <a:cs typeface="Arial"/>
              <a:sym typeface="Arial"/>
            </a:endParaRPr>
          </a:p>
          <a:p>
            <a:pPr indent="0" lvl="0" marL="0" rtl="0" algn="l">
              <a:lnSpc>
                <a:spcPct val="100000"/>
              </a:lnSpc>
              <a:spcBef>
                <a:spcPts val="60"/>
              </a:spcBef>
              <a:spcAft>
                <a:spcPts val="0"/>
              </a:spcAft>
              <a:buNone/>
            </a:pPr>
            <a:r>
              <a:t/>
            </a:r>
            <a:endParaRPr sz="1200">
              <a:latin typeface="Arial"/>
              <a:ea typeface="Arial"/>
              <a:cs typeface="Arial"/>
              <a:sym typeface="Arial"/>
            </a:endParaRPr>
          </a:p>
          <a:p>
            <a:pPr indent="0" lvl="0" marL="12700" marR="5080" rtl="0" algn="l">
              <a:lnSpc>
                <a:spcPct val="100000"/>
              </a:lnSpc>
              <a:spcBef>
                <a:spcPts val="0"/>
              </a:spcBef>
              <a:spcAft>
                <a:spcPts val="0"/>
              </a:spcAft>
              <a:buNone/>
            </a:pPr>
            <a:r>
              <a:rPr lang="en-US" sz="1200">
                <a:solidFill>
                  <a:srgbClr val="595959"/>
                </a:solidFill>
                <a:latin typeface="Arial"/>
                <a:ea typeface="Arial"/>
                <a:cs typeface="Arial"/>
                <a:sym typeface="Arial"/>
              </a:rPr>
              <a:t>The questions and chunks are embedded and stored in the database.</a:t>
            </a:r>
            <a:endParaRPr sz="1200">
              <a:latin typeface="Arial"/>
              <a:ea typeface="Arial"/>
              <a:cs typeface="Arial"/>
              <a:sym typeface="Arial"/>
            </a:endParaRPr>
          </a:p>
          <a:p>
            <a:pPr indent="0" lvl="0" marL="0" rtl="0" algn="l">
              <a:lnSpc>
                <a:spcPct val="100000"/>
              </a:lnSpc>
              <a:spcBef>
                <a:spcPts val="60"/>
              </a:spcBef>
              <a:spcAft>
                <a:spcPts val="0"/>
              </a:spcAft>
              <a:buNone/>
            </a:pPr>
            <a:r>
              <a:t/>
            </a:r>
            <a:endParaRPr sz="1200">
              <a:latin typeface="Arial"/>
              <a:ea typeface="Arial"/>
              <a:cs typeface="Arial"/>
              <a:sym typeface="Arial"/>
            </a:endParaRPr>
          </a:p>
          <a:p>
            <a:pPr indent="0" lvl="0" marL="12700" marR="283845" rtl="0" algn="l">
              <a:lnSpc>
                <a:spcPct val="100000"/>
              </a:lnSpc>
              <a:spcBef>
                <a:spcPts val="0"/>
              </a:spcBef>
              <a:spcAft>
                <a:spcPts val="0"/>
              </a:spcAft>
              <a:buNone/>
            </a:pPr>
            <a:r>
              <a:rPr lang="en-US" sz="1200">
                <a:solidFill>
                  <a:srgbClr val="595959"/>
                </a:solidFill>
                <a:latin typeface="Arial"/>
                <a:ea typeface="Arial"/>
                <a:cs typeface="Arial"/>
                <a:sym typeface="Arial"/>
              </a:rPr>
              <a:t>A retriever can then ensemble document chunks from retrieved questions to create context.</a:t>
            </a:r>
            <a:endParaRPr sz="1200">
              <a:latin typeface="Arial"/>
              <a:ea typeface="Arial"/>
              <a:cs typeface="Arial"/>
              <a:sym typeface="Arial"/>
            </a:endParaRPr>
          </a:p>
        </p:txBody>
      </p:sp>
      <p:grpSp>
        <p:nvGrpSpPr>
          <p:cNvPr id="392" name="Google Shape;392;p12"/>
          <p:cNvGrpSpPr/>
          <p:nvPr/>
        </p:nvGrpSpPr>
        <p:grpSpPr>
          <a:xfrm>
            <a:off x="638750" y="1447187"/>
            <a:ext cx="4072764" cy="1476122"/>
            <a:chOff x="638750" y="1447187"/>
            <a:chExt cx="4072764" cy="1476122"/>
          </a:xfrm>
        </p:grpSpPr>
        <p:sp>
          <p:nvSpPr>
            <p:cNvPr id="393" name="Google Shape;393;p12"/>
            <p:cNvSpPr/>
            <p:nvPr/>
          </p:nvSpPr>
          <p:spPr>
            <a:xfrm>
              <a:off x="638750" y="1447187"/>
              <a:ext cx="640715" cy="572770"/>
            </a:xfrm>
            <a:custGeom>
              <a:rect b="b" l="l" r="r" t="t"/>
              <a:pathLst>
                <a:path extrusionOk="0" h="572769" w="640715">
                  <a:moveTo>
                    <a:pt x="640499" y="572699"/>
                  </a:moveTo>
                  <a:lnTo>
                    <a:pt x="0" y="572699"/>
                  </a:lnTo>
                  <a:lnTo>
                    <a:pt x="0" y="0"/>
                  </a:lnTo>
                  <a:lnTo>
                    <a:pt x="640499" y="0"/>
                  </a:lnTo>
                  <a:lnTo>
                    <a:pt x="640499" y="5726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94" name="Google Shape;394;p12"/>
            <p:cNvSpPr/>
            <p:nvPr/>
          </p:nvSpPr>
          <p:spPr>
            <a:xfrm>
              <a:off x="638750" y="1447187"/>
              <a:ext cx="640715" cy="572770"/>
            </a:xfrm>
            <a:custGeom>
              <a:rect b="b" l="l" r="r" t="t"/>
              <a:pathLst>
                <a:path extrusionOk="0" h="572769" w="640715">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95" name="Google Shape;395;p12"/>
            <p:cNvSpPr/>
            <p:nvPr/>
          </p:nvSpPr>
          <p:spPr>
            <a:xfrm>
              <a:off x="683975" y="1487900"/>
              <a:ext cx="640715" cy="572770"/>
            </a:xfrm>
            <a:custGeom>
              <a:rect b="b" l="l" r="r" t="t"/>
              <a:pathLst>
                <a:path extrusionOk="0" h="572769" w="640715">
                  <a:moveTo>
                    <a:pt x="640499" y="572699"/>
                  </a:moveTo>
                  <a:lnTo>
                    <a:pt x="0" y="572699"/>
                  </a:lnTo>
                  <a:lnTo>
                    <a:pt x="0" y="0"/>
                  </a:lnTo>
                  <a:lnTo>
                    <a:pt x="640499" y="0"/>
                  </a:lnTo>
                  <a:lnTo>
                    <a:pt x="640499" y="5726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96" name="Google Shape;396;p12"/>
            <p:cNvSpPr/>
            <p:nvPr/>
          </p:nvSpPr>
          <p:spPr>
            <a:xfrm>
              <a:off x="683975" y="1487900"/>
              <a:ext cx="640715" cy="572770"/>
            </a:xfrm>
            <a:custGeom>
              <a:rect b="b" l="l" r="r" t="t"/>
              <a:pathLst>
                <a:path extrusionOk="0" h="572769" w="640715">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97" name="Google Shape;397;p12"/>
            <p:cNvSpPr/>
            <p:nvPr/>
          </p:nvSpPr>
          <p:spPr>
            <a:xfrm>
              <a:off x="735450" y="1530800"/>
              <a:ext cx="640715" cy="572770"/>
            </a:xfrm>
            <a:custGeom>
              <a:rect b="b" l="l" r="r" t="t"/>
              <a:pathLst>
                <a:path extrusionOk="0" h="572769" w="640715">
                  <a:moveTo>
                    <a:pt x="640499" y="572699"/>
                  </a:moveTo>
                  <a:lnTo>
                    <a:pt x="0" y="572699"/>
                  </a:lnTo>
                  <a:lnTo>
                    <a:pt x="0" y="0"/>
                  </a:lnTo>
                  <a:lnTo>
                    <a:pt x="640499" y="0"/>
                  </a:lnTo>
                  <a:lnTo>
                    <a:pt x="640499" y="572699"/>
                  </a:lnTo>
                  <a:close/>
                </a:path>
              </a:pathLst>
            </a:custGeom>
            <a:solidFill>
              <a:srgbClr val="CEE1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98" name="Google Shape;398;p12"/>
            <p:cNvSpPr/>
            <p:nvPr/>
          </p:nvSpPr>
          <p:spPr>
            <a:xfrm>
              <a:off x="735450" y="1530800"/>
              <a:ext cx="640715" cy="572770"/>
            </a:xfrm>
            <a:custGeom>
              <a:rect b="b" l="l" r="r" t="t"/>
              <a:pathLst>
                <a:path extrusionOk="0" h="572769" w="640715">
                  <a:moveTo>
                    <a:pt x="0" y="0"/>
                  </a:moveTo>
                  <a:lnTo>
                    <a:pt x="640499" y="0"/>
                  </a:lnTo>
                  <a:lnTo>
                    <a:pt x="640499" y="572699"/>
                  </a:lnTo>
                  <a:lnTo>
                    <a:pt x="0" y="5726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99" name="Google Shape;399;p12"/>
            <p:cNvSpPr/>
            <p:nvPr/>
          </p:nvSpPr>
          <p:spPr>
            <a:xfrm>
              <a:off x="1375950" y="1796249"/>
              <a:ext cx="1257935" cy="20955"/>
            </a:xfrm>
            <a:custGeom>
              <a:rect b="b" l="l" r="r" t="t"/>
              <a:pathLst>
                <a:path extrusionOk="0" h="20955" w="1257935">
                  <a:moveTo>
                    <a:pt x="0" y="20900"/>
                  </a:moveTo>
                  <a:lnTo>
                    <a:pt x="1257315"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00" name="Google Shape;400;p12"/>
            <p:cNvPicPr preferRelativeResize="0"/>
            <p:nvPr/>
          </p:nvPicPr>
          <p:blipFill rotWithShape="1">
            <a:blip r:embed="rId4">
              <a:alphaModFix/>
            </a:blip>
            <a:srcRect b="0" l="0" r="0" t="0"/>
            <a:stretch/>
          </p:blipFill>
          <p:spPr>
            <a:xfrm>
              <a:off x="2623217" y="1755263"/>
              <a:ext cx="106011" cy="81972"/>
            </a:xfrm>
            <a:prstGeom prst="rect">
              <a:avLst/>
            </a:prstGeom>
            <a:noFill/>
            <a:ln>
              <a:noFill/>
            </a:ln>
          </p:spPr>
        </p:pic>
        <p:sp>
          <p:nvSpPr>
            <p:cNvPr id="401" name="Google Shape;401;p12"/>
            <p:cNvSpPr/>
            <p:nvPr/>
          </p:nvSpPr>
          <p:spPr>
            <a:xfrm>
              <a:off x="4254949" y="2274974"/>
              <a:ext cx="456565" cy="648335"/>
            </a:xfrm>
            <a:custGeom>
              <a:rect b="b" l="l" r="r" t="t"/>
              <a:pathLst>
                <a:path extrusionOk="0" h="648335" w="456564">
                  <a:moveTo>
                    <a:pt x="228024" y="647999"/>
                  </a:moveTo>
                  <a:lnTo>
                    <a:pt x="167406" y="644142"/>
                  </a:lnTo>
                  <a:lnTo>
                    <a:pt x="112936" y="633254"/>
                  </a:lnTo>
                  <a:lnTo>
                    <a:pt x="66786" y="616367"/>
                  </a:lnTo>
                  <a:lnTo>
                    <a:pt x="31132" y="594509"/>
                  </a:lnTo>
                  <a:lnTo>
                    <a:pt x="0" y="539999"/>
                  </a:lnTo>
                  <a:lnTo>
                    <a:pt x="0" y="107999"/>
                  </a:lnTo>
                  <a:lnTo>
                    <a:pt x="31132" y="53490"/>
                  </a:lnTo>
                  <a:lnTo>
                    <a:pt x="66786" y="31632"/>
                  </a:lnTo>
                  <a:lnTo>
                    <a:pt x="112936" y="14745"/>
                  </a:lnTo>
                  <a:lnTo>
                    <a:pt x="167406" y="3857"/>
                  </a:lnTo>
                  <a:lnTo>
                    <a:pt x="228024" y="0"/>
                  </a:lnTo>
                  <a:lnTo>
                    <a:pt x="288643" y="3857"/>
                  </a:lnTo>
                  <a:lnTo>
                    <a:pt x="343113" y="14745"/>
                  </a:lnTo>
                  <a:lnTo>
                    <a:pt x="389263" y="31632"/>
                  </a:lnTo>
                  <a:lnTo>
                    <a:pt x="424917" y="53490"/>
                  </a:lnTo>
                  <a:lnTo>
                    <a:pt x="456049" y="107999"/>
                  </a:lnTo>
                  <a:lnTo>
                    <a:pt x="456049" y="539999"/>
                  </a:lnTo>
                  <a:lnTo>
                    <a:pt x="424917" y="594509"/>
                  </a:lnTo>
                  <a:lnTo>
                    <a:pt x="389263" y="616367"/>
                  </a:lnTo>
                  <a:lnTo>
                    <a:pt x="343113" y="633254"/>
                  </a:lnTo>
                  <a:lnTo>
                    <a:pt x="288643" y="644142"/>
                  </a:lnTo>
                  <a:lnTo>
                    <a:pt x="228024" y="647999"/>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02" name="Google Shape;402;p12"/>
            <p:cNvSpPr/>
            <p:nvPr/>
          </p:nvSpPr>
          <p:spPr>
            <a:xfrm>
              <a:off x="4254949" y="2274974"/>
              <a:ext cx="456565" cy="648335"/>
            </a:xfrm>
            <a:custGeom>
              <a:rect b="b" l="l" r="r" t="t"/>
              <a:pathLst>
                <a:path extrusionOk="0" h="648335" w="456564">
                  <a:moveTo>
                    <a:pt x="456049" y="107999"/>
                  </a:moveTo>
                  <a:lnTo>
                    <a:pt x="447904" y="136710"/>
                  </a:lnTo>
                  <a:lnTo>
                    <a:pt x="424917" y="162509"/>
                  </a:lnTo>
                  <a:lnTo>
                    <a:pt x="389263" y="184367"/>
                  </a:lnTo>
                  <a:lnTo>
                    <a:pt x="343113" y="201254"/>
                  </a:lnTo>
                  <a:lnTo>
                    <a:pt x="288643" y="212142"/>
                  </a:lnTo>
                  <a:lnTo>
                    <a:pt x="228024" y="215999"/>
                  </a:lnTo>
                  <a:lnTo>
                    <a:pt x="167406" y="212142"/>
                  </a:lnTo>
                  <a:lnTo>
                    <a:pt x="112936" y="201254"/>
                  </a:lnTo>
                  <a:lnTo>
                    <a:pt x="66786" y="184367"/>
                  </a:lnTo>
                  <a:lnTo>
                    <a:pt x="31132" y="162509"/>
                  </a:lnTo>
                  <a:lnTo>
                    <a:pt x="8145" y="136710"/>
                  </a:lnTo>
                  <a:lnTo>
                    <a:pt x="0" y="107999"/>
                  </a:lnTo>
                </a:path>
                <a:path extrusionOk="0" h="648335" w="456564">
                  <a:moveTo>
                    <a:pt x="0" y="107999"/>
                  </a:moveTo>
                  <a:lnTo>
                    <a:pt x="8145" y="79289"/>
                  </a:lnTo>
                  <a:lnTo>
                    <a:pt x="31132" y="53490"/>
                  </a:lnTo>
                  <a:lnTo>
                    <a:pt x="66786" y="31632"/>
                  </a:lnTo>
                  <a:lnTo>
                    <a:pt x="112936" y="14745"/>
                  </a:lnTo>
                  <a:lnTo>
                    <a:pt x="167406" y="3857"/>
                  </a:lnTo>
                  <a:lnTo>
                    <a:pt x="228024" y="0"/>
                  </a:lnTo>
                  <a:lnTo>
                    <a:pt x="288643" y="3857"/>
                  </a:lnTo>
                  <a:lnTo>
                    <a:pt x="343113" y="14745"/>
                  </a:lnTo>
                  <a:lnTo>
                    <a:pt x="389263" y="31632"/>
                  </a:lnTo>
                  <a:lnTo>
                    <a:pt x="424917" y="53490"/>
                  </a:lnTo>
                  <a:lnTo>
                    <a:pt x="456049" y="107999"/>
                  </a:lnTo>
                  <a:lnTo>
                    <a:pt x="456049" y="539999"/>
                  </a:lnTo>
                  <a:lnTo>
                    <a:pt x="424917" y="594509"/>
                  </a:lnTo>
                  <a:lnTo>
                    <a:pt x="389263" y="616367"/>
                  </a:lnTo>
                  <a:lnTo>
                    <a:pt x="343113" y="633254"/>
                  </a:lnTo>
                  <a:lnTo>
                    <a:pt x="288643" y="644142"/>
                  </a:lnTo>
                  <a:lnTo>
                    <a:pt x="228024" y="647999"/>
                  </a:lnTo>
                  <a:lnTo>
                    <a:pt x="167406" y="644142"/>
                  </a:lnTo>
                  <a:lnTo>
                    <a:pt x="112936" y="633254"/>
                  </a:lnTo>
                  <a:lnTo>
                    <a:pt x="66786" y="616367"/>
                  </a:lnTo>
                  <a:lnTo>
                    <a:pt x="31132" y="594509"/>
                  </a:lnTo>
                  <a:lnTo>
                    <a:pt x="0" y="539999"/>
                  </a:lnTo>
                  <a:lnTo>
                    <a:pt x="0" y="1079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03" name="Google Shape;403;p12"/>
            <p:cNvSpPr/>
            <p:nvPr/>
          </p:nvSpPr>
          <p:spPr>
            <a:xfrm>
              <a:off x="3146300" y="2065400"/>
              <a:ext cx="0" cy="329565"/>
            </a:xfrm>
            <a:custGeom>
              <a:rect b="b" l="l" r="r" t="t"/>
              <a:pathLst>
                <a:path extrusionOk="0" h="329564" w="120000">
                  <a:moveTo>
                    <a:pt x="0" y="0"/>
                  </a:moveTo>
                  <a:lnTo>
                    <a:pt x="0" y="3293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04" name="Google Shape;404;p12"/>
            <p:cNvPicPr preferRelativeResize="0"/>
            <p:nvPr/>
          </p:nvPicPr>
          <p:blipFill rotWithShape="1">
            <a:blip r:embed="rId5">
              <a:alphaModFix/>
            </a:blip>
            <a:srcRect b="0" l="0" r="0" t="0"/>
            <a:stretch/>
          </p:blipFill>
          <p:spPr>
            <a:xfrm>
              <a:off x="3105309" y="2385275"/>
              <a:ext cx="81980" cy="105500"/>
            </a:xfrm>
            <a:prstGeom prst="rect">
              <a:avLst/>
            </a:prstGeom>
            <a:noFill/>
            <a:ln>
              <a:noFill/>
            </a:ln>
          </p:spPr>
        </p:pic>
        <p:sp>
          <p:nvSpPr>
            <p:cNvPr id="405" name="Google Shape;405;p12"/>
            <p:cNvSpPr/>
            <p:nvPr/>
          </p:nvSpPr>
          <p:spPr>
            <a:xfrm>
              <a:off x="1593187" y="1638800"/>
              <a:ext cx="840740" cy="321310"/>
            </a:xfrm>
            <a:custGeom>
              <a:rect b="b" l="l" r="r" t="t"/>
              <a:pathLst>
                <a:path extrusionOk="0" h="321310" w="840739">
                  <a:moveTo>
                    <a:pt x="786748" y="321299"/>
                  </a:moveTo>
                  <a:lnTo>
                    <a:pt x="53550" y="321299"/>
                  </a:lnTo>
                  <a:lnTo>
                    <a:pt x="32706" y="317091"/>
                  </a:lnTo>
                  <a:lnTo>
                    <a:pt x="15684" y="305615"/>
                  </a:lnTo>
                  <a:lnTo>
                    <a:pt x="4208" y="288593"/>
                  </a:lnTo>
                  <a:lnTo>
                    <a:pt x="0" y="267748"/>
                  </a:lnTo>
                  <a:lnTo>
                    <a:pt x="0" y="53550"/>
                  </a:lnTo>
                  <a:lnTo>
                    <a:pt x="15684" y="15684"/>
                  </a:lnTo>
                  <a:lnTo>
                    <a:pt x="53550" y="0"/>
                  </a:lnTo>
                  <a:lnTo>
                    <a:pt x="786748" y="0"/>
                  </a:lnTo>
                  <a:lnTo>
                    <a:pt x="824615" y="15684"/>
                  </a:lnTo>
                  <a:lnTo>
                    <a:pt x="840299" y="53550"/>
                  </a:lnTo>
                  <a:lnTo>
                    <a:pt x="840299" y="267748"/>
                  </a:lnTo>
                  <a:lnTo>
                    <a:pt x="836091" y="288593"/>
                  </a:lnTo>
                  <a:lnTo>
                    <a:pt x="824615" y="305615"/>
                  </a:lnTo>
                  <a:lnTo>
                    <a:pt x="807593" y="317091"/>
                  </a:lnTo>
                  <a:lnTo>
                    <a:pt x="786748" y="3212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06" name="Google Shape;406;p12"/>
          <p:cNvSpPr txBox="1"/>
          <p:nvPr/>
        </p:nvSpPr>
        <p:spPr>
          <a:xfrm>
            <a:off x="675424" y="2171344"/>
            <a:ext cx="670560" cy="1778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000">
                <a:latin typeface="Arial"/>
                <a:ea typeface="Arial"/>
                <a:cs typeface="Arial"/>
                <a:sym typeface="Arial"/>
              </a:rPr>
              <a:t>Documents</a:t>
            </a:r>
            <a:endParaRPr sz="1000">
              <a:latin typeface="Arial"/>
              <a:ea typeface="Arial"/>
              <a:cs typeface="Arial"/>
              <a:sym typeface="Arial"/>
            </a:endParaRPr>
          </a:p>
        </p:txBody>
      </p:sp>
      <p:sp>
        <p:nvSpPr>
          <p:cNvPr id="407" name="Google Shape;407;p12"/>
          <p:cNvSpPr txBox="1"/>
          <p:nvPr/>
        </p:nvSpPr>
        <p:spPr>
          <a:xfrm>
            <a:off x="1727815" y="1690166"/>
            <a:ext cx="584200"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1200">
                <a:solidFill>
                  <a:srgbClr val="FFFFFF"/>
                </a:solidFill>
                <a:latin typeface="Arial"/>
                <a:ea typeface="Arial"/>
                <a:cs typeface="Arial"/>
                <a:sym typeface="Arial"/>
              </a:rPr>
              <a:t>Chunker</a:t>
            </a:r>
            <a:endParaRPr sz="1200">
              <a:latin typeface="Arial"/>
              <a:ea typeface="Arial"/>
              <a:cs typeface="Arial"/>
              <a:sym typeface="Arial"/>
            </a:endParaRPr>
          </a:p>
        </p:txBody>
      </p:sp>
      <p:sp>
        <p:nvSpPr>
          <p:cNvPr id="408" name="Google Shape;408;p12"/>
          <p:cNvSpPr/>
          <p:nvPr/>
        </p:nvSpPr>
        <p:spPr>
          <a:xfrm>
            <a:off x="2848549" y="2508987"/>
            <a:ext cx="595630" cy="321310"/>
          </a:xfrm>
          <a:custGeom>
            <a:rect b="b" l="l" r="r" t="t"/>
            <a:pathLst>
              <a:path extrusionOk="0" h="321310" w="595629">
                <a:moveTo>
                  <a:pt x="541948" y="321299"/>
                </a:moveTo>
                <a:lnTo>
                  <a:pt x="53550" y="321299"/>
                </a:lnTo>
                <a:lnTo>
                  <a:pt x="32706" y="317091"/>
                </a:lnTo>
                <a:lnTo>
                  <a:pt x="15684" y="305615"/>
                </a:lnTo>
                <a:lnTo>
                  <a:pt x="4208" y="288593"/>
                </a:lnTo>
                <a:lnTo>
                  <a:pt x="0" y="267748"/>
                </a:lnTo>
                <a:lnTo>
                  <a:pt x="0" y="53550"/>
                </a:lnTo>
                <a:lnTo>
                  <a:pt x="4208" y="32706"/>
                </a:lnTo>
                <a:lnTo>
                  <a:pt x="15684" y="15684"/>
                </a:lnTo>
                <a:lnTo>
                  <a:pt x="32706" y="4208"/>
                </a:lnTo>
                <a:lnTo>
                  <a:pt x="53550" y="0"/>
                </a:lnTo>
                <a:lnTo>
                  <a:pt x="541948" y="0"/>
                </a:lnTo>
                <a:lnTo>
                  <a:pt x="579815" y="15684"/>
                </a:lnTo>
                <a:lnTo>
                  <a:pt x="595499" y="53550"/>
                </a:lnTo>
                <a:lnTo>
                  <a:pt x="595499" y="267748"/>
                </a:lnTo>
                <a:lnTo>
                  <a:pt x="591291" y="288593"/>
                </a:lnTo>
                <a:lnTo>
                  <a:pt x="579815" y="305615"/>
                </a:lnTo>
                <a:lnTo>
                  <a:pt x="562793" y="317091"/>
                </a:lnTo>
                <a:lnTo>
                  <a:pt x="541948" y="3212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09" name="Google Shape;409;p12"/>
          <p:cNvSpPr txBox="1"/>
          <p:nvPr/>
        </p:nvSpPr>
        <p:spPr>
          <a:xfrm>
            <a:off x="2994509" y="2560353"/>
            <a:ext cx="316865"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200">
                <a:solidFill>
                  <a:srgbClr val="FFFFFF"/>
                </a:solidFill>
                <a:latin typeface="Arial"/>
                <a:ea typeface="Arial"/>
                <a:cs typeface="Arial"/>
                <a:sym typeface="Arial"/>
              </a:rPr>
              <a:t>LLM</a:t>
            </a:r>
            <a:endParaRPr sz="1200">
              <a:latin typeface="Arial"/>
              <a:ea typeface="Arial"/>
              <a:cs typeface="Arial"/>
              <a:sym typeface="Arial"/>
            </a:endParaRPr>
          </a:p>
        </p:txBody>
      </p:sp>
      <p:sp>
        <p:nvSpPr>
          <p:cNvPr id="410" name="Google Shape;410;p12"/>
          <p:cNvSpPr/>
          <p:nvPr/>
        </p:nvSpPr>
        <p:spPr>
          <a:xfrm>
            <a:off x="2747449" y="3302399"/>
            <a:ext cx="798195" cy="426720"/>
          </a:xfrm>
          <a:custGeom>
            <a:rect b="b" l="l" r="r" t="t"/>
            <a:pathLst>
              <a:path extrusionOk="0" h="426720" w="798195">
                <a:moveTo>
                  <a:pt x="0" y="71101"/>
                </a:moveTo>
                <a:lnTo>
                  <a:pt x="5587" y="43425"/>
                </a:lnTo>
                <a:lnTo>
                  <a:pt x="20825" y="20825"/>
                </a:lnTo>
                <a:lnTo>
                  <a:pt x="43425" y="5587"/>
                </a:lnTo>
                <a:lnTo>
                  <a:pt x="71101" y="0"/>
                </a:lnTo>
                <a:lnTo>
                  <a:pt x="726598" y="0"/>
                </a:lnTo>
                <a:lnTo>
                  <a:pt x="766045" y="11945"/>
                </a:lnTo>
                <a:lnTo>
                  <a:pt x="792287" y="43892"/>
                </a:lnTo>
                <a:lnTo>
                  <a:pt x="797699" y="71101"/>
                </a:lnTo>
                <a:lnTo>
                  <a:pt x="797699" y="355498"/>
                </a:lnTo>
                <a:lnTo>
                  <a:pt x="792112" y="383174"/>
                </a:lnTo>
                <a:lnTo>
                  <a:pt x="776874" y="405774"/>
                </a:lnTo>
                <a:lnTo>
                  <a:pt x="754274" y="421012"/>
                </a:lnTo>
                <a:lnTo>
                  <a:pt x="726598" y="426599"/>
                </a:lnTo>
                <a:lnTo>
                  <a:pt x="71101" y="426599"/>
                </a:lnTo>
                <a:lnTo>
                  <a:pt x="43425" y="421012"/>
                </a:lnTo>
                <a:lnTo>
                  <a:pt x="20825" y="405774"/>
                </a:lnTo>
                <a:lnTo>
                  <a:pt x="5587" y="383174"/>
                </a:lnTo>
                <a:lnTo>
                  <a:pt x="0" y="355498"/>
                </a:lnTo>
                <a:lnTo>
                  <a:pt x="0" y="71101"/>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11" name="Google Shape;411;p12"/>
          <p:cNvSpPr txBox="1"/>
          <p:nvPr/>
        </p:nvSpPr>
        <p:spPr>
          <a:xfrm>
            <a:off x="2873692" y="3298402"/>
            <a:ext cx="558165" cy="429259"/>
          </a:xfrm>
          <a:prstGeom prst="rect">
            <a:avLst/>
          </a:prstGeom>
          <a:noFill/>
          <a:ln>
            <a:noFill/>
          </a:ln>
        </p:spPr>
        <p:txBody>
          <a:bodyPr anchorCtr="0" anchor="t" bIns="0" lIns="0" spcFirstLastPara="1" rIns="0" wrap="square" tIns="20300">
            <a:spAutoFit/>
          </a:bodyPr>
          <a:lstStyle/>
          <a:p>
            <a:pPr indent="241935" lvl="0" marL="0" marR="5080" rtl="0" algn="l">
              <a:lnSpc>
                <a:spcPct val="116666"/>
              </a:lnSpc>
              <a:spcBef>
                <a:spcPts val="0"/>
              </a:spcBef>
              <a:spcAft>
                <a:spcPts val="0"/>
              </a:spcAft>
              <a:buNone/>
            </a:pPr>
            <a:r>
              <a:rPr b="1" lang="en-US" sz="900">
                <a:latin typeface="Arial"/>
                <a:ea typeface="Arial"/>
                <a:cs typeface="Arial"/>
                <a:sym typeface="Arial"/>
              </a:rPr>
              <a:t>k Questions per Chunk</a:t>
            </a:r>
            <a:endParaRPr sz="900">
              <a:latin typeface="Arial"/>
              <a:ea typeface="Arial"/>
              <a:cs typeface="Arial"/>
              <a:sym typeface="Arial"/>
            </a:endParaRPr>
          </a:p>
        </p:txBody>
      </p:sp>
      <p:grpSp>
        <p:nvGrpSpPr>
          <p:cNvPr id="412" name="Google Shape;412;p12"/>
          <p:cNvGrpSpPr/>
          <p:nvPr/>
        </p:nvGrpSpPr>
        <p:grpSpPr>
          <a:xfrm>
            <a:off x="2747449" y="1638799"/>
            <a:ext cx="798195" cy="1645363"/>
            <a:chOff x="2747449" y="1638799"/>
            <a:chExt cx="798195" cy="1645363"/>
          </a:xfrm>
        </p:grpSpPr>
        <p:sp>
          <p:nvSpPr>
            <p:cNvPr id="413" name="Google Shape;413;p12"/>
            <p:cNvSpPr/>
            <p:nvPr/>
          </p:nvSpPr>
          <p:spPr>
            <a:xfrm>
              <a:off x="3146299" y="2830287"/>
              <a:ext cx="0" cy="358140"/>
            </a:xfrm>
            <a:custGeom>
              <a:rect b="b" l="l" r="r" t="t"/>
              <a:pathLst>
                <a:path extrusionOk="0" h="358139" w="120000">
                  <a:moveTo>
                    <a:pt x="0" y="0"/>
                  </a:moveTo>
                  <a:lnTo>
                    <a:pt x="0" y="3578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14" name="Google Shape;414;p12"/>
            <p:cNvPicPr preferRelativeResize="0"/>
            <p:nvPr/>
          </p:nvPicPr>
          <p:blipFill rotWithShape="1">
            <a:blip r:embed="rId6">
              <a:alphaModFix/>
            </a:blip>
            <a:srcRect b="0" l="0" r="0" t="0"/>
            <a:stretch/>
          </p:blipFill>
          <p:spPr>
            <a:xfrm>
              <a:off x="3105309" y="3178662"/>
              <a:ext cx="81980" cy="105500"/>
            </a:xfrm>
            <a:prstGeom prst="rect">
              <a:avLst/>
            </a:prstGeom>
            <a:noFill/>
            <a:ln>
              <a:noFill/>
            </a:ln>
          </p:spPr>
        </p:pic>
        <p:sp>
          <p:nvSpPr>
            <p:cNvPr id="415" name="Google Shape;415;p12"/>
            <p:cNvSpPr/>
            <p:nvPr/>
          </p:nvSpPr>
          <p:spPr>
            <a:xfrm>
              <a:off x="2747449" y="1638799"/>
              <a:ext cx="798195" cy="426720"/>
            </a:xfrm>
            <a:custGeom>
              <a:rect b="b" l="l" r="r" t="t"/>
              <a:pathLst>
                <a:path extrusionOk="0" h="426719" w="798195">
                  <a:moveTo>
                    <a:pt x="0" y="71101"/>
                  </a:moveTo>
                  <a:lnTo>
                    <a:pt x="5587" y="43425"/>
                  </a:lnTo>
                  <a:lnTo>
                    <a:pt x="20825" y="20825"/>
                  </a:lnTo>
                  <a:lnTo>
                    <a:pt x="43425" y="5587"/>
                  </a:lnTo>
                  <a:lnTo>
                    <a:pt x="71101" y="0"/>
                  </a:lnTo>
                  <a:lnTo>
                    <a:pt x="726598" y="0"/>
                  </a:lnTo>
                  <a:lnTo>
                    <a:pt x="766045" y="11945"/>
                  </a:lnTo>
                  <a:lnTo>
                    <a:pt x="792287" y="43892"/>
                  </a:lnTo>
                  <a:lnTo>
                    <a:pt x="797699" y="71101"/>
                  </a:lnTo>
                  <a:lnTo>
                    <a:pt x="797699" y="355498"/>
                  </a:lnTo>
                  <a:lnTo>
                    <a:pt x="792112" y="383174"/>
                  </a:lnTo>
                  <a:lnTo>
                    <a:pt x="776874" y="405774"/>
                  </a:lnTo>
                  <a:lnTo>
                    <a:pt x="754274" y="421012"/>
                  </a:lnTo>
                  <a:lnTo>
                    <a:pt x="726598" y="426599"/>
                  </a:lnTo>
                  <a:lnTo>
                    <a:pt x="71101" y="426599"/>
                  </a:lnTo>
                  <a:lnTo>
                    <a:pt x="43425" y="421012"/>
                  </a:lnTo>
                  <a:lnTo>
                    <a:pt x="20825" y="405774"/>
                  </a:lnTo>
                  <a:lnTo>
                    <a:pt x="5587" y="383174"/>
                  </a:lnTo>
                  <a:lnTo>
                    <a:pt x="0" y="355498"/>
                  </a:lnTo>
                  <a:lnTo>
                    <a:pt x="0" y="71101"/>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16" name="Google Shape;416;p12"/>
          <p:cNvSpPr txBox="1"/>
          <p:nvPr/>
        </p:nvSpPr>
        <p:spPr>
          <a:xfrm>
            <a:off x="2873292" y="1701477"/>
            <a:ext cx="558800" cy="295910"/>
          </a:xfrm>
          <a:prstGeom prst="rect">
            <a:avLst/>
          </a:prstGeom>
          <a:noFill/>
          <a:ln>
            <a:noFill/>
          </a:ln>
        </p:spPr>
        <p:txBody>
          <a:bodyPr anchorCtr="0" anchor="t" bIns="0" lIns="0" spcFirstLastPara="1" rIns="0" wrap="square" tIns="20300">
            <a:spAutoFit/>
          </a:bodyPr>
          <a:lstStyle/>
          <a:p>
            <a:pPr indent="-75565" lvl="0" marL="75565" marR="5080" rtl="0" algn="l">
              <a:lnSpc>
                <a:spcPct val="116666"/>
              </a:lnSpc>
              <a:spcBef>
                <a:spcPts val="0"/>
              </a:spcBef>
              <a:spcAft>
                <a:spcPts val="0"/>
              </a:spcAft>
              <a:buNone/>
            </a:pPr>
            <a:r>
              <a:rPr b="1" lang="en-US" sz="900">
                <a:latin typeface="Arial"/>
                <a:ea typeface="Arial"/>
                <a:cs typeface="Arial"/>
                <a:sym typeface="Arial"/>
              </a:rPr>
              <a:t>Document Chunks</a:t>
            </a:r>
            <a:endParaRPr sz="900">
              <a:latin typeface="Arial"/>
              <a:ea typeface="Arial"/>
              <a:cs typeface="Arial"/>
              <a:sym typeface="Arial"/>
            </a:endParaRPr>
          </a:p>
        </p:txBody>
      </p:sp>
      <p:grpSp>
        <p:nvGrpSpPr>
          <p:cNvPr id="417" name="Google Shape;417;p12"/>
          <p:cNvGrpSpPr/>
          <p:nvPr/>
        </p:nvGrpSpPr>
        <p:grpSpPr>
          <a:xfrm>
            <a:off x="3545149" y="1852099"/>
            <a:ext cx="702276" cy="1663948"/>
            <a:chOff x="3545149" y="1852099"/>
            <a:chExt cx="702276" cy="1663948"/>
          </a:xfrm>
        </p:grpSpPr>
        <p:sp>
          <p:nvSpPr>
            <p:cNvPr id="418" name="Google Shape;418;p12"/>
            <p:cNvSpPr/>
            <p:nvPr/>
          </p:nvSpPr>
          <p:spPr>
            <a:xfrm>
              <a:off x="3545149" y="1852099"/>
              <a:ext cx="631190" cy="664210"/>
            </a:xfrm>
            <a:custGeom>
              <a:rect b="b" l="l" r="r" t="t"/>
              <a:pathLst>
                <a:path extrusionOk="0" h="664210" w="631189">
                  <a:moveTo>
                    <a:pt x="0" y="0"/>
                  </a:moveTo>
                  <a:lnTo>
                    <a:pt x="631067" y="66414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19" name="Google Shape;419;p12"/>
            <p:cNvPicPr preferRelativeResize="0"/>
            <p:nvPr/>
          </p:nvPicPr>
          <p:blipFill rotWithShape="1">
            <a:blip r:embed="rId7">
              <a:alphaModFix/>
            </a:blip>
            <a:srcRect b="0" l="0" r="0" t="0"/>
            <a:stretch/>
          </p:blipFill>
          <p:spPr>
            <a:xfrm>
              <a:off x="4143881" y="2485041"/>
              <a:ext cx="101409" cy="103394"/>
            </a:xfrm>
            <a:prstGeom prst="rect">
              <a:avLst/>
            </a:prstGeom>
            <a:noFill/>
            <a:ln>
              <a:noFill/>
            </a:ln>
          </p:spPr>
        </p:pic>
        <p:sp>
          <p:nvSpPr>
            <p:cNvPr id="420" name="Google Shape;420;p12"/>
            <p:cNvSpPr/>
            <p:nvPr/>
          </p:nvSpPr>
          <p:spPr>
            <a:xfrm>
              <a:off x="3545149" y="2689278"/>
              <a:ext cx="640080" cy="826769"/>
            </a:xfrm>
            <a:custGeom>
              <a:rect b="b" l="l" r="r" t="t"/>
              <a:pathLst>
                <a:path extrusionOk="0" h="826770" w="640079">
                  <a:moveTo>
                    <a:pt x="0" y="826421"/>
                  </a:moveTo>
                  <a:lnTo>
                    <a:pt x="639827"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21" name="Google Shape;421;p12"/>
            <p:cNvPicPr preferRelativeResize="0"/>
            <p:nvPr/>
          </p:nvPicPr>
          <p:blipFill rotWithShape="1">
            <a:blip r:embed="rId8">
              <a:alphaModFix/>
            </a:blip>
            <a:srcRect b="0" l="0" r="0" t="0"/>
            <a:stretch/>
          </p:blipFill>
          <p:spPr>
            <a:xfrm>
              <a:off x="4150572" y="2611395"/>
              <a:ext cx="96853" cy="106670"/>
            </a:xfrm>
            <a:prstGeom prst="rect">
              <a:avLst/>
            </a:prstGeom>
            <a:noFill/>
            <a:ln>
              <a:noFill/>
            </a:ln>
          </p:spPr>
        </p:pic>
      </p:grpSp>
      <p:sp>
        <p:nvSpPr>
          <p:cNvPr id="422" name="Google Shape;422;p12"/>
          <p:cNvSpPr txBox="1"/>
          <p:nvPr/>
        </p:nvSpPr>
        <p:spPr>
          <a:xfrm>
            <a:off x="4188516" y="2972419"/>
            <a:ext cx="601980" cy="1778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000">
                <a:latin typeface="Arial"/>
                <a:ea typeface="Arial"/>
                <a:cs typeface="Arial"/>
                <a:sym typeface="Arial"/>
              </a:rPr>
              <a:t>Vector DB</a:t>
            </a:r>
            <a:endParaRPr sz="10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id="427" name="Google Shape;427;p1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28" name="Google Shape;428;p13"/>
          <p:cNvSpPr txBox="1"/>
          <p:nvPr>
            <p:ph type="title"/>
          </p:nvPr>
        </p:nvSpPr>
        <p:spPr>
          <a:xfrm>
            <a:off x="384725" y="188286"/>
            <a:ext cx="738124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Query Expansion</a:t>
            </a:r>
            <a:endParaRPr/>
          </a:p>
        </p:txBody>
      </p:sp>
      <p:grpSp>
        <p:nvGrpSpPr>
          <p:cNvPr id="429" name="Google Shape;429;p13"/>
          <p:cNvGrpSpPr/>
          <p:nvPr/>
        </p:nvGrpSpPr>
        <p:grpSpPr>
          <a:xfrm>
            <a:off x="654750" y="1535524"/>
            <a:ext cx="3557904" cy="2183765"/>
            <a:chOff x="654750" y="1535524"/>
            <a:chExt cx="3557904" cy="2183765"/>
          </a:xfrm>
        </p:grpSpPr>
        <p:sp>
          <p:nvSpPr>
            <p:cNvPr id="430" name="Google Shape;430;p13"/>
            <p:cNvSpPr/>
            <p:nvPr/>
          </p:nvSpPr>
          <p:spPr>
            <a:xfrm>
              <a:off x="654750" y="1535524"/>
              <a:ext cx="3557904" cy="2183765"/>
            </a:xfrm>
            <a:custGeom>
              <a:rect b="b" l="l" r="r" t="t"/>
              <a:pathLst>
                <a:path extrusionOk="0" h="2183765" w="3557904">
                  <a:moveTo>
                    <a:pt x="3557699" y="2183399"/>
                  </a:moveTo>
                  <a:lnTo>
                    <a:pt x="0" y="2183399"/>
                  </a:lnTo>
                  <a:lnTo>
                    <a:pt x="0" y="0"/>
                  </a:lnTo>
                  <a:lnTo>
                    <a:pt x="3557699" y="0"/>
                  </a:lnTo>
                  <a:lnTo>
                    <a:pt x="3557699" y="2183399"/>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31" name="Google Shape;431;p13"/>
            <p:cNvSpPr/>
            <p:nvPr/>
          </p:nvSpPr>
          <p:spPr>
            <a:xfrm>
              <a:off x="654750" y="1535524"/>
              <a:ext cx="3557904" cy="2183765"/>
            </a:xfrm>
            <a:custGeom>
              <a:rect b="b" l="l" r="r" t="t"/>
              <a:pathLst>
                <a:path extrusionOk="0" h="2183765" w="3557904">
                  <a:moveTo>
                    <a:pt x="0" y="0"/>
                  </a:moveTo>
                  <a:lnTo>
                    <a:pt x="3557699" y="0"/>
                  </a:lnTo>
                  <a:lnTo>
                    <a:pt x="3557699" y="2183399"/>
                  </a:lnTo>
                  <a:lnTo>
                    <a:pt x="0" y="2183399"/>
                  </a:lnTo>
                  <a:lnTo>
                    <a:pt x="0"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32" name="Google Shape;432;p13"/>
          <p:cNvSpPr txBox="1"/>
          <p:nvPr/>
        </p:nvSpPr>
        <p:spPr>
          <a:xfrm>
            <a:off x="2507266" y="2171345"/>
            <a:ext cx="601980" cy="1778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000">
                <a:latin typeface="Arial"/>
                <a:ea typeface="Arial"/>
                <a:cs typeface="Arial"/>
                <a:sym typeface="Arial"/>
              </a:rPr>
              <a:t>Vector DB</a:t>
            </a:r>
            <a:endParaRPr sz="1000">
              <a:latin typeface="Arial"/>
              <a:ea typeface="Arial"/>
              <a:cs typeface="Arial"/>
              <a:sym typeface="Arial"/>
            </a:endParaRPr>
          </a:p>
        </p:txBody>
      </p:sp>
      <p:sp>
        <p:nvSpPr>
          <p:cNvPr id="433" name="Google Shape;433;p13"/>
          <p:cNvSpPr/>
          <p:nvPr/>
        </p:nvSpPr>
        <p:spPr>
          <a:xfrm>
            <a:off x="815199" y="1831250"/>
            <a:ext cx="640715" cy="321310"/>
          </a:xfrm>
          <a:custGeom>
            <a:rect b="b" l="l" r="r" t="t"/>
            <a:pathLst>
              <a:path extrusionOk="0" h="321310" w="640715">
                <a:moveTo>
                  <a:pt x="0" y="53550"/>
                </a:moveTo>
                <a:lnTo>
                  <a:pt x="4208" y="32706"/>
                </a:lnTo>
                <a:lnTo>
                  <a:pt x="15684" y="15684"/>
                </a:lnTo>
                <a:lnTo>
                  <a:pt x="32706" y="4208"/>
                </a:lnTo>
                <a:lnTo>
                  <a:pt x="53551" y="0"/>
                </a:lnTo>
                <a:lnTo>
                  <a:pt x="586948" y="0"/>
                </a:lnTo>
                <a:lnTo>
                  <a:pt x="624815" y="15684"/>
                </a:lnTo>
                <a:lnTo>
                  <a:pt x="640499" y="53550"/>
                </a:lnTo>
                <a:lnTo>
                  <a:pt x="640499" y="267748"/>
                </a:lnTo>
                <a:lnTo>
                  <a:pt x="636291" y="288593"/>
                </a:lnTo>
                <a:lnTo>
                  <a:pt x="624815" y="305615"/>
                </a:lnTo>
                <a:lnTo>
                  <a:pt x="607793" y="317091"/>
                </a:lnTo>
                <a:lnTo>
                  <a:pt x="586948" y="321299"/>
                </a:lnTo>
                <a:lnTo>
                  <a:pt x="53551" y="321299"/>
                </a:lnTo>
                <a:lnTo>
                  <a:pt x="32706" y="317091"/>
                </a:lnTo>
                <a:lnTo>
                  <a:pt x="15684" y="305615"/>
                </a:lnTo>
                <a:lnTo>
                  <a:pt x="4208" y="288593"/>
                </a:lnTo>
                <a:lnTo>
                  <a:pt x="0" y="267748"/>
                </a:lnTo>
                <a:lnTo>
                  <a:pt x="0" y="5355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34" name="Google Shape;434;p13"/>
          <p:cNvSpPr txBox="1"/>
          <p:nvPr/>
        </p:nvSpPr>
        <p:spPr>
          <a:xfrm>
            <a:off x="916609" y="1882616"/>
            <a:ext cx="433705"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1200">
                <a:latin typeface="Arial"/>
                <a:ea typeface="Arial"/>
                <a:cs typeface="Arial"/>
                <a:sym typeface="Arial"/>
              </a:rPr>
              <a:t>Query</a:t>
            </a:r>
            <a:endParaRPr sz="1200">
              <a:latin typeface="Arial"/>
              <a:ea typeface="Arial"/>
              <a:cs typeface="Arial"/>
              <a:sym typeface="Arial"/>
            </a:endParaRPr>
          </a:p>
        </p:txBody>
      </p:sp>
      <p:grpSp>
        <p:nvGrpSpPr>
          <p:cNvPr id="435" name="Google Shape;435;p13"/>
          <p:cNvGrpSpPr/>
          <p:nvPr/>
        </p:nvGrpSpPr>
        <p:grpSpPr>
          <a:xfrm>
            <a:off x="1668950" y="1739350"/>
            <a:ext cx="1295260" cy="1144035"/>
            <a:chOff x="1668950" y="1739350"/>
            <a:chExt cx="1295260" cy="1144035"/>
          </a:xfrm>
        </p:grpSpPr>
        <p:sp>
          <p:nvSpPr>
            <p:cNvPr id="436" name="Google Shape;436;p13"/>
            <p:cNvSpPr/>
            <p:nvPr/>
          </p:nvSpPr>
          <p:spPr>
            <a:xfrm>
              <a:off x="2639725" y="1739350"/>
              <a:ext cx="324485" cy="365760"/>
            </a:xfrm>
            <a:custGeom>
              <a:rect b="b" l="l" r="r" t="t"/>
              <a:pathLst>
                <a:path extrusionOk="0" h="365760" w="324485">
                  <a:moveTo>
                    <a:pt x="161999" y="365324"/>
                  </a:moveTo>
                  <a:lnTo>
                    <a:pt x="98942" y="360540"/>
                  </a:lnTo>
                  <a:lnTo>
                    <a:pt x="47448" y="347491"/>
                  </a:lnTo>
                  <a:lnTo>
                    <a:pt x="12730" y="328137"/>
                  </a:lnTo>
                  <a:lnTo>
                    <a:pt x="0" y="304437"/>
                  </a:lnTo>
                  <a:lnTo>
                    <a:pt x="0" y="60887"/>
                  </a:lnTo>
                  <a:lnTo>
                    <a:pt x="12730" y="37187"/>
                  </a:lnTo>
                  <a:lnTo>
                    <a:pt x="47448" y="17833"/>
                  </a:lnTo>
                  <a:lnTo>
                    <a:pt x="98942" y="4784"/>
                  </a:lnTo>
                  <a:lnTo>
                    <a:pt x="161999" y="0"/>
                  </a:lnTo>
                  <a:lnTo>
                    <a:pt x="225057" y="4784"/>
                  </a:lnTo>
                  <a:lnTo>
                    <a:pt x="276551" y="17833"/>
                  </a:lnTo>
                  <a:lnTo>
                    <a:pt x="311269" y="37187"/>
                  </a:lnTo>
                  <a:lnTo>
                    <a:pt x="323999" y="60887"/>
                  </a:lnTo>
                  <a:lnTo>
                    <a:pt x="323999" y="304437"/>
                  </a:lnTo>
                  <a:lnTo>
                    <a:pt x="311269" y="328137"/>
                  </a:lnTo>
                  <a:lnTo>
                    <a:pt x="276551" y="347491"/>
                  </a:lnTo>
                  <a:lnTo>
                    <a:pt x="225057" y="360540"/>
                  </a:lnTo>
                  <a:lnTo>
                    <a:pt x="161999" y="365324"/>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37" name="Google Shape;437;p13"/>
            <p:cNvSpPr/>
            <p:nvPr/>
          </p:nvSpPr>
          <p:spPr>
            <a:xfrm>
              <a:off x="2639725" y="1739350"/>
              <a:ext cx="324485" cy="365760"/>
            </a:xfrm>
            <a:custGeom>
              <a:rect b="b" l="l" r="r" t="t"/>
              <a:pathLst>
                <a:path extrusionOk="0" h="365760" w="324485">
                  <a:moveTo>
                    <a:pt x="323999" y="60887"/>
                  </a:moveTo>
                  <a:lnTo>
                    <a:pt x="311269" y="84587"/>
                  </a:lnTo>
                  <a:lnTo>
                    <a:pt x="276551" y="103941"/>
                  </a:lnTo>
                  <a:lnTo>
                    <a:pt x="225057" y="116990"/>
                  </a:lnTo>
                  <a:lnTo>
                    <a:pt x="161999" y="121774"/>
                  </a:lnTo>
                  <a:lnTo>
                    <a:pt x="98942" y="116990"/>
                  </a:lnTo>
                  <a:lnTo>
                    <a:pt x="47448" y="103941"/>
                  </a:lnTo>
                  <a:lnTo>
                    <a:pt x="12730" y="84587"/>
                  </a:lnTo>
                  <a:lnTo>
                    <a:pt x="0" y="60887"/>
                  </a:lnTo>
                </a:path>
                <a:path extrusionOk="0" h="365760" w="324485">
                  <a:moveTo>
                    <a:pt x="0" y="60887"/>
                  </a:moveTo>
                  <a:lnTo>
                    <a:pt x="12730" y="37187"/>
                  </a:lnTo>
                  <a:lnTo>
                    <a:pt x="47448" y="17833"/>
                  </a:lnTo>
                  <a:lnTo>
                    <a:pt x="98942" y="4784"/>
                  </a:lnTo>
                  <a:lnTo>
                    <a:pt x="161999" y="0"/>
                  </a:lnTo>
                  <a:lnTo>
                    <a:pt x="225057" y="4784"/>
                  </a:lnTo>
                  <a:lnTo>
                    <a:pt x="276551" y="17833"/>
                  </a:lnTo>
                  <a:lnTo>
                    <a:pt x="311269" y="37187"/>
                  </a:lnTo>
                  <a:lnTo>
                    <a:pt x="323999" y="60887"/>
                  </a:lnTo>
                  <a:lnTo>
                    <a:pt x="323999" y="304437"/>
                  </a:lnTo>
                  <a:lnTo>
                    <a:pt x="311269" y="328137"/>
                  </a:lnTo>
                  <a:lnTo>
                    <a:pt x="276551" y="347491"/>
                  </a:lnTo>
                  <a:lnTo>
                    <a:pt x="225057" y="360540"/>
                  </a:lnTo>
                  <a:lnTo>
                    <a:pt x="161999" y="365324"/>
                  </a:lnTo>
                  <a:lnTo>
                    <a:pt x="98942" y="360540"/>
                  </a:lnTo>
                  <a:lnTo>
                    <a:pt x="47448" y="347491"/>
                  </a:lnTo>
                  <a:lnTo>
                    <a:pt x="12730" y="328137"/>
                  </a:lnTo>
                  <a:lnTo>
                    <a:pt x="0" y="304437"/>
                  </a:lnTo>
                  <a:lnTo>
                    <a:pt x="0" y="60887"/>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38" name="Google Shape;438;p13"/>
            <p:cNvSpPr/>
            <p:nvPr/>
          </p:nvSpPr>
          <p:spPr>
            <a:xfrm>
              <a:off x="1668950" y="2562075"/>
              <a:ext cx="840740" cy="321310"/>
            </a:xfrm>
            <a:custGeom>
              <a:rect b="b" l="l" r="r" t="t"/>
              <a:pathLst>
                <a:path extrusionOk="0" h="321310" w="840739">
                  <a:moveTo>
                    <a:pt x="786748" y="321299"/>
                  </a:moveTo>
                  <a:lnTo>
                    <a:pt x="53550" y="321299"/>
                  </a:lnTo>
                  <a:lnTo>
                    <a:pt x="32706" y="317091"/>
                  </a:lnTo>
                  <a:lnTo>
                    <a:pt x="15684" y="305615"/>
                  </a:lnTo>
                  <a:lnTo>
                    <a:pt x="4208" y="288593"/>
                  </a:lnTo>
                  <a:lnTo>
                    <a:pt x="0" y="267748"/>
                  </a:lnTo>
                  <a:lnTo>
                    <a:pt x="0" y="53550"/>
                  </a:lnTo>
                  <a:lnTo>
                    <a:pt x="15684" y="15684"/>
                  </a:lnTo>
                  <a:lnTo>
                    <a:pt x="53550" y="0"/>
                  </a:lnTo>
                  <a:lnTo>
                    <a:pt x="786748" y="0"/>
                  </a:lnTo>
                  <a:lnTo>
                    <a:pt x="824615" y="15684"/>
                  </a:lnTo>
                  <a:lnTo>
                    <a:pt x="840299" y="53550"/>
                  </a:lnTo>
                  <a:lnTo>
                    <a:pt x="840299" y="267748"/>
                  </a:lnTo>
                  <a:lnTo>
                    <a:pt x="836091" y="288593"/>
                  </a:lnTo>
                  <a:lnTo>
                    <a:pt x="824615" y="305615"/>
                  </a:lnTo>
                  <a:lnTo>
                    <a:pt x="807593" y="317091"/>
                  </a:lnTo>
                  <a:lnTo>
                    <a:pt x="786748" y="3212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39" name="Google Shape;439;p13"/>
          <p:cNvSpPr txBox="1"/>
          <p:nvPr/>
        </p:nvSpPr>
        <p:spPr>
          <a:xfrm>
            <a:off x="1780184" y="2613441"/>
            <a:ext cx="631190"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1200">
                <a:solidFill>
                  <a:srgbClr val="FFFFFF"/>
                </a:solidFill>
                <a:latin typeface="Arial"/>
                <a:ea typeface="Arial"/>
                <a:cs typeface="Arial"/>
                <a:sym typeface="Arial"/>
              </a:rPr>
              <a:t>Retriever</a:t>
            </a:r>
            <a:endParaRPr sz="1200">
              <a:latin typeface="Arial"/>
              <a:ea typeface="Arial"/>
              <a:cs typeface="Arial"/>
              <a:sym typeface="Arial"/>
            </a:endParaRPr>
          </a:p>
        </p:txBody>
      </p:sp>
      <p:grpSp>
        <p:nvGrpSpPr>
          <p:cNvPr id="440" name="Google Shape;440;p13"/>
          <p:cNvGrpSpPr/>
          <p:nvPr/>
        </p:nvGrpSpPr>
        <p:grpSpPr>
          <a:xfrm>
            <a:off x="1094459" y="2152550"/>
            <a:ext cx="2972750" cy="971519"/>
            <a:chOff x="1094459" y="2152550"/>
            <a:chExt cx="2972750" cy="971519"/>
          </a:xfrm>
        </p:grpSpPr>
        <p:sp>
          <p:nvSpPr>
            <p:cNvPr id="441" name="Google Shape;441;p13"/>
            <p:cNvSpPr/>
            <p:nvPr/>
          </p:nvSpPr>
          <p:spPr>
            <a:xfrm>
              <a:off x="2089099" y="2265375"/>
              <a:ext cx="210185" cy="297180"/>
            </a:xfrm>
            <a:custGeom>
              <a:rect b="b" l="l" r="r" t="t"/>
              <a:pathLst>
                <a:path extrusionOk="0" h="297180" w="210185">
                  <a:moveTo>
                    <a:pt x="0" y="296699"/>
                  </a:moveTo>
                  <a:lnTo>
                    <a:pt x="0" y="0"/>
                  </a:lnTo>
                  <a:lnTo>
                    <a:pt x="209699"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42" name="Google Shape;442;p13"/>
            <p:cNvPicPr preferRelativeResize="0"/>
            <p:nvPr/>
          </p:nvPicPr>
          <p:blipFill rotWithShape="1">
            <a:blip r:embed="rId4">
              <a:alphaModFix/>
            </a:blip>
            <a:srcRect b="0" l="0" r="0" t="0"/>
            <a:stretch/>
          </p:blipFill>
          <p:spPr>
            <a:xfrm>
              <a:off x="2289274" y="2224384"/>
              <a:ext cx="105500" cy="81980"/>
            </a:xfrm>
            <a:prstGeom prst="rect">
              <a:avLst/>
            </a:prstGeom>
            <a:noFill/>
            <a:ln>
              <a:noFill/>
            </a:ln>
          </p:spPr>
        </p:pic>
        <p:sp>
          <p:nvSpPr>
            <p:cNvPr id="443" name="Google Shape;443;p13"/>
            <p:cNvSpPr/>
            <p:nvPr/>
          </p:nvSpPr>
          <p:spPr>
            <a:xfrm>
              <a:off x="1135449" y="2152550"/>
              <a:ext cx="0" cy="295275"/>
            </a:xfrm>
            <a:custGeom>
              <a:rect b="b" l="l" r="r" t="t"/>
              <a:pathLst>
                <a:path extrusionOk="0" h="295275" w="120000">
                  <a:moveTo>
                    <a:pt x="0" y="0"/>
                  </a:moveTo>
                  <a:lnTo>
                    <a:pt x="0" y="2951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44" name="Google Shape;444;p13"/>
            <p:cNvPicPr preferRelativeResize="0"/>
            <p:nvPr/>
          </p:nvPicPr>
          <p:blipFill rotWithShape="1">
            <a:blip r:embed="rId5">
              <a:alphaModFix/>
            </a:blip>
            <a:srcRect b="0" l="0" r="0" t="0"/>
            <a:stretch/>
          </p:blipFill>
          <p:spPr>
            <a:xfrm>
              <a:off x="1094459" y="2438225"/>
              <a:ext cx="81980" cy="105500"/>
            </a:xfrm>
            <a:prstGeom prst="rect">
              <a:avLst/>
            </a:prstGeom>
            <a:noFill/>
            <a:ln>
              <a:noFill/>
            </a:ln>
          </p:spPr>
        </p:pic>
        <p:sp>
          <p:nvSpPr>
            <p:cNvPr id="445" name="Google Shape;445;p13"/>
            <p:cNvSpPr/>
            <p:nvPr/>
          </p:nvSpPr>
          <p:spPr>
            <a:xfrm>
              <a:off x="3190224" y="2265325"/>
              <a:ext cx="422909" cy="191135"/>
            </a:xfrm>
            <a:custGeom>
              <a:rect b="b" l="l" r="r" t="t"/>
              <a:pathLst>
                <a:path extrusionOk="0" h="191135" w="422910">
                  <a:moveTo>
                    <a:pt x="0" y="0"/>
                  </a:moveTo>
                  <a:lnTo>
                    <a:pt x="422399" y="0"/>
                  </a:lnTo>
                  <a:lnTo>
                    <a:pt x="422399" y="1907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46" name="Google Shape;446;p13"/>
            <p:cNvPicPr preferRelativeResize="0"/>
            <p:nvPr/>
          </p:nvPicPr>
          <p:blipFill rotWithShape="1">
            <a:blip r:embed="rId5">
              <a:alphaModFix/>
            </a:blip>
            <a:srcRect b="0" l="0" r="0" t="0"/>
            <a:stretch/>
          </p:blipFill>
          <p:spPr>
            <a:xfrm>
              <a:off x="3571634" y="2446600"/>
              <a:ext cx="81980" cy="105500"/>
            </a:xfrm>
            <a:prstGeom prst="rect">
              <a:avLst/>
            </a:prstGeom>
            <a:noFill/>
            <a:ln>
              <a:noFill/>
            </a:ln>
          </p:spPr>
        </p:pic>
        <p:sp>
          <p:nvSpPr>
            <p:cNvPr id="447" name="Google Shape;447;p13"/>
            <p:cNvSpPr/>
            <p:nvPr/>
          </p:nvSpPr>
          <p:spPr>
            <a:xfrm>
              <a:off x="3158524" y="2570349"/>
              <a:ext cx="908685" cy="553720"/>
            </a:xfrm>
            <a:custGeom>
              <a:rect b="b" l="l" r="r" t="t"/>
              <a:pathLst>
                <a:path extrusionOk="0" h="553719" w="908685">
                  <a:moveTo>
                    <a:pt x="0" y="553499"/>
                  </a:moveTo>
                  <a:lnTo>
                    <a:pt x="0" y="0"/>
                  </a:lnTo>
                  <a:lnTo>
                    <a:pt x="908399" y="0"/>
                  </a:lnTo>
                  <a:lnTo>
                    <a:pt x="908399" y="553499"/>
                  </a:lnTo>
                  <a:lnTo>
                    <a:pt x="0" y="553499"/>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48" name="Google Shape;448;p13"/>
            <p:cNvSpPr/>
            <p:nvPr/>
          </p:nvSpPr>
          <p:spPr>
            <a:xfrm>
              <a:off x="3330199" y="2673937"/>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49" name="Google Shape;449;p13"/>
            <p:cNvSpPr/>
            <p:nvPr/>
          </p:nvSpPr>
          <p:spPr>
            <a:xfrm>
              <a:off x="3330199" y="2673937"/>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50" name="Google Shape;450;p13"/>
            <p:cNvSpPr/>
            <p:nvPr/>
          </p:nvSpPr>
          <p:spPr>
            <a:xfrm>
              <a:off x="3292474" y="2714475"/>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51" name="Google Shape;451;p13"/>
            <p:cNvSpPr/>
            <p:nvPr/>
          </p:nvSpPr>
          <p:spPr>
            <a:xfrm>
              <a:off x="3292474" y="2714475"/>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52" name="Google Shape;452;p13"/>
          <p:cNvSpPr txBox="1"/>
          <p:nvPr/>
        </p:nvSpPr>
        <p:spPr>
          <a:xfrm>
            <a:off x="3435397" y="3125095"/>
            <a:ext cx="443230" cy="1778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000">
                <a:latin typeface="Arial"/>
                <a:ea typeface="Arial"/>
                <a:cs typeface="Arial"/>
                <a:sym typeface="Arial"/>
              </a:rPr>
              <a:t>Chunks</a:t>
            </a:r>
            <a:endParaRPr sz="1000">
              <a:latin typeface="Arial"/>
              <a:ea typeface="Arial"/>
              <a:cs typeface="Arial"/>
              <a:sym typeface="Arial"/>
            </a:endParaRPr>
          </a:p>
        </p:txBody>
      </p:sp>
      <p:sp>
        <p:nvSpPr>
          <p:cNvPr id="453" name="Google Shape;453;p13"/>
          <p:cNvSpPr txBox="1"/>
          <p:nvPr/>
        </p:nvSpPr>
        <p:spPr>
          <a:xfrm>
            <a:off x="4423024" y="1875038"/>
            <a:ext cx="4410710" cy="15189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solidFill>
                  <a:srgbClr val="595959"/>
                </a:solidFill>
                <a:latin typeface="Arial"/>
                <a:ea typeface="Arial"/>
                <a:cs typeface="Arial"/>
                <a:sym typeface="Arial"/>
              </a:rPr>
              <a:t>Used when user queries are unclear.</a:t>
            </a:r>
            <a:endParaRPr sz="1400">
              <a:latin typeface="Arial"/>
              <a:ea typeface="Arial"/>
              <a:cs typeface="Arial"/>
              <a:sym typeface="Arial"/>
            </a:endParaRPr>
          </a:p>
          <a:p>
            <a:pPr indent="0" lvl="0" marL="0" rtl="0" algn="l">
              <a:lnSpc>
                <a:spcPct val="100000"/>
              </a:lnSpc>
              <a:spcBef>
                <a:spcPts val="70"/>
              </a:spcBef>
              <a:spcAft>
                <a:spcPts val="0"/>
              </a:spcAft>
              <a:buNone/>
            </a:pPr>
            <a:r>
              <a:t/>
            </a:r>
            <a:endParaRPr sz="1400">
              <a:latin typeface="Arial"/>
              <a:ea typeface="Arial"/>
              <a:cs typeface="Arial"/>
              <a:sym typeface="Arial"/>
            </a:endParaRPr>
          </a:p>
          <a:p>
            <a:pPr indent="0" lvl="0" marL="12700" marR="5080" rtl="0" algn="l">
              <a:lnSpc>
                <a:spcPct val="100000"/>
              </a:lnSpc>
              <a:spcBef>
                <a:spcPts val="0"/>
              </a:spcBef>
              <a:spcAft>
                <a:spcPts val="0"/>
              </a:spcAft>
              <a:buNone/>
            </a:pPr>
            <a:r>
              <a:rPr lang="en-US" sz="1400">
                <a:solidFill>
                  <a:srgbClr val="595959"/>
                </a:solidFill>
                <a:latin typeface="Arial"/>
                <a:ea typeface="Arial"/>
                <a:cs typeface="Arial"/>
                <a:sym typeface="Arial"/>
              </a:rPr>
              <a:t>An LLM is used to create multiple variations of the user query with different phrasings.</a:t>
            </a:r>
            <a:endParaRPr sz="1400">
              <a:latin typeface="Arial"/>
              <a:ea typeface="Arial"/>
              <a:cs typeface="Arial"/>
              <a:sym typeface="Arial"/>
            </a:endParaRPr>
          </a:p>
          <a:p>
            <a:pPr indent="0" lvl="0" marL="0" rtl="0" algn="l">
              <a:lnSpc>
                <a:spcPct val="100000"/>
              </a:lnSpc>
              <a:spcBef>
                <a:spcPts val="70"/>
              </a:spcBef>
              <a:spcAft>
                <a:spcPts val="0"/>
              </a:spcAft>
              <a:buNone/>
            </a:pPr>
            <a:r>
              <a:t/>
            </a:r>
            <a:endParaRPr sz="1400">
              <a:latin typeface="Arial"/>
              <a:ea typeface="Arial"/>
              <a:cs typeface="Arial"/>
              <a:sym typeface="Arial"/>
            </a:endParaRPr>
          </a:p>
          <a:p>
            <a:pPr indent="0" lvl="0" marL="12700" marR="103505" rtl="0" algn="l">
              <a:lnSpc>
                <a:spcPct val="100000"/>
              </a:lnSpc>
              <a:spcBef>
                <a:spcPts val="0"/>
              </a:spcBef>
              <a:spcAft>
                <a:spcPts val="0"/>
              </a:spcAft>
              <a:buNone/>
            </a:pPr>
            <a:r>
              <a:rPr lang="en-US" sz="1400">
                <a:solidFill>
                  <a:srgbClr val="595959"/>
                </a:solidFill>
                <a:latin typeface="Arial"/>
                <a:ea typeface="Arial"/>
                <a:cs typeface="Arial"/>
                <a:sym typeface="Arial"/>
              </a:rPr>
              <a:t>These variations are then presented to the retriever to collect relevant chunks.</a:t>
            </a:r>
            <a:endParaRPr sz="1400">
              <a:latin typeface="Arial"/>
              <a:ea typeface="Arial"/>
              <a:cs typeface="Arial"/>
              <a:sym typeface="Arial"/>
            </a:endParaRPr>
          </a:p>
        </p:txBody>
      </p:sp>
      <p:sp>
        <p:nvSpPr>
          <p:cNvPr id="454" name="Google Shape;454;p13"/>
          <p:cNvSpPr/>
          <p:nvPr/>
        </p:nvSpPr>
        <p:spPr>
          <a:xfrm>
            <a:off x="837700" y="2562062"/>
            <a:ext cx="595630" cy="321310"/>
          </a:xfrm>
          <a:custGeom>
            <a:rect b="b" l="l" r="r" t="t"/>
            <a:pathLst>
              <a:path extrusionOk="0" h="321310" w="595630">
                <a:moveTo>
                  <a:pt x="541948" y="321299"/>
                </a:moveTo>
                <a:lnTo>
                  <a:pt x="53551" y="321299"/>
                </a:lnTo>
                <a:lnTo>
                  <a:pt x="32706" y="317091"/>
                </a:lnTo>
                <a:lnTo>
                  <a:pt x="15684" y="305615"/>
                </a:lnTo>
                <a:lnTo>
                  <a:pt x="4208" y="288593"/>
                </a:lnTo>
                <a:lnTo>
                  <a:pt x="0" y="267748"/>
                </a:lnTo>
                <a:lnTo>
                  <a:pt x="0" y="53550"/>
                </a:lnTo>
                <a:lnTo>
                  <a:pt x="4208" y="32706"/>
                </a:lnTo>
                <a:lnTo>
                  <a:pt x="15684" y="15684"/>
                </a:lnTo>
                <a:lnTo>
                  <a:pt x="32706" y="4208"/>
                </a:lnTo>
                <a:lnTo>
                  <a:pt x="53551" y="0"/>
                </a:lnTo>
                <a:lnTo>
                  <a:pt x="541948" y="0"/>
                </a:lnTo>
                <a:lnTo>
                  <a:pt x="579815" y="15684"/>
                </a:lnTo>
                <a:lnTo>
                  <a:pt x="595499" y="53550"/>
                </a:lnTo>
                <a:lnTo>
                  <a:pt x="595499" y="267748"/>
                </a:lnTo>
                <a:lnTo>
                  <a:pt x="591291" y="288593"/>
                </a:lnTo>
                <a:lnTo>
                  <a:pt x="579815" y="305615"/>
                </a:lnTo>
                <a:lnTo>
                  <a:pt x="562793" y="317091"/>
                </a:lnTo>
                <a:lnTo>
                  <a:pt x="541948" y="3212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55" name="Google Shape;455;p13"/>
          <p:cNvSpPr txBox="1"/>
          <p:nvPr/>
        </p:nvSpPr>
        <p:spPr>
          <a:xfrm>
            <a:off x="881875" y="2613429"/>
            <a:ext cx="732790" cy="1006475"/>
          </a:xfrm>
          <a:prstGeom prst="rect">
            <a:avLst/>
          </a:prstGeom>
          <a:noFill/>
          <a:ln>
            <a:noFill/>
          </a:ln>
        </p:spPr>
        <p:txBody>
          <a:bodyPr anchorCtr="0" anchor="t" bIns="0" lIns="0" spcFirstLastPara="1" rIns="0" wrap="square" tIns="12700">
            <a:spAutoFit/>
          </a:bodyPr>
          <a:lstStyle/>
          <a:p>
            <a:pPr indent="0" lvl="0" marL="101600" rtl="0" algn="l">
              <a:lnSpc>
                <a:spcPct val="100000"/>
              </a:lnSpc>
              <a:spcBef>
                <a:spcPts val="0"/>
              </a:spcBef>
              <a:spcAft>
                <a:spcPts val="0"/>
              </a:spcAft>
              <a:buNone/>
            </a:pPr>
            <a:r>
              <a:rPr b="1" lang="en-US" sz="1200">
                <a:solidFill>
                  <a:srgbClr val="FFFFFF"/>
                </a:solidFill>
                <a:latin typeface="Arial"/>
                <a:ea typeface="Arial"/>
                <a:cs typeface="Arial"/>
                <a:sym typeface="Arial"/>
              </a:rPr>
              <a:t>LLM</a:t>
            </a:r>
            <a:endParaRPr sz="1200">
              <a:latin typeface="Arial"/>
              <a:ea typeface="Arial"/>
              <a:cs typeface="Arial"/>
              <a:sym typeface="Arial"/>
            </a:endParaRPr>
          </a:p>
          <a:p>
            <a:pPr indent="0" lvl="0" marL="0" marR="5080" rtl="0" algn="l">
              <a:lnSpc>
                <a:spcPct val="100000"/>
              </a:lnSpc>
              <a:spcBef>
                <a:spcPts val="880"/>
              </a:spcBef>
              <a:spcAft>
                <a:spcPts val="0"/>
              </a:spcAft>
              <a:buNone/>
            </a:pPr>
            <a:r>
              <a:rPr b="1" lang="en-US" sz="900">
                <a:solidFill>
                  <a:srgbClr val="7E7E7E"/>
                </a:solidFill>
                <a:latin typeface="Arial"/>
                <a:ea typeface="Arial"/>
                <a:cs typeface="Arial"/>
                <a:sym typeface="Arial"/>
              </a:rPr>
              <a:t>Generate multiple expansions of the initial query</a:t>
            </a:r>
            <a:endParaRPr sz="900">
              <a:latin typeface="Arial"/>
              <a:ea typeface="Arial"/>
              <a:cs typeface="Arial"/>
              <a:sym typeface="Arial"/>
            </a:endParaRPr>
          </a:p>
        </p:txBody>
      </p:sp>
      <p:pic>
        <p:nvPicPr>
          <p:cNvPr id="456" name="Google Shape;456;p13"/>
          <p:cNvPicPr preferRelativeResize="0"/>
          <p:nvPr/>
        </p:nvPicPr>
        <p:blipFill rotWithShape="1">
          <a:blip r:embed="rId6">
            <a:alphaModFix/>
          </a:blip>
          <a:srcRect b="0" l="0" r="0" t="0"/>
          <a:stretch/>
        </p:blipFill>
        <p:spPr>
          <a:xfrm>
            <a:off x="1433200" y="2681721"/>
            <a:ext cx="217475" cy="819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id="461" name="Google Shape;461;p1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62" name="Google Shape;462;p14"/>
          <p:cNvSpPr txBox="1"/>
          <p:nvPr>
            <p:ph type="title"/>
          </p:nvPr>
        </p:nvSpPr>
        <p:spPr>
          <a:xfrm>
            <a:off x="458750" y="2344696"/>
            <a:ext cx="5333365" cy="4368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700"/>
              <a:t>Advanced Generation Techniques</a:t>
            </a:r>
            <a:endParaRPr sz="2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grpSp>
        <p:nvGrpSpPr>
          <p:cNvPr id="467" name="Google Shape;467;p15"/>
          <p:cNvGrpSpPr/>
          <p:nvPr/>
        </p:nvGrpSpPr>
        <p:grpSpPr>
          <a:xfrm>
            <a:off x="0" y="0"/>
            <a:ext cx="9144000" cy="5143500"/>
            <a:chOff x="0" y="0"/>
            <a:chExt cx="9144000" cy="5143500"/>
          </a:xfrm>
        </p:grpSpPr>
        <p:pic>
          <p:nvPicPr>
            <p:cNvPr id="468" name="Google Shape;468;p1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69" name="Google Shape;469;p15"/>
            <p:cNvSpPr/>
            <p:nvPr/>
          </p:nvSpPr>
          <p:spPr>
            <a:xfrm>
              <a:off x="349950" y="2645749"/>
              <a:ext cx="3723004" cy="2396490"/>
            </a:xfrm>
            <a:custGeom>
              <a:rect b="b" l="l" r="r" t="t"/>
              <a:pathLst>
                <a:path extrusionOk="0" h="2396490" w="3723004">
                  <a:moveTo>
                    <a:pt x="0" y="0"/>
                  </a:moveTo>
                  <a:lnTo>
                    <a:pt x="3722999" y="0"/>
                  </a:lnTo>
                  <a:lnTo>
                    <a:pt x="3722999" y="2396099"/>
                  </a:lnTo>
                  <a:lnTo>
                    <a:pt x="0" y="2396099"/>
                  </a:lnTo>
                  <a:lnTo>
                    <a:pt x="0"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70" name="Google Shape;470;p15"/>
            <p:cNvSpPr/>
            <p:nvPr/>
          </p:nvSpPr>
          <p:spPr>
            <a:xfrm>
              <a:off x="2547949" y="2974225"/>
              <a:ext cx="986155" cy="410209"/>
            </a:xfrm>
            <a:custGeom>
              <a:rect b="b" l="l" r="r" t="t"/>
              <a:pathLst>
                <a:path extrusionOk="0" h="410210" w="986154">
                  <a:moveTo>
                    <a:pt x="0" y="68301"/>
                  </a:moveTo>
                  <a:lnTo>
                    <a:pt x="5367" y="41715"/>
                  </a:lnTo>
                  <a:lnTo>
                    <a:pt x="20004" y="20004"/>
                  </a:lnTo>
                  <a:lnTo>
                    <a:pt x="41715" y="5367"/>
                  </a:lnTo>
                  <a:lnTo>
                    <a:pt x="68301" y="0"/>
                  </a:lnTo>
                  <a:lnTo>
                    <a:pt x="917498" y="0"/>
                  </a:lnTo>
                  <a:lnTo>
                    <a:pt x="955392" y="11475"/>
                  </a:lnTo>
                  <a:lnTo>
                    <a:pt x="980600" y="42163"/>
                  </a:lnTo>
                  <a:lnTo>
                    <a:pt x="985799" y="68301"/>
                  </a:lnTo>
                  <a:lnTo>
                    <a:pt x="985799" y="341498"/>
                  </a:lnTo>
                  <a:lnTo>
                    <a:pt x="980432" y="368084"/>
                  </a:lnTo>
                  <a:lnTo>
                    <a:pt x="965794" y="389794"/>
                  </a:lnTo>
                  <a:lnTo>
                    <a:pt x="944084" y="404432"/>
                  </a:lnTo>
                  <a:lnTo>
                    <a:pt x="917498" y="409799"/>
                  </a:lnTo>
                  <a:lnTo>
                    <a:pt x="68301" y="409799"/>
                  </a:lnTo>
                  <a:lnTo>
                    <a:pt x="41715" y="404432"/>
                  </a:lnTo>
                  <a:lnTo>
                    <a:pt x="20004" y="389794"/>
                  </a:lnTo>
                  <a:lnTo>
                    <a:pt x="5367" y="368084"/>
                  </a:lnTo>
                  <a:lnTo>
                    <a:pt x="0" y="341498"/>
                  </a:lnTo>
                  <a:lnTo>
                    <a:pt x="0" y="68301"/>
                  </a:lnTo>
                  <a:close/>
                </a:path>
              </a:pathLst>
            </a:custGeom>
            <a:noFill/>
            <a:ln cap="flat" cmpd="sng" w="9525">
              <a:solidFill>
                <a:srgbClr val="FFAB4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71" name="Google Shape;471;p15"/>
          <p:cNvSpPr txBox="1"/>
          <p:nvPr>
            <p:ph type="title"/>
          </p:nvPr>
        </p:nvSpPr>
        <p:spPr>
          <a:xfrm>
            <a:off x="384725" y="188286"/>
            <a:ext cx="738124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Information Compression</a:t>
            </a:r>
            <a:endParaRPr/>
          </a:p>
        </p:txBody>
      </p:sp>
      <p:sp>
        <p:nvSpPr>
          <p:cNvPr id="472" name="Google Shape;472;p15"/>
          <p:cNvSpPr/>
          <p:nvPr/>
        </p:nvSpPr>
        <p:spPr>
          <a:xfrm>
            <a:off x="349950" y="693074"/>
            <a:ext cx="4749165" cy="1859280"/>
          </a:xfrm>
          <a:custGeom>
            <a:rect b="b" l="l" r="r" t="t"/>
            <a:pathLst>
              <a:path extrusionOk="0" h="1859280" w="4749165">
                <a:moveTo>
                  <a:pt x="0" y="0"/>
                </a:moveTo>
                <a:lnTo>
                  <a:pt x="4748699" y="0"/>
                </a:lnTo>
                <a:lnTo>
                  <a:pt x="4748699" y="1859099"/>
                </a:lnTo>
                <a:lnTo>
                  <a:pt x="0" y="1859099"/>
                </a:lnTo>
                <a:lnTo>
                  <a:pt x="0"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73" name="Google Shape;473;p15"/>
          <p:cNvSpPr txBox="1"/>
          <p:nvPr/>
        </p:nvSpPr>
        <p:spPr>
          <a:xfrm>
            <a:off x="2202466" y="1256944"/>
            <a:ext cx="601980" cy="1778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000">
                <a:latin typeface="Arial"/>
                <a:ea typeface="Arial"/>
                <a:cs typeface="Arial"/>
                <a:sym typeface="Arial"/>
              </a:rPr>
              <a:t>Vector DB</a:t>
            </a:r>
            <a:endParaRPr sz="1000">
              <a:latin typeface="Arial"/>
              <a:ea typeface="Arial"/>
              <a:cs typeface="Arial"/>
              <a:sym typeface="Arial"/>
            </a:endParaRPr>
          </a:p>
        </p:txBody>
      </p:sp>
      <p:sp>
        <p:nvSpPr>
          <p:cNvPr id="474" name="Google Shape;474;p15"/>
          <p:cNvSpPr/>
          <p:nvPr/>
        </p:nvSpPr>
        <p:spPr>
          <a:xfrm>
            <a:off x="445649" y="1647675"/>
            <a:ext cx="640715" cy="321310"/>
          </a:xfrm>
          <a:custGeom>
            <a:rect b="b" l="l" r="r" t="t"/>
            <a:pathLst>
              <a:path extrusionOk="0" h="321310" w="640715">
                <a:moveTo>
                  <a:pt x="0" y="53550"/>
                </a:moveTo>
                <a:lnTo>
                  <a:pt x="4208" y="32706"/>
                </a:lnTo>
                <a:lnTo>
                  <a:pt x="15684" y="15684"/>
                </a:lnTo>
                <a:lnTo>
                  <a:pt x="32706" y="4208"/>
                </a:lnTo>
                <a:lnTo>
                  <a:pt x="53551" y="0"/>
                </a:lnTo>
                <a:lnTo>
                  <a:pt x="586948" y="0"/>
                </a:lnTo>
                <a:lnTo>
                  <a:pt x="624815" y="15684"/>
                </a:lnTo>
                <a:lnTo>
                  <a:pt x="640499" y="53550"/>
                </a:lnTo>
                <a:lnTo>
                  <a:pt x="640499" y="267748"/>
                </a:lnTo>
                <a:lnTo>
                  <a:pt x="636291" y="288593"/>
                </a:lnTo>
                <a:lnTo>
                  <a:pt x="624815" y="305615"/>
                </a:lnTo>
                <a:lnTo>
                  <a:pt x="607793" y="317091"/>
                </a:lnTo>
                <a:lnTo>
                  <a:pt x="586948" y="321299"/>
                </a:lnTo>
                <a:lnTo>
                  <a:pt x="53551" y="321299"/>
                </a:lnTo>
                <a:lnTo>
                  <a:pt x="32706" y="317091"/>
                </a:lnTo>
                <a:lnTo>
                  <a:pt x="15684" y="305615"/>
                </a:lnTo>
                <a:lnTo>
                  <a:pt x="4208" y="288593"/>
                </a:lnTo>
                <a:lnTo>
                  <a:pt x="0" y="267748"/>
                </a:lnTo>
                <a:lnTo>
                  <a:pt x="0" y="5355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75" name="Google Shape;475;p15"/>
          <p:cNvSpPr txBox="1"/>
          <p:nvPr/>
        </p:nvSpPr>
        <p:spPr>
          <a:xfrm>
            <a:off x="547059" y="1699041"/>
            <a:ext cx="433705"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1200">
                <a:latin typeface="Arial"/>
                <a:ea typeface="Arial"/>
                <a:cs typeface="Arial"/>
                <a:sym typeface="Arial"/>
              </a:rPr>
              <a:t>Query</a:t>
            </a:r>
            <a:endParaRPr sz="1200">
              <a:latin typeface="Arial"/>
              <a:ea typeface="Arial"/>
              <a:cs typeface="Arial"/>
              <a:sym typeface="Arial"/>
            </a:endParaRPr>
          </a:p>
        </p:txBody>
      </p:sp>
      <p:grpSp>
        <p:nvGrpSpPr>
          <p:cNvPr id="476" name="Google Shape;476;p15"/>
          <p:cNvGrpSpPr/>
          <p:nvPr/>
        </p:nvGrpSpPr>
        <p:grpSpPr>
          <a:xfrm>
            <a:off x="1364149" y="824950"/>
            <a:ext cx="1295261" cy="1144035"/>
            <a:chOff x="1364149" y="824950"/>
            <a:chExt cx="1295261" cy="1144035"/>
          </a:xfrm>
        </p:grpSpPr>
        <p:sp>
          <p:nvSpPr>
            <p:cNvPr id="477" name="Google Shape;477;p15"/>
            <p:cNvSpPr/>
            <p:nvPr/>
          </p:nvSpPr>
          <p:spPr>
            <a:xfrm>
              <a:off x="2334925" y="824950"/>
              <a:ext cx="324485" cy="365760"/>
            </a:xfrm>
            <a:custGeom>
              <a:rect b="b" l="l" r="r" t="t"/>
              <a:pathLst>
                <a:path extrusionOk="0" h="365759" w="324485">
                  <a:moveTo>
                    <a:pt x="161999" y="365324"/>
                  </a:moveTo>
                  <a:lnTo>
                    <a:pt x="98942" y="360540"/>
                  </a:lnTo>
                  <a:lnTo>
                    <a:pt x="47448" y="347491"/>
                  </a:lnTo>
                  <a:lnTo>
                    <a:pt x="12730" y="328137"/>
                  </a:lnTo>
                  <a:lnTo>
                    <a:pt x="0" y="304437"/>
                  </a:lnTo>
                  <a:lnTo>
                    <a:pt x="0" y="60887"/>
                  </a:lnTo>
                  <a:lnTo>
                    <a:pt x="12730" y="37187"/>
                  </a:lnTo>
                  <a:lnTo>
                    <a:pt x="47448" y="17833"/>
                  </a:lnTo>
                  <a:lnTo>
                    <a:pt x="98942" y="4784"/>
                  </a:lnTo>
                  <a:lnTo>
                    <a:pt x="161999" y="0"/>
                  </a:lnTo>
                  <a:lnTo>
                    <a:pt x="225057" y="4784"/>
                  </a:lnTo>
                  <a:lnTo>
                    <a:pt x="276551" y="17833"/>
                  </a:lnTo>
                  <a:lnTo>
                    <a:pt x="311269" y="37187"/>
                  </a:lnTo>
                  <a:lnTo>
                    <a:pt x="323999" y="60887"/>
                  </a:lnTo>
                  <a:lnTo>
                    <a:pt x="323999" y="304437"/>
                  </a:lnTo>
                  <a:lnTo>
                    <a:pt x="311269" y="328137"/>
                  </a:lnTo>
                  <a:lnTo>
                    <a:pt x="276551" y="347491"/>
                  </a:lnTo>
                  <a:lnTo>
                    <a:pt x="225057" y="360540"/>
                  </a:lnTo>
                  <a:lnTo>
                    <a:pt x="161999" y="365324"/>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78" name="Google Shape;478;p15"/>
            <p:cNvSpPr/>
            <p:nvPr/>
          </p:nvSpPr>
          <p:spPr>
            <a:xfrm>
              <a:off x="2334925" y="824950"/>
              <a:ext cx="324485" cy="365760"/>
            </a:xfrm>
            <a:custGeom>
              <a:rect b="b" l="l" r="r" t="t"/>
              <a:pathLst>
                <a:path extrusionOk="0" h="365759" w="324485">
                  <a:moveTo>
                    <a:pt x="323999" y="60887"/>
                  </a:moveTo>
                  <a:lnTo>
                    <a:pt x="311269" y="84587"/>
                  </a:lnTo>
                  <a:lnTo>
                    <a:pt x="276551" y="103941"/>
                  </a:lnTo>
                  <a:lnTo>
                    <a:pt x="225057" y="116990"/>
                  </a:lnTo>
                  <a:lnTo>
                    <a:pt x="161999" y="121774"/>
                  </a:lnTo>
                  <a:lnTo>
                    <a:pt x="98942" y="116990"/>
                  </a:lnTo>
                  <a:lnTo>
                    <a:pt x="47448" y="103941"/>
                  </a:lnTo>
                  <a:lnTo>
                    <a:pt x="12730" y="84587"/>
                  </a:lnTo>
                  <a:lnTo>
                    <a:pt x="0" y="60887"/>
                  </a:lnTo>
                </a:path>
                <a:path extrusionOk="0" h="365759" w="324485">
                  <a:moveTo>
                    <a:pt x="0" y="60887"/>
                  </a:moveTo>
                  <a:lnTo>
                    <a:pt x="12730" y="37187"/>
                  </a:lnTo>
                  <a:lnTo>
                    <a:pt x="47448" y="17833"/>
                  </a:lnTo>
                  <a:lnTo>
                    <a:pt x="98942" y="4784"/>
                  </a:lnTo>
                  <a:lnTo>
                    <a:pt x="161999" y="0"/>
                  </a:lnTo>
                  <a:lnTo>
                    <a:pt x="225057" y="4784"/>
                  </a:lnTo>
                  <a:lnTo>
                    <a:pt x="276551" y="17833"/>
                  </a:lnTo>
                  <a:lnTo>
                    <a:pt x="311269" y="37187"/>
                  </a:lnTo>
                  <a:lnTo>
                    <a:pt x="323999" y="60887"/>
                  </a:lnTo>
                  <a:lnTo>
                    <a:pt x="323999" y="304437"/>
                  </a:lnTo>
                  <a:lnTo>
                    <a:pt x="311269" y="328137"/>
                  </a:lnTo>
                  <a:lnTo>
                    <a:pt x="276551" y="347491"/>
                  </a:lnTo>
                  <a:lnTo>
                    <a:pt x="225057" y="360540"/>
                  </a:lnTo>
                  <a:lnTo>
                    <a:pt x="161999" y="365324"/>
                  </a:lnTo>
                  <a:lnTo>
                    <a:pt x="98942" y="360540"/>
                  </a:lnTo>
                  <a:lnTo>
                    <a:pt x="47448" y="347491"/>
                  </a:lnTo>
                  <a:lnTo>
                    <a:pt x="12730" y="328137"/>
                  </a:lnTo>
                  <a:lnTo>
                    <a:pt x="0" y="304437"/>
                  </a:lnTo>
                  <a:lnTo>
                    <a:pt x="0" y="60887"/>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79" name="Google Shape;479;p15"/>
            <p:cNvSpPr/>
            <p:nvPr/>
          </p:nvSpPr>
          <p:spPr>
            <a:xfrm>
              <a:off x="1364149" y="1647675"/>
              <a:ext cx="840740" cy="321310"/>
            </a:xfrm>
            <a:custGeom>
              <a:rect b="b" l="l" r="r" t="t"/>
              <a:pathLst>
                <a:path extrusionOk="0" h="321310" w="840739">
                  <a:moveTo>
                    <a:pt x="786748" y="321299"/>
                  </a:moveTo>
                  <a:lnTo>
                    <a:pt x="53551" y="321299"/>
                  </a:lnTo>
                  <a:lnTo>
                    <a:pt x="32706" y="317091"/>
                  </a:lnTo>
                  <a:lnTo>
                    <a:pt x="15684" y="305615"/>
                  </a:lnTo>
                  <a:lnTo>
                    <a:pt x="4208" y="288593"/>
                  </a:lnTo>
                  <a:lnTo>
                    <a:pt x="0" y="267748"/>
                  </a:lnTo>
                  <a:lnTo>
                    <a:pt x="0" y="53550"/>
                  </a:lnTo>
                  <a:lnTo>
                    <a:pt x="15684" y="15684"/>
                  </a:lnTo>
                  <a:lnTo>
                    <a:pt x="53551" y="0"/>
                  </a:lnTo>
                  <a:lnTo>
                    <a:pt x="786748" y="0"/>
                  </a:lnTo>
                  <a:lnTo>
                    <a:pt x="824615" y="15684"/>
                  </a:lnTo>
                  <a:lnTo>
                    <a:pt x="840299" y="53550"/>
                  </a:lnTo>
                  <a:lnTo>
                    <a:pt x="840299" y="267748"/>
                  </a:lnTo>
                  <a:lnTo>
                    <a:pt x="836091" y="288593"/>
                  </a:lnTo>
                  <a:lnTo>
                    <a:pt x="824615" y="305615"/>
                  </a:lnTo>
                  <a:lnTo>
                    <a:pt x="807593" y="317091"/>
                  </a:lnTo>
                  <a:lnTo>
                    <a:pt x="786748" y="3212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80" name="Google Shape;480;p15"/>
          <p:cNvSpPr txBox="1"/>
          <p:nvPr/>
        </p:nvSpPr>
        <p:spPr>
          <a:xfrm>
            <a:off x="1475384" y="1699041"/>
            <a:ext cx="631190"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1200">
                <a:solidFill>
                  <a:srgbClr val="FFFFFF"/>
                </a:solidFill>
                <a:latin typeface="Arial"/>
                <a:ea typeface="Arial"/>
                <a:cs typeface="Arial"/>
                <a:sym typeface="Arial"/>
              </a:rPr>
              <a:t>Retriever</a:t>
            </a:r>
            <a:endParaRPr sz="1200">
              <a:latin typeface="Arial"/>
              <a:ea typeface="Arial"/>
              <a:cs typeface="Arial"/>
              <a:sym typeface="Arial"/>
            </a:endParaRPr>
          </a:p>
        </p:txBody>
      </p:sp>
      <p:grpSp>
        <p:nvGrpSpPr>
          <p:cNvPr id="481" name="Google Shape;481;p15"/>
          <p:cNvGrpSpPr/>
          <p:nvPr/>
        </p:nvGrpSpPr>
        <p:grpSpPr>
          <a:xfrm>
            <a:off x="1086149" y="1309984"/>
            <a:ext cx="2676261" cy="899685"/>
            <a:chOff x="1086149" y="1309984"/>
            <a:chExt cx="2676261" cy="899685"/>
          </a:xfrm>
        </p:grpSpPr>
        <p:sp>
          <p:nvSpPr>
            <p:cNvPr id="482" name="Google Shape;482;p15"/>
            <p:cNvSpPr/>
            <p:nvPr/>
          </p:nvSpPr>
          <p:spPr>
            <a:xfrm>
              <a:off x="1784300" y="1350974"/>
              <a:ext cx="210185" cy="297180"/>
            </a:xfrm>
            <a:custGeom>
              <a:rect b="b" l="l" r="r" t="t"/>
              <a:pathLst>
                <a:path extrusionOk="0" h="297180" w="210185">
                  <a:moveTo>
                    <a:pt x="0" y="296699"/>
                  </a:moveTo>
                  <a:lnTo>
                    <a:pt x="0" y="0"/>
                  </a:lnTo>
                  <a:lnTo>
                    <a:pt x="209699"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83" name="Google Shape;483;p15"/>
            <p:cNvPicPr preferRelativeResize="0"/>
            <p:nvPr/>
          </p:nvPicPr>
          <p:blipFill rotWithShape="1">
            <a:blip r:embed="rId4">
              <a:alphaModFix/>
            </a:blip>
            <a:srcRect b="0" l="0" r="0" t="0"/>
            <a:stretch/>
          </p:blipFill>
          <p:spPr>
            <a:xfrm>
              <a:off x="1984474" y="1309984"/>
              <a:ext cx="105500" cy="81980"/>
            </a:xfrm>
            <a:prstGeom prst="rect">
              <a:avLst/>
            </a:prstGeom>
            <a:noFill/>
            <a:ln>
              <a:noFill/>
            </a:ln>
          </p:spPr>
        </p:pic>
        <p:pic>
          <p:nvPicPr>
            <p:cNvPr id="484" name="Google Shape;484;p15"/>
            <p:cNvPicPr preferRelativeResize="0"/>
            <p:nvPr/>
          </p:nvPicPr>
          <p:blipFill rotWithShape="1">
            <a:blip r:embed="rId5">
              <a:alphaModFix/>
            </a:blip>
            <a:srcRect b="0" l="0" r="0" t="0"/>
            <a:stretch/>
          </p:blipFill>
          <p:spPr>
            <a:xfrm>
              <a:off x="1086149" y="1767334"/>
              <a:ext cx="259775" cy="81980"/>
            </a:xfrm>
            <a:prstGeom prst="rect">
              <a:avLst/>
            </a:prstGeom>
            <a:noFill/>
            <a:ln>
              <a:noFill/>
            </a:ln>
          </p:spPr>
        </p:pic>
        <p:sp>
          <p:nvSpPr>
            <p:cNvPr id="485" name="Google Shape;485;p15"/>
            <p:cNvSpPr/>
            <p:nvPr/>
          </p:nvSpPr>
          <p:spPr>
            <a:xfrm>
              <a:off x="2885425" y="1350924"/>
              <a:ext cx="422909" cy="191135"/>
            </a:xfrm>
            <a:custGeom>
              <a:rect b="b" l="l" r="r" t="t"/>
              <a:pathLst>
                <a:path extrusionOk="0" h="191134" w="422910">
                  <a:moveTo>
                    <a:pt x="0" y="0"/>
                  </a:moveTo>
                  <a:lnTo>
                    <a:pt x="422399" y="0"/>
                  </a:lnTo>
                  <a:lnTo>
                    <a:pt x="422399" y="1907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86" name="Google Shape;486;p15"/>
            <p:cNvPicPr preferRelativeResize="0"/>
            <p:nvPr/>
          </p:nvPicPr>
          <p:blipFill rotWithShape="1">
            <a:blip r:embed="rId6">
              <a:alphaModFix/>
            </a:blip>
            <a:srcRect b="0" l="0" r="0" t="0"/>
            <a:stretch/>
          </p:blipFill>
          <p:spPr>
            <a:xfrm>
              <a:off x="3266834" y="1532199"/>
              <a:ext cx="81980" cy="105500"/>
            </a:xfrm>
            <a:prstGeom prst="rect">
              <a:avLst/>
            </a:prstGeom>
            <a:noFill/>
            <a:ln>
              <a:noFill/>
            </a:ln>
          </p:spPr>
        </p:pic>
        <p:sp>
          <p:nvSpPr>
            <p:cNvPr id="487" name="Google Shape;487;p15"/>
            <p:cNvSpPr/>
            <p:nvPr/>
          </p:nvSpPr>
          <p:spPr>
            <a:xfrm>
              <a:off x="2853725" y="1655949"/>
              <a:ext cx="908685" cy="553720"/>
            </a:xfrm>
            <a:custGeom>
              <a:rect b="b" l="l" r="r" t="t"/>
              <a:pathLst>
                <a:path extrusionOk="0" h="553719" w="908685">
                  <a:moveTo>
                    <a:pt x="0" y="553499"/>
                  </a:moveTo>
                  <a:lnTo>
                    <a:pt x="0" y="0"/>
                  </a:lnTo>
                  <a:lnTo>
                    <a:pt x="908399" y="0"/>
                  </a:lnTo>
                  <a:lnTo>
                    <a:pt x="908399" y="553499"/>
                  </a:lnTo>
                  <a:lnTo>
                    <a:pt x="0" y="553499"/>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88" name="Google Shape;488;p15"/>
            <p:cNvSpPr/>
            <p:nvPr/>
          </p:nvSpPr>
          <p:spPr>
            <a:xfrm>
              <a:off x="3025400" y="1759537"/>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89" name="Google Shape;489;p15"/>
            <p:cNvSpPr/>
            <p:nvPr/>
          </p:nvSpPr>
          <p:spPr>
            <a:xfrm>
              <a:off x="3025400" y="1759537"/>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90" name="Google Shape;490;p15"/>
            <p:cNvSpPr/>
            <p:nvPr/>
          </p:nvSpPr>
          <p:spPr>
            <a:xfrm>
              <a:off x="2987675" y="1800074"/>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91" name="Google Shape;491;p15"/>
            <p:cNvSpPr/>
            <p:nvPr/>
          </p:nvSpPr>
          <p:spPr>
            <a:xfrm>
              <a:off x="2987675" y="1800074"/>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92" name="Google Shape;492;p15"/>
          <p:cNvSpPr txBox="1"/>
          <p:nvPr/>
        </p:nvSpPr>
        <p:spPr>
          <a:xfrm>
            <a:off x="3130597" y="2210695"/>
            <a:ext cx="443230" cy="1778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000">
                <a:latin typeface="Arial"/>
                <a:ea typeface="Arial"/>
                <a:cs typeface="Arial"/>
                <a:sym typeface="Arial"/>
              </a:rPr>
              <a:t>Chunks</a:t>
            </a:r>
            <a:endParaRPr sz="1000">
              <a:latin typeface="Arial"/>
              <a:ea typeface="Arial"/>
              <a:cs typeface="Arial"/>
              <a:sym typeface="Arial"/>
            </a:endParaRPr>
          </a:p>
        </p:txBody>
      </p:sp>
      <p:sp>
        <p:nvSpPr>
          <p:cNvPr id="493" name="Google Shape;493;p15"/>
          <p:cNvSpPr/>
          <p:nvPr/>
        </p:nvSpPr>
        <p:spPr>
          <a:xfrm>
            <a:off x="3698825" y="846050"/>
            <a:ext cx="986155" cy="323215"/>
          </a:xfrm>
          <a:custGeom>
            <a:rect b="b" l="l" r="r" t="t"/>
            <a:pathLst>
              <a:path extrusionOk="0" h="323215" w="986154">
                <a:moveTo>
                  <a:pt x="885939" y="323099"/>
                </a:moveTo>
                <a:lnTo>
                  <a:pt x="99860" y="323099"/>
                </a:lnTo>
                <a:lnTo>
                  <a:pt x="60990" y="315252"/>
                </a:lnTo>
                <a:lnTo>
                  <a:pt x="29248" y="293851"/>
                </a:lnTo>
                <a:lnTo>
                  <a:pt x="7847" y="262109"/>
                </a:lnTo>
                <a:lnTo>
                  <a:pt x="0" y="223239"/>
                </a:lnTo>
                <a:lnTo>
                  <a:pt x="0" y="99860"/>
                </a:lnTo>
                <a:lnTo>
                  <a:pt x="7847" y="60990"/>
                </a:lnTo>
                <a:lnTo>
                  <a:pt x="29248" y="29248"/>
                </a:lnTo>
                <a:lnTo>
                  <a:pt x="60990" y="7847"/>
                </a:lnTo>
                <a:lnTo>
                  <a:pt x="99860" y="0"/>
                </a:lnTo>
                <a:lnTo>
                  <a:pt x="885939" y="0"/>
                </a:lnTo>
                <a:lnTo>
                  <a:pt x="924154" y="7601"/>
                </a:lnTo>
                <a:lnTo>
                  <a:pt x="956551" y="29248"/>
                </a:lnTo>
                <a:lnTo>
                  <a:pt x="978198" y="61645"/>
                </a:lnTo>
                <a:lnTo>
                  <a:pt x="985799" y="99860"/>
                </a:lnTo>
                <a:lnTo>
                  <a:pt x="985799" y="223239"/>
                </a:lnTo>
                <a:lnTo>
                  <a:pt x="977952" y="262109"/>
                </a:lnTo>
                <a:lnTo>
                  <a:pt x="956551" y="293851"/>
                </a:lnTo>
                <a:lnTo>
                  <a:pt x="924809" y="315252"/>
                </a:lnTo>
                <a:lnTo>
                  <a:pt x="885939" y="3230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94" name="Google Shape;494;p15"/>
          <p:cNvSpPr txBox="1"/>
          <p:nvPr/>
        </p:nvSpPr>
        <p:spPr>
          <a:xfrm>
            <a:off x="3838297" y="913620"/>
            <a:ext cx="720090" cy="1778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000">
                <a:solidFill>
                  <a:srgbClr val="FFFFFF"/>
                </a:solidFill>
                <a:latin typeface="Arial"/>
                <a:ea typeface="Arial"/>
                <a:cs typeface="Arial"/>
                <a:sym typeface="Arial"/>
              </a:rPr>
              <a:t>Compressor</a:t>
            </a:r>
            <a:endParaRPr sz="1000">
              <a:latin typeface="Arial"/>
              <a:ea typeface="Arial"/>
              <a:cs typeface="Arial"/>
              <a:sym typeface="Arial"/>
            </a:endParaRPr>
          </a:p>
        </p:txBody>
      </p:sp>
      <p:grpSp>
        <p:nvGrpSpPr>
          <p:cNvPr id="495" name="Google Shape;495;p15"/>
          <p:cNvGrpSpPr/>
          <p:nvPr/>
        </p:nvGrpSpPr>
        <p:grpSpPr>
          <a:xfrm>
            <a:off x="3438724" y="966609"/>
            <a:ext cx="1542885" cy="1243060"/>
            <a:chOff x="3438724" y="966609"/>
            <a:chExt cx="1542885" cy="1243060"/>
          </a:xfrm>
        </p:grpSpPr>
        <p:sp>
          <p:nvSpPr>
            <p:cNvPr id="496" name="Google Shape;496;p15"/>
            <p:cNvSpPr/>
            <p:nvPr/>
          </p:nvSpPr>
          <p:spPr>
            <a:xfrm>
              <a:off x="3438724" y="1007600"/>
              <a:ext cx="146050" cy="631825"/>
            </a:xfrm>
            <a:custGeom>
              <a:rect b="b" l="l" r="r" t="t"/>
              <a:pathLst>
                <a:path extrusionOk="0" h="631825" w="146050">
                  <a:moveTo>
                    <a:pt x="0" y="631199"/>
                  </a:moveTo>
                  <a:lnTo>
                    <a:pt x="0" y="0"/>
                  </a:lnTo>
                  <a:lnTo>
                    <a:pt x="145799"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97" name="Google Shape;497;p15"/>
            <p:cNvPicPr preferRelativeResize="0"/>
            <p:nvPr/>
          </p:nvPicPr>
          <p:blipFill rotWithShape="1">
            <a:blip r:embed="rId4">
              <a:alphaModFix/>
            </a:blip>
            <a:srcRect b="0" l="0" r="0" t="0"/>
            <a:stretch/>
          </p:blipFill>
          <p:spPr>
            <a:xfrm>
              <a:off x="3574999" y="966609"/>
              <a:ext cx="105500" cy="81980"/>
            </a:xfrm>
            <a:prstGeom prst="rect">
              <a:avLst/>
            </a:prstGeom>
            <a:noFill/>
            <a:ln>
              <a:noFill/>
            </a:ln>
          </p:spPr>
        </p:pic>
        <p:sp>
          <p:nvSpPr>
            <p:cNvPr id="498" name="Google Shape;498;p15"/>
            <p:cNvSpPr/>
            <p:nvPr/>
          </p:nvSpPr>
          <p:spPr>
            <a:xfrm>
              <a:off x="4072924" y="1655949"/>
              <a:ext cx="908685" cy="553720"/>
            </a:xfrm>
            <a:custGeom>
              <a:rect b="b" l="l" r="r" t="t"/>
              <a:pathLst>
                <a:path extrusionOk="0" h="553719" w="908685">
                  <a:moveTo>
                    <a:pt x="0" y="553499"/>
                  </a:moveTo>
                  <a:lnTo>
                    <a:pt x="0" y="0"/>
                  </a:lnTo>
                  <a:lnTo>
                    <a:pt x="908399" y="0"/>
                  </a:lnTo>
                  <a:lnTo>
                    <a:pt x="908399" y="553499"/>
                  </a:lnTo>
                  <a:lnTo>
                    <a:pt x="0" y="553499"/>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99" name="Google Shape;499;p15"/>
            <p:cNvSpPr/>
            <p:nvPr/>
          </p:nvSpPr>
          <p:spPr>
            <a:xfrm>
              <a:off x="4244600" y="1759537"/>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78909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00" name="Google Shape;500;p15"/>
            <p:cNvSpPr/>
            <p:nvPr/>
          </p:nvSpPr>
          <p:spPr>
            <a:xfrm>
              <a:off x="4244600" y="1759537"/>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01" name="Google Shape;501;p15"/>
            <p:cNvSpPr/>
            <p:nvPr/>
          </p:nvSpPr>
          <p:spPr>
            <a:xfrm>
              <a:off x="4206875" y="1800075"/>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78909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02" name="Google Shape;502;p15"/>
            <p:cNvSpPr/>
            <p:nvPr/>
          </p:nvSpPr>
          <p:spPr>
            <a:xfrm>
              <a:off x="4206875" y="1800075"/>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03" name="Google Shape;503;p15"/>
          <p:cNvSpPr txBox="1"/>
          <p:nvPr/>
        </p:nvSpPr>
        <p:spPr>
          <a:xfrm>
            <a:off x="4197655" y="2195095"/>
            <a:ext cx="732155" cy="330200"/>
          </a:xfrm>
          <a:prstGeom prst="rect">
            <a:avLst/>
          </a:prstGeom>
          <a:noFill/>
          <a:ln>
            <a:noFill/>
          </a:ln>
        </p:spPr>
        <p:txBody>
          <a:bodyPr anchorCtr="0" anchor="t" bIns="0" lIns="0" spcFirstLastPara="1" rIns="0" wrap="square" tIns="12700">
            <a:spAutoFit/>
          </a:bodyPr>
          <a:lstStyle/>
          <a:p>
            <a:pPr indent="144145" lvl="0" marL="0" marR="5080" rtl="0" algn="l">
              <a:lnSpc>
                <a:spcPct val="100000"/>
              </a:lnSpc>
              <a:spcBef>
                <a:spcPts val="0"/>
              </a:spcBef>
              <a:spcAft>
                <a:spcPts val="0"/>
              </a:spcAft>
              <a:buNone/>
            </a:pPr>
            <a:r>
              <a:rPr b="1" lang="en-US" sz="1000">
                <a:latin typeface="Arial"/>
                <a:ea typeface="Arial"/>
                <a:cs typeface="Arial"/>
                <a:sym typeface="Arial"/>
              </a:rPr>
              <a:t>Chunks Compressed</a:t>
            </a:r>
            <a:endParaRPr sz="1000">
              <a:latin typeface="Arial"/>
              <a:ea typeface="Arial"/>
              <a:cs typeface="Arial"/>
              <a:sym typeface="Arial"/>
            </a:endParaRPr>
          </a:p>
        </p:txBody>
      </p:sp>
      <p:grpSp>
        <p:nvGrpSpPr>
          <p:cNvPr id="504" name="Google Shape;504;p15"/>
          <p:cNvGrpSpPr/>
          <p:nvPr/>
        </p:nvGrpSpPr>
        <p:grpSpPr>
          <a:xfrm>
            <a:off x="927975" y="1007600"/>
            <a:ext cx="3939839" cy="2418309"/>
            <a:chOff x="927975" y="1007600"/>
            <a:chExt cx="3939839" cy="2418309"/>
          </a:xfrm>
        </p:grpSpPr>
        <p:sp>
          <p:nvSpPr>
            <p:cNvPr id="505" name="Google Shape;505;p15"/>
            <p:cNvSpPr/>
            <p:nvPr/>
          </p:nvSpPr>
          <p:spPr>
            <a:xfrm>
              <a:off x="4684625" y="1007600"/>
              <a:ext cx="142240" cy="514984"/>
            </a:xfrm>
            <a:custGeom>
              <a:rect b="b" l="l" r="r" t="t"/>
              <a:pathLst>
                <a:path extrusionOk="0" h="514984" w="142239">
                  <a:moveTo>
                    <a:pt x="0" y="0"/>
                  </a:moveTo>
                  <a:lnTo>
                    <a:pt x="142199" y="0"/>
                  </a:lnTo>
                  <a:lnTo>
                    <a:pt x="142199" y="5147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506" name="Google Shape;506;p15"/>
            <p:cNvPicPr preferRelativeResize="0"/>
            <p:nvPr/>
          </p:nvPicPr>
          <p:blipFill rotWithShape="1">
            <a:blip r:embed="rId6">
              <a:alphaModFix/>
            </a:blip>
            <a:srcRect b="0" l="0" r="0" t="0"/>
            <a:stretch/>
          </p:blipFill>
          <p:spPr>
            <a:xfrm>
              <a:off x="4785834" y="1512875"/>
              <a:ext cx="81980" cy="105500"/>
            </a:xfrm>
            <a:prstGeom prst="rect">
              <a:avLst/>
            </a:prstGeom>
            <a:noFill/>
            <a:ln>
              <a:noFill/>
            </a:ln>
          </p:spPr>
        </p:pic>
        <p:sp>
          <p:nvSpPr>
            <p:cNvPr id="507" name="Google Shape;507;p15"/>
            <p:cNvSpPr/>
            <p:nvPr/>
          </p:nvSpPr>
          <p:spPr>
            <a:xfrm>
              <a:off x="927975" y="3104599"/>
              <a:ext cx="640715" cy="321310"/>
            </a:xfrm>
            <a:custGeom>
              <a:rect b="b" l="l" r="r" t="t"/>
              <a:pathLst>
                <a:path extrusionOk="0" h="321310" w="640715">
                  <a:moveTo>
                    <a:pt x="0" y="53550"/>
                  </a:moveTo>
                  <a:lnTo>
                    <a:pt x="4208" y="32706"/>
                  </a:lnTo>
                  <a:lnTo>
                    <a:pt x="15684" y="15684"/>
                  </a:lnTo>
                  <a:lnTo>
                    <a:pt x="32706" y="4208"/>
                  </a:lnTo>
                  <a:lnTo>
                    <a:pt x="53551" y="0"/>
                  </a:lnTo>
                  <a:lnTo>
                    <a:pt x="586948" y="0"/>
                  </a:lnTo>
                  <a:lnTo>
                    <a:pt x="624815" y="15684"/>
                  </a:lnTo>
                  <a:lnTo>
                    <a:pt x="640499" y="53550"/>
                  </a:lnTo>
                  <a:lnTo>
                    <a:pt x="640499" y="267748"/>
                  </a:lnTo>
                  <a:lnTo>
                    <a:pt x="636291" y="288593"/>
                  </a:lnTo>
                  <a:lnTo>
                    <a:pt x="624815" y="305615"/>
                  </a:lnTo>
                  <a:lnTo>
                    <a:pt x="607793" y="317091"/>
                  </a:lnTo>
                  <a:lnTo>
                    <a:pt x="586948" y="321299"/>
                  </a:lnTo>
                  <a:lnTo>
                    <a:pt x="53551" y="321299"/>
                  </a:lnTo>
                  <a:lnTo>
                    <a:pt x="32706" y="317091"/>
                  </a:lnTo>
                  <a:lnTo>
                    <a:pt x="15684" y="305615"/>
                  </a:lnTo>
                  <a:lnTo>
                    <a:pt x="4208" y="288593"/>
                  </a:lnTo>
                  <a:lnTo>
                    <a:pt x="0" y="267748"/>
                  </a:lnTo>
                  <a:lnTo>
                    <a:pt x="0" y="5355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08" name="Google Shape;508;p15"/>
          <p:cNvSpPr txBox="1"/>
          <p:nvPr/>
        </p:nvSpPr>
        <p:spPr>
          <a:xfrm>
            <a:off x="5365150" y="796563"/>
            <a:ext cx="2967990" cy="17322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solidFill>
                  <a:srgbClr val="595959"/>
                </a:solidFill>
                <a:latin typeface="Arial"/>
                <a:ea typeface="Arial"/>
                <a:cs typeface="Arial"/>
                <a:sym typeface="Arial"/>
              </a:rPr>
              <a:t>Used when relevance scores are low.</a:t>
            </a:r>
            <a:endParaRPr sz="1400">
              <a:latin typeface="Arial"/>
              <a:ea typeface="Arial"/>
              <a:cs typeface="Arial"/>
              <a:sym typeface="Arial"/>
            </a:endParaRPr>
          </a:p>
          <a:p>
            <a:pPr indent="0" lvl="0" marL="0" rtl="0" algn="l">
              <a:lnSpc>
                <a:spcPct val="100000"/>
              </a:lnSpc>
              <a:spcBef>
                <a:spcPts val="70"/>
              </a:spcBef>
              <a:spcAft>
                <a:spcPts val="0"/>
              </a:spcAft>
              <a:buNone/>
            </a:pPr>
            <a:r>
              <a:t/>
            </a:r>
            <a:endParaRPr sz="1400">
              <a:latin typeface="Arial"/>
              <a:ea typeface="Arial"/>
              <a:cs typeface="Arial"/>
              <a:sym typeface="Arial"/>
            </a:endParaRPr>
          </a:p>
          <a:p>
            <a:pPr indent="0" lvl="0" marL="12700" marR="225425" rtl="0" algn="l">
              <a:lnSpc>
                <a:spcPct val="100000"/>
              </a:lnSpc>
              <a:spcBef>
                <a:spcPts val="0"/>
              </a:spcBef>
              <a:spcAft>
                <a:spcPts val="0"/>
              </a:spcAft>
              <a:buNone/>
            </a:pPr>
            <a:r>
              <a:rPr lang="en-US" sz="1400">
                <a:solidFill>
                  <a:srgbClr val="595959"/>
                </a:solidFill>
                <a:latin typeface="Arial"/>
                <a:ea typeface="Arial"/>
                <a:cs typeface="Arial"/>
                <a:sym typeface="Arial"/>
              </a:rPr>
              <a:t>A compressor is used to remove irrelevant portions of the retrieved document chunks.</a:t>
            </a:r>
            <a:endParaRPr sz="1400">
              <a:latin typeface="Arial"/>
              <a:ea typeface="Arial"/>
              <a:cs typeface="Arial"/>
              <a:sym typeface="Arial"/>
            </a:endParaRPr>
          </a:p>
          <a:p>
            <a:pPr indent="0" lvl="0" marL="0" rtl="0" algn="l">
              <a:lnSpc>
                <a:spcPct val="100000"/>
              </a:lnSpc>
              <a:spcBef>
                <a:spcPts val="70"/>
              </a:spcBef>
              <a:spcAft>
                <a:spcPts val="0"/>
              </a:spcAft>
              <a:buNone/>
            </a:pPr>
            <a:r>
              <a:t/>
            </a:r>
            <a:endParaRPr sz="1400">
              <a:latin typeface="Arial"/>
              <a:ea typeface="Arial"/>
              <a:cs typeface="Arial"/>
              <a:sym typeface="Arial"/>
            </a:endParaRPr>
          </a:p>
          <a:p>
            <a:pPr indent="0" lvl="0" marL="12700" marR="396875" rtl="0" algn="l">
              <a:lnSpc>
                <a:spcPct val="100000"/>
              </a:lnSpc>
              <a:spcBef>
                <a:spcPts val="0"/>
              </a:spcBef>
              <a:spcAft>
                <a:spcPts val="0"/>
              </a:spcAft>
              <a:buNone/>
            </a:pPr>
            <a:r>
              <a:rPr lang="en-US" sz="1400">
                <a:solidFill>
                  <a:srgbClr val="595959"/>
                </a:solidFill>
                <a:latin typeface="Arial"/>
                <a:ea typeface="Arial"/>
                <a:cs typeface="Arial"/>
                <a:sym typeface="Arial"/>
              </a:rPr>
              <a:t>Compressed chunks are used as context.</a:t>
            </a:r>
            <a:endParaRPr sz="1400">
              <a:latin typeface="Arial"/>
              <a:ea typeface="Arial"/>
              <a:cs typeface="Arial"/>
              <a:sym typeface="Arial"/>
            </a:endParaRPr>
          </a:p>
        </p:txBody>
      </p:sp>
      <p:sp>
        <p:nvSpPr>
          <p:cNvPr id="509" name="Google Shape;509;p15"/>
          <p:cNvSpPr txBox="1"/>
          <p:nvPr/>
        </p:nvSpPr>
        <p:spPr>
          <a:xfrm>
            <a:off x="435675" y="2711663"/>
            <a:ext cx="1082675" cy="65278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b="1" lang="en-US" sz="1400">
                <a:latin typeface="Arial"/>
                <a:ea typeface="Arial"/>
                <a:cs typeface="Arial"/>
                <a:sym typeface="Arial"/>
              </a:rPr>
              <a:t>Compression</a:t>
            </a:r>
            <a:endParaRPr sz="1400">
              <a:latin typeface="Arial"/>
              <a:ea typeface="Arial"/>
              <a:cs typeface="Arial"/>
              <a:sym typeface="Arial"/>
            </a:endParaRPr>
          </a:p>
          <a:p>
            <a:pPr indent="0" lvl="0" marL="0" rtl="0" algn="l">
              <a:lnSpc>
                <a:spcPct val="100000"/>
              </a:lnSpc>
              <a:spcBef>
                <a:spcPts val="204"/>
              </a:spcBef>
              <a:spcAft>
                <a:spcPts val="0"/>
              </a:spcAft>
              <a:buNone/>
            </a:pPr>
            <a:r>
              <a:t/>
            </a:r>
            <a:endParaRPr sz="1400">
              <a:latin typeface="Arial"/>
              <a:ea typeface="Arial"/>
              <a:cs typeface="Arial"/>
              <a:sym typeface="Arial"/>
            </a:endParaRPr>
          </a:p>
          <a:p>
            <a:pPr indent="0" lvl="0" marL="0" marR="59690" rtl="0" algn="r">
              <a:lnSpc>
                <a:spcPct val="100000"/>
              </a:lnSpc>
              <a:spcBef>
                <a:spcPts val="0"/>
              </a:spcBef>
              <a:spcAft>
                <a:spcPts val="0"/>
              </a:spcAft>
              <a:buNone/>
            </a:pPr>
            <a:r>
              <a:rPr lang="en-US" sz="1200">
                <a:latin typeface="Arial"/>
                <a:ea typeface="Arial"/>
                <a:cs typeface="Arial"/>
                <a:sym typeface="Arial"/>
              </a:rPr>
              <a:t>Query</a:t>
            </a:r>
            <a:endParaRPr sz="1200">
              <a:latin typeface="Arial"/>
              <a:ea typeface="Arial"/>
              <a:cs typeface="Arial"/>
              <a:sym typeface="Arial"/>
            </a:endParaRPr>
          </a:p>
        </p:txBody>
      </p:sp>
      <p:grpSp>
        <p:nvGrpSpPr>
          <p:cNvPr id="510" name="Google Shape;510;p15"/>
          <p:cNvGrpSpPr/>
          <p:nvPr/>
        </p:nvGrpSpPr>
        <p:grpSpPr>
          <a:xfrm>
            <a:off x="2471574" y="3016100"/>
            <a:ext cx="986155" cy="410209"/>
            <a:chOff x="2471574" y="3016100"/>
            <a:chExt cx="986155" cy="410209"/>
          </a:xfrm>
        </p:grpSpPr>
        <p:sp>
          <p:nvSpPr>
            <p:cNvPr id="511" name="Google Shape;511;p15"/>
            <p:cNvSpPr/>
            <p:nvPr/>
          </p:nvSpPr>
          <p:spPr>
            <a:xfrm>
              <a:off x="2471574" y="3016100"/>
              <a:ext cx="986155" cy="410209"/>
            </a:xfrm>
            <a:custGeom>
              <a:rect b="b" l="l" r="r" t="t"/>
              <a:pathLst>
                <a:path extrusionOk="0" h="410210" w="986154">
                  <a:moveTo>
                    <a:pt x="917498" y="409799"/>
                  </a:moveTo>
                  <a:lnTo>
                    <a:pt x="68301" y="409799"/>
                  </a:lnTo>
                  <a:lnTo>
                    <a:pt x="41715" y="404432"/>
                  </a:lnTo>
                  <a:lnTo>
                    <a:pt x="20004" y="389794"/>
                  </a:lnTo>
                  <a:lnTo>
                    <a:pt x="5367" y="368084"/>
                  </a:lnTo>
                  <a:lnTo>
                    <a:pt x="0" y="341498"/>
                  </a:lnTo>
                  <a:lnTo>
                    <a:pt x="0" y="68301"/>
                  </a:lnTo>
                  <a:lnTo>
                    <a:pt x="5367" y="41715"/>
                  </a:lnTo>
                  <a:lnTo>
                    <a:pt x="20004" y="20004"/>
                  </a:lnTo>
                  <a:lnTo>
                    <a:pt x="41715" y="5367"/>
                  </a:lnTo>
                  <a:lnTo>
                    <a:pt x="68301" y="0"/>
                  </a:lnTo>
                  <a:lnTo>
                    <a:pt x="917498" y="0"/>
                  </a:lnTo>
                  <a:lnTo>
                    <a:pt x="955392" y="11475"/>
                  </a:lnTo>
                  <a:lnTo>
                    <a:pt x="980600" y="42163"/>
                  </a:lnTo>
                  <a:lnTo>
                    <a:pt x="985799" y="68301"/>
                  </a:lnTo>
                  <a:lnTo>
                    <a:pt x="985799" y="341498"/>
                  </a:lnTo>
                  <a:lnTo>
                    <a:pt x="980432" y="368084"/>
                  </a:lnTo>
                  <a:lnTo>
                    <a:pt x="965794" y="389794"/>
                  </a:lnTo>
                  <a:lnTo>
                    <a:pt x="944084" y="404432"/>
                  </a:lnTo>
                  <a:lnTo>
                    <a:pt x="917498" y="409799"/>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12" name="Google Shape;512;p15"/>
            <p:cNvSpPr/>
            <p:nvPr/>
          </p:nvSpPr>
          <p:spPr>
            <a:xfrm>
              <a:off x="2471574" y="3016100"/>
              <a:ext cx="986155" cy="410209"/>
            </a:xfrm>
            <a:custGeom>
              <a:rect b="b" l="l" r="r" t="t"/>
              <a:pathLst>
                <a:path extrusionOk="0" h="410210" w="986154">
                  <a:moveTo>
                    <a:pt x="0" y="68301"/>
                  </a:moveTo>
                  <a:lnTo>
                    <a:pt x="5367" y="41715"/>
                  </a:lnTo>
                  <a:lnTo>
                    <a:pt x="20004" y="20004"/>
                  </a:lnTo>
                  <a:lnTo>
                    <a:pt x="41715" y="5367"/>
                  </a:lnTo>
                  <a:lnTo>
                    <a:pt x="68301" y="0"/>
                  </a:lnTo>
                  <a:lnTo>
                    <a:pt x="917498" y="0"/>
                  </a:lnTo>
                  <a:lnTo>
                    <a:pt x="955392" y="11475"/>
                  </a:lnTo>
                  <a:lnTo>
                    <a:pt x="980600" y="42163"/>
                  </a:lnTo>
                  <a:lnTo>
                    <a:pt x="985799" y="68301"/>
                  </a:lnTo>
                  <a:lnTo>
                    <a:pt x="985799" y="341498"/>
                  </a:lnTo>
                  <a:lnTo>
                    <a:pt x="980432" y="368084"/>
                  </a:lnTo>
                  <a:lnTo>
                    <a:pt x="965794" y="389794"/>
                  </a:lnTo>
                  <a:lnTo>
                    <a:pt x="944084" y="404432"/>
                  </a:lnTo>
                  <a:lnTo>
                    <a:pt x="917498" y="409799"/>
                  </a:lnTo>
                  <a:lnTo>
                    <a:pt x="68301" y="409799"/>
                  </a:lnTo>
                  <a:lnTo>
                    <a:pt x="41715" y="404432"/>
                  </a:lnTo>
                  <a:lnTo>
                    <a:pt x="20004" y="389794"/>
                  </a:lnTo>
                  <a:lnTo>
                    <a:pt x="5367" y="368084"/>
                  </a:lnTo>
                  <a:lnTo>
                    <a:pt x="0" y="341498"/>
                  </a:lnTo>
                  <a:lnTo>
                    <a:pt x="0" y="68301"/>
                  </a:lnTo>
                  <a:close/>
                </a:path>
              </a:pathLst>
            </a:custGeom>
            <a:noFill/>
            <a:ln cap="flat" cmpd="sng" w="9525">
              <a:solidFill>
                <a:srgbClr val="FFAB4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13" name="Google Shape;513;p15"/>
          <p:cNvSpPr txBox="1"/>
          <p:nvPr/>
        </p:nvSpPr>
        <p:spPr>
          <a:xfrm>
            <a:off x="2577305" y="3021229"/>
            <a:ext cx="718185" cy="389255"/>
          </a:xfrm>
          <a:prstGeom prst="rect">
            <a:avLst/>
          </a:prstGeom>
          <a:noFill/>
          <a:ln>
            <a:noFill/>
          </a:ln>
        </p:spPr>
        <p:txBody>
          <a:bodyPr anchorCtr="0" anchor="t" bIns="0" lIns="0" spcFirstLastPara="1" rIns="0" wrap="square" tIns="19675">
            <a:spAutoFit/>
          </a:bodyPr>
          <a:lstStyle/>
          <a:p>
            <a:pPr indent="0" lvl="0" marL="0" marR="5080" rtl="0" algn="l">
              <a:lnSpc>
                <a:spcPct val="119166"/>
              </a:lnSpc>
              <a:spcBef>
                <a:spcPts val="0"/>
              </a:spcBef>
              <a:spcAft>
                <a:spcPts val="0"/>
              </a:spcAft>
              <a:buNone/>
            </a:pPr>
            <a:r>
              <a:rPr lang="en-US" sz="1200">
                <a:latin typeface="Arial"/>
                <a:ea typeface="Arial"/>
                <a:cs typeface="Arial"/>
                <a:sym typeface="Arial"/>
              </a:rPr>
              <a:t>Document Chunk</a:t>
            </a:r>
            <a:endParaRPr sz="1200">
              <a:latin typeface="Arial"/>
              <a:ea typeface="Arial"/>
              <a:cs typeface="Arial"/>
              <a:sym typeface="Arial"/>
            </a:endParaRPr>
          </a:p>
        </p:txBody>
      </p:sp>
      <p:sp>
        <p:nvSpPr>
          <p:cNvPr id="514" name="Google Shape;514;p15"/>
          <p:cNvSpPr/>
          <p:nvPr/>
        </p:nvSpPr>
        <p:spPr>
          <a:xfrm>
            <a:off x="1694575" y="3983825"/>
            <a:ext cx="777240" cy="365760"/>
          </a:xfrm>
          <a:custGeom>
            <a:rect b="b" l="l" r="r" t="t"/>
            <a:pathLst>
              <a:path extrusionOk="0" h="365760" w="777239">
                <a:moveTo>
                  <a:pt x="664065" y="365399"/>
                </a:moveTo>
                <a:lnTo>
                  <a:pt x="112934" y="365399"/>
                </a:lnTo>
                <a:lnTo>
                  <a:pt x="68975" y="356525"/>
                </a:lnTo>
                <a:lnTo>
                  <a:pt x="33077" y="332322"/>
                </a:lnTo>
                <a:lnTo>
                  <a:pt x="8874" y="296424"/>
                </a:lnTo>
                <a:lnTo>
                  <a:pt x="0" y="252465"/>
                </a:lnTo>
                <a:lnTo>
                  <a:pt x="0" y="112933"/>
                </a:lnTo>
                <a:lnTo>
                  <a:pt x="8874" y="68975"/>
                </a:lnTo>
                <a:lnTo>
                  <a:pt x="33077" y="33077"/>
                </a:lnTo>
                <a:lnTo>
                  <a:pt x="68975" y="8874"/>
                </a:lnTo>
                <a:lnTo>
                  <a:pt x="112934" y="0"/>
                </a:lnTo>
                <a:lnTo>
                  <a:pt x="664065" y="0"/>
                </a:lnTo>
                <a:lnTo>
                  <a:pt x="707283" y="8596"/>
                </a:lnTo>
                <a:lnTo>
                  <a:pt x="743922" y="33077"/>
                </a:lnTo>
                <a:lnTo>
                  <a:pt x="768403" y="69716"/>
                </a:lnTo>
                <a:lnTo>
                  <a:pt x="776999" y="112933"/>
                </a:lnTo>
                <a:lnTo>
                  <a:pt x="776999" y="252465"/>
                </a:lnTo>
                <a:lnTo>
                  <a:pt x="768125" y="296424"/>
                </a:lnTo>
                <a:lnTo>
                  <a:pt x="743922" y="332322"/>
                </a:lnTo>
                <a:lnTo>
                  <a:pt x="708024" y="356525"/>
                </a:lnTo>
                <a:lnTo>
                  <a:pt x="664065" y="3653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15" name="Google Shape;515;p15"/>
          <p:cNvSpPr txBox="1"/>
          <p:nvPr/>
        </p:nvSpPr>
        <p:spPr>
          <a:xfrm>
            <a:off x="1956632" y="4072544"/>
            <a:ext cx="266065" cy="1778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000">
                <a:solidFill>
                  <a:srgbClr val="FFFFFF"/>
                </a:solidFill>
                <a:latin typeface="Arial"/>
                <a:ea typeface="Arial"/>
                <a:cs typeface="Arial"/>
                <a:sym typeface="Arial"/>
              </a:rPr>
              <a:t>LLM</a:t>
            </a:r>
            <a:endParaRPr sz="1000">
              <a:latin typeface="Arial"/>
              <a:ea typeface="Arial"/>
              <a:cs typeface="Arial"/>
              <a:sym typeface="Arial"/>
            </a:endParaRPr>
          </a:p>
        </p:txBody>
      </p:sp>
      <p:grpSp>
        <p:nvGrpSpPr>
          <p:cNvPr id="516" name="Google Shape;516;p15"/>
          <p:cNvGrpSpPr/>
          <p:nvPr/>
        </p:nvGrpSpPr>
        <p:grpSpPr>
          <a:xfrm>
            <a:off x="1248224" y="3425899"/>
            <a:ext cx="1716865" cy="1127302"/>
            <a:chOff x="1248224" y="3425899"/>
            <a:chExt cx="1716865" cy="1127302"/>
          </a:xfrm>
        </p:grpSpPr>
        <p:sp>
          <p:nvSpPr>
            <p:cNvPr id="517" name="Google Shape;517;p15"/>
            <p:cNvSpPr/>
            <p:nvPr/>
          </p:nvSpPr>
          <p:spPr>
            <a:xfrm>
              <a:off x="1248224" y="3425899"/>
              <a:ext cx="835025" cy="443865"/>
            </a:xfrm>
            <a:custGeom>
              <a:rect b="b" l="l" r="r" t="t"/>
              <a:pathLst>
                <a:path extrusionOk="0" h="443864" w="835025">
                  <a:moveTo>
                    <a:pt x="0" y="0"/>
                  </a:moveTo>
                  <a:lnTo>
                    <a:pt x="0" y="278960"/>
                  </a:lnTo>
                  <a:lnTo>
                    <a:pt x="834899" y="278960"/>
                  </a:lnTo>
                  <a:lnTo>
                    <a:pt x="834899" y="4436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518" name="Google Shape;518;p15"/>
            <p:cNvPicPr preferRelativeResize="0"/>
            <p:nvPr/>
          </p:nvPicPr>
          <p:blipFill rotWithShape="1">
            <a:blip r:embed="rId6">
              <a:alphaModFix/>
            </a:blip>
            <a:srcRect b="0" l="0" r="0" t="0"/>
            <a:stretch/>
          </p:blipFill>
          <p:spPr>
            <a:xfrm>
              <a:off x="2042134" y="3860074"/>
              <a:ext cx="81980" cy="105500"/>
            </a:xfrm>
            <a:prstGeom prst="rect">
              <a:avLst/>
            </a:prstGeom>
            <a:noFill/>
            <a:ln>
              <a:noFill/>
            </a:ln>
          </p:spPr>
        </p:pic>
        <p:sp>
          <p:nvSpPr>
            <p:cNvPr id="519" name="Google Shape;519;p15"/>
            <p:cNvSpPr/>
            <p:nvPr/>
          </p:nvSpPr>
          <p:spPr>
            <a:xfrm>
              <a:off x="2083074" y="3425899"/>
              <a:ext cx="882015" cy="443865"/>
            </a:xfrm>
            <a:custGeom>
              <a:rect b="b" l="l" r="r" t="t"/>
              <a:pathLst>
                <a:path extrusionOk="0" h="443864" w="882014">
                  <a:moveTo>
                    <a:pt x="881399" y="0"/>
                  </a:moveTo>
                  <a:lnTo>
                    <a:pt x="881399" y="278960"/>
                  </a:lnTo>
                  <a:lnTo>
                    <a:pt x="0" y="278960"/>
                  </a:lnTo>
                  <a:lnTo>
                    <a:pt x="0" y="4436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520" name="Google Shape;520;p15"/>
            <p:cNvPicPr preferRelativeResize="0"/>
            <p:nvPr/>
          </p:nvPicPr>
          <p:blipFill rotWithShape="1">
            <a:blip r:embed="rId6">
              <a:alphaModFix/>
            </a:blip>
            <a:srcRect b="0" l="0" r="0" t="0"/>
            <a:stretch/>
          </p:blipFill>
          <p:spPr>
            <a:xfrm>
              <a:off x="2042084" y="3860074"/>
              <a:ext cx="81980" cy="105500"/>
            </a:xfrm>
            <a:prstGeom prst="rect">
              <a:avLst/>
            </a:prstGeom>
            <a:noFill/>
            <a:ln>
              <a:noFill/>
            </a:ln>
          </p:spPr>
        </p:pic>
        <p:pic>
          <p:nvPicPr>
            <p:cNvPr id="521" name="Google Shape;521;p15"/>
            <p:cNvPicPr preferRelativeResize="0"/>
            <p:nvPr/>
          </p:nvPicPr>
          <p:blipFill rotWithShape="1">
            <a:blip r:embed="rId7">
              <a:alphaModFix/>
            </a:blip>
            <a:srcRect b="0" l="0" r="0" t="0"/>
            <a:stretch/>
          </p:blipFill>
          <p:spPr>
            <a:xfrm>
              <a:off x="2043544" y="4339699"/>
              <a:ext cx="81975" cy="213502"/>
            </a:xfrm>
            <a:prstGeom prst="rect">
              <a:avLst/>
            </a:prstGeom>
            <a:noFill/>
            <a:ln>
              <a:noFill/>
            </a:ln>
          </p:spPr>
        </p:pic>
      </p:grpSp>
      <p:sp>
        <p:nvSpPr>
          <p:cNvPr id="522" name="Google Shape;522;p15"/>
          <p:cNvSpPr txBox="1"/>
          <p:nvPr/>
        </p:nvSpPr>
        <p:spPr>
          <a:xfrm>
            <a:off x="1471678" y="4606095"/>
            <a:ext cx="1242060" cy="330200"/>
          </a:xfrm>
          <a:prstGeom prst="rect">
            <a:avLst/>
          </a:prstGeom>
          <a:noFill/>
          <a:ln>
            <a:noFill/>
          </a:ln>
        </p:spPr>
        <p:txBody>
          <a:bodyPr anchorCtr="0" anchor="t" bIns="0" lIns="0" spcFirstLastPara="1" rIns="0" wrap="square" tIns="12700">
            <a:spAutoFit/>
          </a:bodyPr>
          <a:lstStyle/>
          <a:p>
            <a:pPr indent="-118110" lvl="0" marL="118110" marR="5080" rtl="0" algn="l">
              <a:lnSpc>
                <a:spcPct val="100000"/>
              </a:lnSpc>
              <a:spcBef>
                <a:spcPts val="0"/>
              </a:spcBef>
              <a:spcAft>
                <a:spcPts val="0"/>
              </a:spcAft>
              <a:buNone/>
            </a:pPr>
            <a:r>
              <a:rPr b="1" lang="en-US" sz="1000">
                <a:latin typeface="Arial"/>
                <a:ea typeface="Arial"/>
                <a:cs typeface="Arial"/>
                <a:sym typeface="Arial"/>
              </a:rPr>
              <a:t>Chunks with relevant portions retained</a:t>
            </a:r>
            <a:endParaRPr sz="10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grpSp>
        <p:nvGrpSpPr>
          <p:cNvPr id="527" name="Google Shape;527;p16"/>
          <p:cNvGrpSpPr/>
          <p:nvPr/>
        </p:nvGrpSpPr>
        <p:grpSpPr>
          <a:xfrm>
            <a:off x="0" y="0"/>
            <a:ext cx="9144000" cy="5143500"/>
            <a:chOff x="0" y="0"/>
            <a:chExt cx="9144000" cy="5143500"/>
          </a:xfrm>
        </p:grpSpPr>
        <p:pic>
          <p:nvPicPr>
            <p:cNvPr id="528" name="Google Shape;528;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29" name="Google Shape;529;p16"/>
            <p:cNvSpPr/>
            <p:nvPr/>
          </p:nvSpPr>
          <p:spPr>
            <a:xfrm>
              <a:off x="349950" y="2645749"/>
              <a:ext cx="3723004" cy="2301875"/>
            </a:xfrm>
            <a:custGeom>
              <a:rect b="b" l="l" r="r" t="t"/>
              <a:pathLst>
                <a:path extrusionOk="0" h="2301875" w="3723004">
                  <a:moveTo>
                    <a:pt x="0" y="0"/>
                  </a:moveTo>
                  <a:lnTo>
                    <a:pt x="3722999" y="0"/>
                  </a:lnTo>
                  <a:lnTo>
                    <a:pt x="3722999" y="2301299"/>
                  </a:lnTo>
                  <a:lnTo>
                    <a:pt x="0" y="2301299"/>
                  </a:lnTo>
                  <a:lnTo>
                    <a:pt x="0"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30" name="Google Shape;530;p16"/>
            <p:cNvSpPr/>
            <p:nvPr/>
          </p:nvSpPr>
          <p:spPr>
            <a:xfrm>
              <a:off x="2547949" y="2974225"/>
              <a:ext cx="986155" cy="410209"/>
            </a:xfrm>
            <a:custGeom>
              <a:rect b="b" l="l" r="r" t="t"/>
              <a:pathLst>
                <a:path extrusionOk="0" h="410210" w="986154">
                  <a:moveTo>
                    <a:pt x="0" y="68301"/>
                  </a:moveTo>
                  <a:lnTo>
                    <a:pt x="5367" y="41715"/>
                  </a:lnTo>
                  <a:lnTo>
                    <a:pt x="20004" y="20004"/>
                  </a:lnTo>
                  <a:lnTo>
                    <a:pt x="41715" y="5367"/>
                  </a:lnTo>
                  <a:lnTo>
                    <a:pt x="68301" y="0"/>
                  </a:lnTo>
                  <a:lnTo>
                    <a:pt x="917498" y="0"/>
                  </a:lnTo>
                  <a:lnTo>
                    <a:pt x="955392" y="11475"/>
                  </a:lnTo>
                  <a:lnTo>
                    <a:pt x="980600" y="42163"/>
                  </a:lnTo>
                  <a:lnTo>
                    <a:pt x="985799" y="68301"/>
                  </a:lnTo>
                  <a:lnTo>
                    <a:pt x="985799" y="341498"/>
                  </a:lnTo>
                  <a:lnTo>
                    <a:pt x="980432" y="368084"/>
                  </a:lnTo>
                  <a:lnTo>
                    <a:pt x="965794" y="389794"/>
                  </a:lnTo>
                  <a:lnTo>
                    <a:pt x="944084" y="404432"/>
                  </a:lnTo>
                  <a:lnTo>
                    <a:pt x="917498" y="409799"/>
                  </a:lnTo>
                  <a:lnTo>
                    <a:pt x="68301" y="409799"/>
                  </a:lnTo>
                  <a:lnTo>
                    <a:pt x="41715" y="404432"/>
                  </a:lnTo>
                  <a:lnTo>
                    <a:pt x="20004" y="389794"/>
                  </a:lnTo>
                  <a:lnTo>
                    <a:pt x="5367" y="368084"/>
                  </a:lnTo>
                  <a:lnTo>
                    <a:pt x="0" y="341498"/>
                  </a:lnTo>
                  <a:lnTo>
                    <a:pt x="0" y="68301"/>
                  </a:lnTo>
                  <a:close/>
                </a:path>
              </a:pathLst>
            </a:custGeom>
            <a:noFill/>
            <a:ln cap="flat" cmpd="sng" w="9525">
              <a:solidFill>
                <a:srgbClr val="FFAB4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31" name="Google Shape;531;p16"/>
          <p:cNvSpPr txBox="1"/>
          <p:nvPr>
            <p:ph type="title"/>
          </p:nvPr>
        </p:nvSpPr>
        <p:spPr>
          <a:xfrm>
            <a:off x="384725" y="188286"/>
            <a:ext cx="738124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Reranking</a:t>
            </a:r>
            <a:endParaRPr/>
          </a:p>
        </p:txBody>
      </p:sp>
      <p:sp>
        <p:nvSpPr>
          <p:cNvPr id="532" name="Google Shape;532;p16"/>
          <p:cNvSpPr/>
          <p:nvPr/>
        </p:nvSpPr>
        <p:spPr>
          <a:xfrm>
            <a:off x="349950" y="693074"/>
            <a:ext cx="4749165" cy="1859280"/>
          </a:xfrm>
          <a:custGeom>
            <a:rect b="b" l="l" r="r" t="t"/>
            <a:pathLst>
              <a:path extrusionOk="0" h="1859280" w="4749165">
                <a:moveTo>
                  <a:pt x="0" y="0"/>
                </a:moveTo>
                <a:lnTo>
                  <a:pt x="4748699" y="0"/>
                </a:lnTo>
                <a:lnTo>
                  <a:pt x="4748699" y="1859099"/>
                </a:lnTo>
                <a:lnTo>
                  <a:pt x="0" y="1859099"/>
                </a:lnTo>
                <a:lnTo>
                  <a:pt x="0"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33" name="Google Shape;533;p16"/>
          <p:cNvSpPr txBox="1"/>
          <p:nvPr/>
        </p:nvSpPr>
        <p:spPr>
          <a:xfrm>
            <a:off x="2202466" y="1256944"/>
            <a:ext cx="601980" cy="1778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000">
                <a:latin typeface="Arial"/>
                <a:ea typeface="Arial"/>
                <a:cs typeface="Arial"/>
                <a:sym typeface="Arial"/>
              </a:rPr>
              <a:t>Vector DB</a:t>
            </a:r>
            <a:endParaRPr sz="1000">
              <a:latin typeface="Arial"/>
              <a:ea typeface="Arial"/>
              <a:cs typeface="Arial"/>
              <a:sym typeface="Arial"/>
            </a:endParaRPr>
          </a:p>
        </p:txBody>
      </p:sp>
      <p:sp>
        <p:nvSpPr>
          <p:cNvPr id="534" name="Google Shape;534;p16"/>
          <p:cNvSpPr/>
          <p:nvPr/>
        </p:nvSpPr>
        <p:spPr>
          <a:xfrm>
            <a:off x="445649" y="1647675"/>
            <a:ext cx="640715" cy="321310"/>
          </a:xfrm>
          <a:custGeom>
            <a:rect b="b" l="l" r="r" t="t"/>
            <a:pathLst>
              <a:path extrusionOk="0" h="321310" w="640715">
                <a:moveTo>
                  <a:pt x="0" y="53550"/>
                </a:moveTo>
                <a:lnTo>
                  <a:pt x="4208" y="32706"/>
                </a:lnTo>
                <a:lnTo>
                  <a:pt x="15684" y="15684"/>
                </a:lnTo>
                <a:lnTo>
                  <a:pt x="32706" y="4208"/>
                </a:lnTo>
                <a:lnTo>
                  <a:pt x="53551" y="0"/>
                </a:lnTo>
                <a:lnTo>
                  <a:pt x="586948" y="0"/>
                </a:lnTo>
                <a:lnTo>
                  <a:pt x="624815" y="15684"/>
                </a:lnTo>
                <a:lnTo>
                  <a:pt x="640499" y="53550"/>
                </a:lnTo>
                <a:lnTo>
                  <a:pt x="640499" y="267748"/>
                </a:lnTo>
                <a:lnTo>
                  <a:pt x="636291" y="288593"/>
                </a:lnTo>
                <a:lnTo>
                  <a:pt x="624815" y="305615"/>
                </a:lnTo>
                <a:lnTo>
                  <a:pt x="607793" y="317091"/>
                </a:lnTo>
                <a:lnTo>
                  <a:pt x="586948" y="321299"/>
                </a:lnTo>
                <a:lnTo>
                  <a:pt x="53551" y="321299"/>
                </a:lnTo>
                <a:lnTo>
                  <a:pt x="32706" y="317091"/>
                </a:lnTo>
                <a:lnTo>
                  <a:pt x="15684" y="305615"/>
                </a:lnTo>
                <a:lnTo>
                  <a:pt x="4208" y="288593"/>
                </a:lnTo>
                <a:lnTo>
                  <a:pt x="0" y="267748"/>
                </a:lnTo>
                <a:lnTo>
                  <a:pt x="0" y="5355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35" name="Google Shape;535;p16"/>
          <p:cNvSpPr txBox="1"/>
          <p:nvPr/>
        </p:nvSpPr>
        <p:spPr>
          <a:xfrm>
            <a:off x="547059" y="1699041"/>
            <a:ext cx="433705"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1200">
                <a:latin typeface="Arial"/>
                <a:ea typeface="Arial"/>
                <a:cs typeface="Arial"/>
                <a:sym typeface="Arial"/>
              </a:rPr>
              <a:t>Query</a:t>
            </a:r>
            <a:endParaRPr sz="1200">
              <a:latin typeface="Arial"/>
              <a:ea typeface="Arial"/>
              <a:cs typeface="Arial"/>
              <a:sym typeface="Arial"/>
            </a:endParaRPr>
          </a:p>
        </p:txBody>
      </p:sp>
      <p:grpSp>
        <p:nvGrpSpPr>
          <p:cNvPr id="536" name="Google Shape;536;p16"/>
          <p:cNvGrpSpPr/>
          <p:nvPr/>
        </p:nvGrpSpPr>
        <p:grpSpPr>
          <a:xfrm>
            <a:off x="1364149" y="824950"/>
            <a:ext cx="1295261" cy="1144035"/>
            <a:chOff x="1364149" y="824950"/>
            <a:chExt cx="1295261" cy="1144035"/>
          </a:xfrm>
        </p:grpSpPr>
        <p:sp>
          <p:nvSpPr>
            <p:cNvPr id="537" name="Google Shape;537;p16"/>
            <p:cNvSpPr/>
            <p:nvPr/>
          </p:nvSpPr>
          <p:spPr>
            <a:xfrm>
              <a:off x="2334925" y="824950"/>
              <a:ext cx="324485" cy="365760"/>
            </a:xfrm>
            <a:custGeom>
              <a:rect b="b" l="l" r="r" t="t"/>
              <a:pathLst>
                <a:path extrusionOk="0" h="365759" w="324485">
                  <a:moveTo>
                    <a:pt x="161999" y="365324"/>
                  </a:moveTo>
                  <a:lnTo>
                    <a:pt x="98942" y="360540"/>
                  </a:lnTo>
                  <a:lnTo>
                    <a:pt x="47448" y="347491"/>
                  </a:lnTo>
                  <a:lnTo>
                    <a:pt x="12730" y="328137"/>
                  </a:lnTo>
                  <a:lnTo>
                    <a:pt x="0" y="304437"/>
                  </a:lnTo>
                  <a:lnTo>
                    <a:pt x="0" y="60887"/>
                  </a:lnTo>
                  <a:lnTo>
                    <a:pt x="12730" y="37187"/>
                  </a:lnTo>
                  <a:lnTo>
                    <a:pt x="47448" y="17833"/>
                  </a:lnTo>
                  <a:lnTo>
                    <a:pt x="98942" y="4784"/>
                  </a:lnTo>
                  <a:lnTo>
                    <a:pt x="161999" y="0"/>
                  </a:lnTo>
                  <a:lnTo>
                    <a:pt x="225057" y="4784"/>
                  </a:lnTo>
                  <a:lnTo>
                    <a:pt x="276551" y="17833"/>
                  </a:lnTo>
                  <a:lnTo>
                    <a:pt x="311269" y="37187"/>
                  </a:lnTo>
                  <a:lnTo>
                    <a:pt x="323999" y="60887"/>
                  </a:lnTo>
                  <a:lnTo>
                    <a:pt x="323999" y="304437"/>
                  </a:lnTo>
                  <a:lnTo>
                    <a:pt x="311269" y="328137"/>
                  </a:lnTo>
                  <a:lnTo>
                    <a:pt x="276551" y="347491"/>
                  </a:lnTo>
                  <a:lnTo>
                    <a:pt x="225057" y="360540"/>
                  </a:lnTo>
                  <a:lnTo>
                    <a:pt x="161999" y="365324"/>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38" name="Google Shape;538;p16"/>
            <p:cNvSpPr/>
            <p:nvPr/>
          </p:nvSpPr>
          <p:spPr>
            <a:xfrm>
              <a:off x="2334925" y="824950"/>
              <a:ext cx="324485" cy="365760"/>
            </a:xfrm>
            <a:custGeom>
              <a:rect b="b" l="l" r="r" t="t"/>
              <a:pathLst>
                <a:path extrusionOk="0" h="365759" w="324485">
                  <a:moveTo>
                    <a:pt x="323999" y="60887"/>
                  </a:moveTo>
                  <a:lnTo>
                    <a:pt x="311269" y="84587"/>
                  </a:lnTo>
                  <a:lnTo>
                    <a:pt x="276551" y="103941"/>
                  </a:lnTo>
                  <a:lnTo>
                    <a:pt x="225057" y="116990"/>
                  </a:lnTo>
                  <a:lnTo>
                    <a:pt x="161999" y="121774"/>
                  </a:lnTo>
                  <a:lnTo>
                    <a:pt x="98942" y="116990"/>
                  </a:lnTo>
                  <a:lnTo>
                    <a:pt x="47448" y="103941"/>
                  </a:lnTo>
                  <a:lnTo>
                    <a:pt x="12730" y="84587"/>
                  </a:lnTo>
                  <a:lnTo>
                    <a:pt x="0" y="60887"/>
                  </a:lnTo>
                </a:path>
                <a:path extrusionOk="0" h="365759" w="324485">
                  <a:moveTo>
                    <a:pt x="0" y="60887"/>
                  </a:moveTo>
                  <a:lnTo>
                    <a:pt x="12730" y="37187"/>
                  </a:lnTo>
                  <a:lnTo>
                    <a:pt x="47448" y="17833"/>
                  </a:lnTo>
                  <a:lnTo>
                    <a:pt x="98942" y="4784"/>
                  </a:lnTo>
                  <a:lnTo>
                    <a:pt x="161999" y="0"/>
                  </a:lnTo>
                  <a:lnTo>
                    <a:pt x="225057" y="4784"/>
                  </a:lnTo>
                  <a:lnTo>
                    <a:pt x="276551" y="17833"/>
                  </a:lnTo>
                  <a:lnTo>
                    <a:pt x="311269" y="37187"/>
                  </a:lnTo>
                  <a:lnTo>
                    <a:pt x="323999" y="60887"/>
                  </a:lnTo>
                  <a:lnTo>
                    <a:pt x="323999" y="304437"/>
                  </a:lnTo>
                  <a:lnTo>
                    <a:pt x="311269" y="328137"/>
                  </a:lnTo>
                  <a:lnTo>
                    <a:pt x="276551" y="347491"/>
                  </a:lnTo>
                  <a:lnTo>
                    <a:pt x="225057" y="360540"/>
                  </a:lnTo>
                  <a:lnTo>
                    <a:pt x="161999" y="365324"/>
                  </a:lnTo>
                  <a:lnTo>
                    <a:pt x="98942" y="360540"/>
                  </a:lnTo>
                  <a:lnTo>
                    <a:pt x="47448" y="347491"/>
                  </a:lnTo>
                  <a:lnTo>
                    <a:pt x="12730" y="328137"/>
                  </a:lnTo>
                  <a:lnTo>
                    <a:pt x="0" y="304437"/>
                  </a:lnTo>
                  <a:lnTo>
                    <a:pt x="0" y="60887"/>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39" name="Google Shape;539;p16"/>
            <p:cNvSpPr/>
            <p:nvPr/>
          </p:nvSpPr>
          <p:spPr>
            <a:xfrm>
              <a:off x="1364149" y="1647675"/>
              <a:ext cx="840740" cy="321310"/>
            </a:xfrm>
            <a:custGeom>
              <a:rect b="b" l="l" r="r" t="t"/>
              <a:pathLst>
                <a:path extrusionOk="0" h="321310" w="840739">
                  <a:moveTo>
                    <a:pt x="786748" y="321299"/>
                  </a:moveTo>
                  <a:lnTo>
                    <a:pt x="53551" y="321299"/>
                  </a:lnTo>
                  <a:lnTo>
                    <a:pt x="32706" y="317091"/>
                  </a:lnTo>
                  <a:lnTo>
                    <a:pt x="15684" y="305615"/>
                  </a:lnTo>
                  <a:lnTo>
                    <a:pt x="4208" y="288593"/>
                  </a:lnTo>
                  <a:lnTo>
                    <a:pt x="0" y="267748"/>
                  </a:lnTo>
                  <a:lnTo>
                    <a:pt x="0" y="53550"/>
                  </a:lnTo>
                  <a:lnTo>
                    <a:pt x="15684" y="15684"/>
                  </a:lnTo>
                  <a:lnTo>
                    <a:pt x="53551" y="0"/>
                  </a:lnTo>
                  <a:lnTo>
                    <a:pt x="786748" y="0"/>
                  </a:lnTo>
                  <a:lnTo>
                    <a:pt x="824615" y="15684"/>
                  </a:lnTo>
                  <a:lnTo>
                    <a:pt x="840299" y="53550"/>
                  </a:lnTo>
                  <a:lnTo>
                    <a:pt x="840299" y="267748"/>
                  </a:lnTo>
                  <a:lnTo>
                    <a:pt x="836091" y="288593"/>
                  </a:lnTo>
                  <a:lnTo>
                    <a:pt x="824615" y="305615"/>
                  </a:lnTo>
                  <a:lnTo>
                    <a:pt x="807593" y="317091"/>
                  </a:lnTo>
                  <a:lnTo>
                    <a:pt x="786748" y="3212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40" name="Google Shape;540;p16"/>
          <p:cNvSpPr txBox="1"/>
          <p:nvPr/>
        </p:nvSpPr>
        <p:spPr>
          <a:xfrm>
            <a:off x="1475384" y="1699041"/>
            <a:ext cx="631190"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1200">
                <a:solidFill>
                  <a:srgbClr val="FFFFFF"/>
                </a:solidFill>
                <a:latin typeface="Arial"/>
                <a:ea typeface="Arial"/>
                <a:cs typeface="Arial"/>
                <a:sym typeface="Arial"/>
              </a:rPr>
              <a:t>Retriever</a:t>
            </a:r>
            <a:endParaRPr sz="1200">
              <a:latin typeface="Arial"/>
              <a:ea typeface="Arial"/>
              <a:cs typeface="Arial"/>
              <a:sym typeface="Arial"/>
            </a:endParaRPr>
          </a:p>
        </p:txBody>
      </p:sp>
      <p:grpSp>
        <p:nvGrpSpPr>
          <p:cNvPr id="541" name="Google Shape;541;p16"/>
          <p:cNvGrpSpPr/>
          <p:nvPr/>
        </p:nvGrpSpPr>
        <p:grpSpPr>
          <a:xfrm>
            <a:off x="1086149" y="1309984"/>
            <a:ext cx="2676261" cy="899685"/>
            <a:chOff x="1086149" y="1309984"/>
            <a:chExt cx="2676261" cy="899685"/>
          </a:xfrm>
        </p:grpSpPr>
        <p:sp>
          <p:nvSpPr>
            <p:cNvPr id="542" name="Google Shape;542;p16"/>
            <p:cNvSpPr/>
            <p:nvPr/>
          </p:nvSpPr>
          <p:spPr>
            <a:xfrm>
              <a:off x="1784300" y="1350974"/>
              <a:ext cx="210185" cy="297180"/>
            </a:xfrm>
            <a:custGeom>
              <a:rect b="b" l="l" r="r" t="t"/>
              <a:pathLst>
                <a:path extrusionOk="0" h="297180" w="210185">
                  <a:moveTo>
                    <a:pt x="0" y="296699"/>
                  </a:moveTo>
                  <a:lnTo>
                    <a:pt x="0" y="0"/>
                  </a:lnTo>
                  <a:lnTo>
                    <a:pt x="209699"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543" name="Google Shape;543;p16"/>
            <p:cNvPicPr preferRelativeResize="0"/>
            <p:nvPr/>
          </p:nvPicPr>
          <p:blipFill rotWithShape="1">
            <a:blip r:embed="rId4">
              <a:alphaModFix/>
            </a:blip>
            <a:srcRect b="0" l="0" r="0" t="0"/>
            <a:stretch/>
          </p:blipFill>
          <p:spPr>
            <a:xfrm>
              <a:off x="1984474" y="1309984"/>
              <a:ext cx="105500" cy="81980"/>
            </a:xfrm>
            <a:prstGeom prst="rect">
              <a:avLst/>
            </a:prstGeom>
            <a:noFill/>
            <a:ln>
              <a:noFill/>
            </a:ln>
          </p:spPr>
        </p:pic>
        <p:pic>
          <p:nvPicPr>
            <p:cNvPr id="544" name="Google Shape;544;p16"/>
            <p:cNvPicPr preferRelativeResize="0"/>
            <p:nvPr/>
          </p:nvPicPr>
          <p:blipFill rotWithShape="1">
            <a:blip r:embed="rId5">
              <a:alphaModFix/>
            </a:blip>
            <a:srcRect b="0" l="0" r="0" t="0"/>
            <a:stretch/>
          </p:blipFill>
          <p:spPr>
            <a:xfrm>
              <a:off x="1086149" y="1767334"/>
              <a:ext cx="259775" cy="81980"/>
            </a:xfrm>
            <a:prstGeom prst="rect">
              <a:avLst/>
            </a:prstGeom>
            <a:noFill/>
            <a:ln>
              <a:noFill/>
            </a:ln>
          </p:spPr>
        </p:pic>
        <p:sp>
          <p:nvSpPr>
            <p:cNvPr id="545" name="Google Shape;545;p16"/>
            <p:cNvSpPr/>
            <p:nvPr/>
          </p:nvSpPr>
          <p:spPr>
            <a:xfrm>
              <a:off x="2885425" y="1350924"/>
              <a:ext cx="422909" cy="191135"/>
            </a:xfrm>
            <a:custGeom>
              <a:rect b="b" l="l" r="r" t="t"/>
              <a:pathLst>
                <a:path extrusionOk="0" h="191134" w="422910">
                  <a:moveTo>
                    <a:pt x="0" y="0"/>
                  </a:moveTo>
                  <a:lnTo>
                    <a:pt x="422399" y="0"/>
                  </a:lnTo>
                  <a:lnTo>
                    <a:pt x="422399" y="1907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546" name="Google Shape;546;p16"/>
            <p:cNvPicPr preferRelativeResize="0"/>
            <p:nvPr/>
          </p:nvPicPr>
          <p:blipFill rotWithShape="1">
            <a:blip r:embed="rId6">
              <a:alphaModFix/>
            </a:blip>
            <a:srcRect b="0" l="0" r="0" t="0"/>
            <a:stretch/>
          </p:blipFill>
          <p:spPr>
            <a:xfrm>
              <a:off x="3266834" y="1532199"/>
              <a:ext cx="81980" cy="105500"/>
            </a:xfrm>
            <a:prstGeom prst="rect">
              <a:avLst/>
            </a:prstGeom>
            <a:noFill/>
            <a:ln>
              <a:noFill/>
            </a:ln>
          </p:spPr>
        </p:pic>
        <p:sp>
          <p:nvSpPr>
            <p:cNvPr id="547" name="Google Shape;547;p16"/>
            <p:cNvSpPr/>
            <p:nvPr/>
          </p:nvSpPr>
          <p:spPr>
            <a:xfrm>
              <a:off x="2853725" y="1655949"/>
              <a:ext cx="908685" cy="553720"/>
            </a:xfrm>
            <a:custGeom>
              <a:rect b="b" l="l" r="r" t="t"/>
              <a:pathLst>
                <a:path extrusionOk="0" h="553719" w="908685">
                  <a:moveTo>
                    <a:pt x="0" y="553499"/>
                  </a:moveTo>
                  <a:lnTo>
                    <a:pt x="0" y="0"/>
                  </a:lnTo>
                  <a:lnTo>
                    <a:pt x="908399" y="0"/>
                  </a:lnTo>
                  <a:lnTo>
                    <a:pt x="908399" y="553499"/>
                  </a:lnTo>
                  <a:lnTo>
                    <a:pt x="0" y="553499"/>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48" name="Google Shape;548;p16"/>
            <p:cNvSpPr/>
            <p:nvPr/>
          </p:nvSpPr>
          <p:spPr>
            <a:xfrm>
              <a:off x="3025400" y="1759537"/>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49" name="Google Shape;549;p16"/>
            <p:cNvSpPr/>
            <p:nvPr/>
          </p:nvSpPr>
          <p:spPr>
            <a:xfrm>
              <a:off x="3025400" y="1759537"/>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50" name="Google Shape;550;p16"/>
            <p:cNvSpPr/>
            <p:nvPr/>
          </p:nvSpPr>
          <p:spPr>
            <a:xfrm>
              <a:off x="2987675" y="1800074"/>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51" name="Google Shape;551;p16"/>
            <p:cNvSpPr/>
            <p:nvPr/>
          </p:nvSpPr>
          <p:spPr>
            <a:xfrm>
              <a:off x="2987675" y="1800074"/>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52" name="Google Shape;552;p16"/>
          <p:cNvSpPr txBox="1"/>
          <p:nvPr/>
        </p:nvSpPr>
        <p:spPr>
          <a:xfrm>
            <a:off x="3130597" y="2210695"/>
            <a:ext cx="443230" cy="1778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000">
                <a:latin typeface="Arial"/>
                <a:ea typeface="Arial"/>
                <a:cs typeface="Arial"/>
                <a:sym typeface="Arial"/>
              </a:rPr>
              <a:t>Chunks</a:t>
            </a:r>
            <a:endParaRPr sz="1000">
              <a:latin typeface="Arial"/>
              <a:ea typeface="Arial"/>
              <a:cs typeface="Arial"/>
              <a:sym typeface="Arial"/>
            </a:endParaRPr>
          </a:p>
        </p:txBody>
      </p:sp>
      <p:sp>
        <p:nvSpPr>
          <p:cNvPr id="553" name="Google Shape;553;p16"/>
          <p:cNvSpPr/>
          <p:nvPr/>
        </p:nvSpPr>
        <p:spPr>
          <a:xfrm>
            <a:off x="3762125" y="846050"/>
            <a:ext cx="777240" cy="323215"/>
          </a:xfrm>
          <a:custGeom>
            <a:rect b="b" l="l" r="r" t="t"/>
            <a:pathLst>
              <a:path extrusionOk="0" h="323215" w="777239">
                <a:moveTo>
                  <a:pt x="677139" y="323099"/>
                </a:moveTo>
                <a:lnTo>
                  <a:pt x="99860" y="323099"/>
                </a:lnTo>
                <a:lnTo>
                  <a:pt x="60990" y="315252"/>
                </a:lnTo>
                <a:lnTo>
                  <a:pt x="29248" y="293851"/>
                </a:lnTo>
                <a:lnTo>
                  <a:pt x="7847" y="262109"/>
                </a:lnTo>
                <a:lnTo>
                  <a:pt x="0" y="223239"/>
                </a:lnTo>
                <a:lnTo>
                  <a:pt x="0" y="99860"/>
                </a:lnTo>
                <a:lnTo>
                  <a:pt x="7847" y="60990"/>
                </a:lnTo>
                <a:lnTo>
                  <a:pt x="29248" y="29248"/>
                </a:lnTo>
                <a:lnTo>
                  <a:pt x="60990" y="7847"/>
                </a:lnTo>
                <a:lnTo>
                  <a:pt x="99860" y="0"/>
                </a:lnTo>
                <a:lnTo>
                  <a:pt x="677139" y="0"/>
                </a:lnTo>
                <a:lnTo>
                  <a:pt x="715354" y="7601"/>
                </a:lnTo>
                <a:lnTo>
                  <a:pt x="747751" y="29248"/>
                </a:lnTo>
                <a:lnTo>
                  <a:pt x="769398" y="61645"/>
                </a:lnTo>
                <a:lnTo>
                  <a:pt x="776999" y="99860"/>
                </a:lnTo>
                <a:lnTo>
                  <a:pt x="776999" y="223239"/>
                </a:lnTo>
                <a:lnTo>
                  <a:pt x="769152" y="262109"/>
                </a:lnTo>
                <a:lnTo>
                  <a:pt x="747751" y="293851"/>
                </a:lnTo>
                <a:lnTo>
                  <a:pt x="716009" y="315252"/>
                </a:lnTo>
                <a:lnTo>
                  <a:pt x="677139" y="3230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54" name="Google Shape;554;p16"/>
          <p:cNvSpPr txBox="1"/>
          <p:nvPr/>
        </p:nvSpPr>
        <p:spPr>
          <a:xfrm>
            <a:off x="3884411" y="913620"/>
            <a:ext cx="546100" cy="1778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000">
                <a:solidFill>
                  <a:srgbClr val="FFFFFF"/>
                </a:solidFill>
                <a:latin typeface="Arial"/>
                <a:ea typeface="Arial"/>
                <a:cs typeface="Arial"/>
                <a:sym typeface="Arial"/>
              </a:rPr>
              <a:t>Reranker</a:t>
            </a:r>
            <a:endParaRPr sz="1000">
              <a:latin typeface="Arial"/>
              <a:ea typeface="Arial"/>
              <a:cs typeface="Arial"/>
              <a:sym typeface="Arial"/>
            </a:endParaRPr>
          </a:p>
        </p:txBody>
      </p:sp>
      <p:grpSp>
        <p:nvGrpSpPr>
          <p:cNvPr id="555" name="Google Shape;555;p16"/>
          <p:cNvGrpSpPr/>
          <p:nvPr/>
        </p:nvGrpSpPr>
        <p:grpSpPr>
          <a:xfrm>
            <a:off x="3502025" y="966609"/>
            <a:ext cx="1479584" cy="1243060"/>
            <a:chOff x="3502025" y="966609"/>
            <a:chExt cx="1479584" cy="1243060"/>
          </a:xfrm>
        </p:grpSpPr>
        <p:sp>
          <p:nvSpPr>
            <p:cNvPr id="556" name="Google Shape;556;p16"/>
            <p:cNvSpPr/>
            <p:nvPr/>
          </p:nvSpPr>
          <p:spPr>
            <a:xfrm>
              <a:off x="3502025" y="1007600"/>
              <a:ext cx="146050" cy="631825"/>
            </a:xfrm>
            <a:custGeom>
              <a:rect b="b" l="l" r="r" t="t"/>
              <a:pathLst>
                <a:path extrusionOk="0" h="631825" w="146050">
                  <a:moveTo>
                    <a:pt x="0" y="631199"/>
                  </a:moveTo>
                  <a:lnTo>
                    <a:pt x="0" y="0"/>
                  </a:lnTo>
                  <a:lnTo>
                    <a:pt x="145799"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557" name="Google Shape;557;p16"/>
            <p:cNvPicPr preferRelativeResize="0"/>
            <p:nvPr/>
          </p:nvPicPr>
          <p:blipFill rotWithShape="1">
            <a:blip r:embed="rId4">
              <a:alphaModFix/>
            </a:blip>
            <a:srcRect b="0" l="0" r="0" t="0"/>
            <a:stretch/>
          </p:blipFill>
          <p:spPr>
            <a:xfrm>
              <a:off x="3638300" y="966609"/>
              <a:ext cx="105500" cy="81980"/>
            </a:xfrm>
            <a:prstGeom prst="rect">
              <a:avLst/>
            </a:prstGeom>
            <a:noFill/>
            <a:ln>
              <a:noFill/>
            </a:ln>
          </p:spPr>
        </p:pic>
        <p:sp>
          <p:nvSpPr>
            <p:cNvPr id="558" name="Google Shape;558;p16"/>
            <p:cNvSpPr/>
            <p:nvPr/>
          </p:nvSpPr>
          <p:spPr>
            <a:xfrm>
              <a:off x="4072924" y="1655949"/>
              <a:ext cx="908685" cy="553720"/>
            </a:xfrm>
            <a:custGeom>
              <a:rect b="b" l="l" r="r" t="t"/>
              <a:pathLst>
                <a:path extrusionOk="0" h="553719" w="908685">
                  <a:moveTo>
                    <a:pt x="0" y="553499"/>
                  </a:moveTo>
                  <a:lnTo>
                    <a:pt x="0" y="0"/>
                  </a:lnTo>
                  <a:lnTo>
                    <a:pt x="908399" y="0"/>
                  </a:lnTo>
                  <a:lnTo>
                    <a:pt x="908399" y="553499"/>
                  </a:lnTo>
                  <a:lnTo>
                    <a:pt x="0" y="553499"/>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59" name="Google Shape;559;p16"/>
            <p:cNvSpPr/>
            <p:nvPr/>
          </p:nvSpPr>
          <p:spPr>
            <a:xfrm>
              <a:off x="4244599" y="1759537"/>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78909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60" name="Google Shape;560;p16"/>
            <p:cNvSpPr/>
            <p:nvPr/>
          </p:nvSpPr>
          <p:spPr>
            <a:xfrm>
              <a:off x="4244599" y="1759537"/>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61" name="Google Shape;561;p16"/>
            <p:cNvSpPr/>
            <p:nvPr/>
          </p:nvSpPr>
          <p:spPr>
            <a:xfrm>
              <a:off x="4206875" y="1800075"/>
              <a:ext cx="640715" cy="321310"/>
            </a:xfrm>
            <a:custGeom>
              <a:rect b="b" l="l" r="r" t="t"/>
              <a:pathLst>
                <a:path extrusionOk="0" h="321310" w="640714">
                  <a:moveTo>
                    <a:pt x="640499" y="321299"/>
                  </a:moveTo>
                  <a:lnTo>
                    <a:pt x="0" y="321299"/>
                  </a:lnTo>
                  <a:lnTo>
                    <a:pt x="0" y="0"/>
                  </a:lnTo>
                  <a:lnTo>
                    <a:pt x="640499" y="0"/>
                  </a:lnTo>
                  <a:lnTo>
                    <a:pt x="640499" y="321299"/>
                  </a:lnTo>
                  <a:close/>
                </a:path>
              </a:pathLst>
            </a:custGeom>
            <a:solidFill>
              <a:srgbClr val="78909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62" name="Google Shape;562;p16"/>
            <p:cNvSpPr/>
            <p:nvPr/>
          </p:nvSpPr>
          <p:spPr>
            <a:xfrm>
              <a:off x="4206875" y="1800075"/>
              <a:ext cx="640715" cy="321310"/>
            </a:xfrm>
            <a:custGeom>
              <a:rect b="b" l="l" r="r" t="t"/>
              <a:pathLst>
                <a:path extrusionOk="0" h="321310" w="640714">
                  <a:moveTo>
                    <a:pt x="0" y="0"/>
                  </a:moveTo>
                  <a:lnTo>
                    <a:pt x="640499" y="0"/>
                  </a:lnTo>
                  <a:lnTo>
                    <a:pt x="640499" y="321299"/>
                  </a:lnTo>
                  <a:lnTo>
                    <a:pt x="0" y="321299"/>
                  </a:lnTo>
                  <a:lnTo>
                    <a:pt x="0" y="0"/>
                  </a:lnTo>
                  <a:close/>
                </a:path>
              </a:pathLst>
            </a:custGeom>
            <a:noFill/>
            <a:ln cap="flat" cmpd="sng" w="19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63" name="Google Shape;563;p16"/>
          <p:cNvSpPr txBox="1"/>
          <p:nvPr/>
        </p:nvSpPr>
        <p:spPr>
          <a:xfrm>
            <a:off x="4290892" y="2195095"/>
            <a:ext cx="561340" cy="330200"/>
          </a:xfrm>
          <a:prstGeom prst="rect">
            <a:avLst/>
          </a:prstGeom>
          <a:noFill/>
          <a:ln>
            <a:noFill/>
          </a:ln>
        </p:spPr>
        <p:txBody>
          <a:bodyPr anchorCtr="0" anchor="t" bIns="0" lIns="0" spcFirstLastPara="1" rIns="0" wrap="square" tIns="12700">
            <a:spAutoFit/>
          </a:bodyPr>
          <a:lstStyle/>
          <a:p>
            <a:pPr indent="58419" lvl="0" marL="0" marR="5080" rtl="0" algn="l">
              <a:lnSpc>
                <a:spcPct val="100000"/>
              </a:lnSpc>
              <a:spcBef>
                <a:spcPts val="0"/>
              </a:spcBef>
              <a:spcAft>
                <a:spcPts val="0"/>
              </a:spcAft>
              <a:buNone/>
            </a:pPr>
            <a:r>
              <a:rPr b="1" lang="en-US" sz="1000">
                <a:latin typeface="Arial"/>
                <a:ea typeface="Arial"/>
                <a:cs typeface="Arial"/>
                <a:sym typeface="Arial"/>
              </a:rPr>
              <a:t>Chunks Reranked</a:t>
            </a:r>
            <a:endParaRPr sz="1000">
              <a:latin typeface="Arial"/>
              <a:ea typeface="Arial"/>
              <a:cs typeface="Arial"/>
              <a:sym typeface="Arial"/>
            </a:endParaRPr>
          </a:p>
        </p:txBody>
      </p:sp>
      <p:grpSp>
        <p:nvGrpSpPr>
          <p:cNvPr id="564" name="Google Shape;564;p16"/>
          <p:cNvGrpSpPr/>
          <p:nvPr/>
        </p:nvGrpSpPr>
        <p:grpSpPr>
          <a:xfrm>
            <a:off x="927975" y="1007600"/>
            <a:ext cx="3794339" cy="2418309"/>
            <a:chOff x="927975" y="1007600"/>
            <a:chExt cx="3794339" cy="2418309"/>
          </a:xfrm>
        </p:grpSpPr>
        <p:sp>
          <p:nvSpPr>
            <p:cNvPr id="565" name="Google Shape;565;p16"/>
            <p:cNvSpPr/>
            <p:nvPr/>
          </p:nvSpPr>
          <p:spPr>
            <a:xfrm>
              <a:off x="4539125" y="1007600"/>
              <a:ext cx="142240" cy="514984"/>
            </a:xfrm>
            <a:custGeom>
              <a:rect b="b" l="l" r="r" t="t"/>
              <a:pathLst>
                <a:path extrusionOk="0" h="514984" w="142239">
                  <a:moveTo>
                    <a:pt x="0" y="0"/>
                  </a:moveTo>
                  <a:lnTo>
                    <a:pt x="142199" y="0"/>
                  </a:lnTo>
                  <a:lnTo>
                    <a:pt x="142199" y="5147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566" name="Google Shape;566;p16"/>
            <p:cNvPicPr preferRelativeResize="0"/>
            <p:nvPr/>
          </p:nvPicPr>
          <p:blipFill rotWithShape="1">
            <a:blip r:embed="rId7">
              <a:alphaModFix/>
            </a:blip>
            <a:srcRect b="0" l="0" r="0" t="0"/>
            <a:stretch/>
          </p:blipFill>
          <p:spPr>
            <a:xfrm>
              <a:off x="4640334" y="1512875"/>
              <a:ext cx="81980" cy="105500"/>
            </a:xfrm>
            <a:prstGeom prst="rect">
              <a:avLst/>
            </a:prstGeom>
            <a:noFill/>
            <a:ln>
              <a:noFill/>
            </a:ln>
          </p:spPr>
        </p:pic>
        <p:sp>
          <p:nvSpPr>
            <p:cNvPr id="567" name="Google Shape;567;p16"/>
            <p:cNvSpPr/>
            <p:nvPr/>
          </p:nvSpPr>
          <p:spPr>
            <a:xfrm>
              <a:off x="927975" y="3104599"/>
              <a:ext cx="640715" cy="321310"/>
            </a:xfrm>
            <a:custGeom>
              <a:rect b="b" l="l" r="r" t="t"/>
              <a:pathLst>
                <a:path extrusionOk="0" h="321310" w="640715">
                  <a:moveTo>
                    <a:pt x="0" y="53550"/>
                  </a:moveTo>
                  <a:lnTo>
                    <a:pt x="4208" y="32706"/>
                  </a:lnTo>
                  <a:lnTo>
                    <a:pt x="15684" y="15684"/>
                  </a:lnTo>
                  <a:lnTo>
                    <a:pt x="32706" y="4208"/>
                  </a:lnTo>
                  <a:lnTo>
                    <a:pt x="53551" y="0"/>
                  </a:lnTo>
                  <a:lnTo>
                    <a:pt x="586948" y="0"/>
                  </a:lnTo>
                  <a:lnTo>
                    <a:pt x="624815" y="15684"/>
                  </a:lnTo>
                  <a:lnTo>
                    <a:pt x="640499" y="53550"/>
                  </a:lnTo>
                  <a:lnTo>
                    <a:pt x="640499" y="267748"/>
                  </a:lnTo>
                  <a:lnTo>
                    <a:pt x="636291" y="288593"/>
                  </a:lnTo>
                  <a:lnTo>
                    <a:pt x="624815" y="305615"/>
                  </a:lnTo>
                  <a:lnTo>
                    <a:pt x="607793" y="317091"/>
                  </a:lnTo>
                  <a:lnTo>
                    <a:pt x="586948" y="321299"/>
                  </a:lnTo>
                  <a:lnTo>
                    <a:pt x="53551" y="321299"/>
                  </a:lnTo>
                  <a:lnTo>
                    <a:pt x="32706" y="317091"/>
                  </a:lnTo>
                  <a:lnTo>
                    <a:pt x="15684" y="305615"/>
                  </a:lnTo>
                  <a:lnTo>
                    <a:pt x="4208" y="288593"/>
                  </a:lnTo>
                  <a:lnTo>
                    <a:pt x="0" y="267748"/>
                  </a:lnTo>
                  <a:lnTo>
                    <a:pt x="0" y="5355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68" name="Google Shape;568;p16"/>
          <p:cNvSpPr txBox="1"/>
          <p:nvPr/>
        </p:nvSpPr>
        <p:spPr>
          <a:xfrm>
            <a:off x="5365150" y="870437"/>
            <a:ext cx="2972435" cy="15189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solidFill>
                  <a:srgbClr val="595959"/>
                </a:solidFill>
                <a:latin typeface="Arial"/>
                <a:ea typeface="Arial"/>
                <a:cs typeface="Arial"/>
                <a:sym typeface="Arial"/>
              </a:rPr>
              <a:t>Used when relevance scores are low.</a:t>
            </a:r>
            <a:endParaRPr sz="1400">
              <a:latin typeface="Arial"/>
              <a:ea typeface="Arial"/>
              <a:cs typeface="Arial"/>
              <a:sym typeface="Arial"/>
            </a:endParaRPr>
          </a:p>
          <a:p>
            <a:pPr indent="0" lvl="0" marL="0" rtl="0" algn="l">
              <a:lnSpc>
                <a:spcPct val="100000"/>
              </a:lnSpc>
              <a:spcBef>
                <a:spcPts val="70"/>
              </a:spcBef>
              <a:spcAft>
                <a:spcPts val="0"/>
              </a:spcAft>
              <a:buNone/>
            </a:pPr>
            <a:r>
              <a:t/>
            </a:r>
            <a:endParaRPr sz="1400">
              <a:latin typeface="Arial"/>
              <a:ea typeface="Arial"/>
              <a:cs typeface="Arial"/>
              <a:sym typeface="Arial"/>
            </a:endParaRPr>
          </a:p>
          <a:p>
            <a:pPr indent="0" lvl="0" marL="12700" marR="5080" rtl="0" algn="l">
              <a:lnSpc>
                <a:spcPct val="100000"/>
              </a:lnSpc>
              <a:spcBef>
                <a:spcPts val="0"/>
              </a:spcBef>
              <a:spcAft>
                <a:spcPts val="0"/>
              </a:spcAft>
              <a:buNone/>
            </a:pPr>
            <a:r>
              <a:rPr lang="en-US" sz="1400">
                <a:solidFill>
                  <a:srgbClr val="595959"/>
                </a:solidFill>
                <a:latin typeface="Arial"/>
                <a:ea typeface="Arial"/>
                <a:cs typeface="Arial"/>
                <a:sym typeface="Arial"/>
              </a:rPr>
              <a:t>A reranker is used to rerank retrieved document chunks for relevance.</a:t>
            </a:r>
            <a:endParaRPr sz="1400">
              <a:latin typeface="Arial"/>
              <a:ea typeface="Arial"/>
              <a:cs typeface="Arial"/>
              <a:sym typeface="Arial"/>
            </a:endParaRPr>
          </a:p>
          <a:p>
            <a:pPr indent="0" lvl="0" marL="0" rtl="0" algn="l">
              <a:lnSpc>
                <a:spcPct val="100000"/>
              </a:lnSpc>
              <a:spcBef>
                <a:spcPts val="70"/>
              </a:spcBef>
              <a:spcAft>
                <a:spcPts val="0"/>
              </a:spcAft>
              <a:buNone/>
            </a:pPr>
            <a:r>
              <a:t/>
            </a:r>
            <a:endParaRPr sz="1400">
              <a:latin typeface="Arial"/>
              <a:ea typeface="Arial"/>
              <a:cs typeface="Arial"/>
              <a:sym typeface="Arial"/>
            </a:endParaRPr>
          </a:p>
          <a:p>
            <a:pPr indent="0" lvl="0" marL="12700" marR="219075" rtl="0" algn="l">
              <a:lnSpc>
                <a:spcPct val="100000"/>
              </a:lnSpc>
              <a:spcBef>
                <a:spcPts val="0"/>
              </a:spcBef>
              <a:spcAft>
                <a:spcPts val="0"/>
              </a:spcAft>
              <a:buNone/>
            </a:pPr>
            <a:r>
              <a:rPr lang="en-US" sz="1400">
                <a:solidFill>
                  <a:srgbClr val="595959"/>
                </a:solidFill>
                <a:latin typeface="Arial"/>
                <a:ea typeface="Arial"/>
                <a:cs typeface="Arial"/>
                <a:sym typeface="Arial"/>
              </a:rPr>
              <a:t>Top k reranked chunks are used as context.</a:t>
            </a:r>
            <a:endParaRPr sz="1400">
              <a:latin typeface="Arial"/>
              <a:ea typeface="Arial"/>
              <a:cs typeface="Arial"/>
              <a:sym typeface="Arial"/>
            </a:endParaRPr>
          </a:p>
        </p:txBody>
      </p:sp>
      <p:sp>
        <p:nvSpPr>
          <p:cNvPr id="569" name="Google Shape;569;p16"/>
          <p:cNvSpPr txBox="1"/>
          <p:nvPr/>
        </p:nvSpPr>
        <p:spPr>
          <a:xfrm>
            <a:off x="435675" y="2711663"/>
            <a:ext cx="1027430" cy="65278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400">
                <a:latin typeface="Arial"/>
                <a:ea typeface="Arial"/>
                <a:cs typeface="Arial"/>
                <a:sym typeface="Arial"/>
              </a:rPr>
              <a:t>Reranking</a:t>
            </a:r>
            <a:endParaRPr sz="1400">
              <a:latin typeface="Arial"/>
              <a:ea typeface="Arial"/>
              <a:cs typeface="Arial"/>
              <a:sym typeface="Arial"/>
            </a:endParaRPr>
          </a:p>
          <a:p>
            <a:pPr indent="0" lvl="0" marL="0" rtl="0" algn="l">
              <a:lnSpc>
                <a:spcPct val="100000"/>
              </a:lnSpc>
              <a:spcBef>
                <a:spcPts val="204"/>
              </a:spcBef>
              <a:spcAft>
                <a:spcPts val="0"/>
              </a:spcAft>
              <a:buNone/>
            </a:pPr>
            <a:r>
              <a:t/>
            </a:r>
            <a:endParaRPr sz="1400">
              <a:latin typeface="Arial"/>
              <a:ea typeface="Arial"/>
              <a:cs typeface="Arial"/>
              <a:sym typeface="Arial"/>
            </a:endParaRPr>
          </a:p>
          <a:p>
            <a:pPr indent="0" lvl="0" marL="593090" rtl="0" algn="l">
              <a:lnSpc>
                <a:spcPct val="100000"/>
              </a:lnSpc>
              <a:spcBef>
                <a:spcPts val="0"/>
              </a:spcBef>
              <a:spcAft>
                <a:spcPts val="0"/>
              </a:spcAft>
              <a:buNone/>
            </a:pPr>
            <a:r>
              <a:rPr lang="en-US" sz="1200">
                <a:latin typeface="Arial"/>
                <a:ea typeface="Arial"/>
                <a:cs typeface="Arial"/>
                <a:sym typeface="Arial"/>
              </a:rPr>
              <a:t>Query</a:t>
            </a:r>
            <a:endParaRPr sz="1200">
              <a:latin typeface="Arial"/>
              <a:ea typeface="Arial"/>
              <a:cs typeface="Arial"/>
              <a:sym typeface="Arial"/>
            </a:endParaRPr>
          </a:p>
        </p:txBody>
      </p:sp>
      <p:grpSp>
        <p:nvGrpSpPr>
          <p:cNvPr id="570" name="Google Shape;570;p16"/>
          <p:cNvGrpSpPr/>
          <p:nvPr/>
        </p:nvGrpSpPr>
        <p:grpSpPr>
          <a:xfrm>
            <a:off x="2471574" y="3016100"/>
            <a:ext cx="986155" cy="410209"/>
            <a:chOff x="2471574" y="3016100"/>
            <a:chExt cx="986155" cy="410209"/>
          </a:xfrm>
        </p:grpSpPr>
        <p:sp>
          <p:nvSpPr>
            <p:cNvPr id="571" name="Google Shape;571;p16"/>
            <p:cNvSpPr/>
            <p:nvPr/>
          </p:nvSpPr>
          <p:spPr>
            <a:xfrm>
              <a:off x="2471574" y="3016100"/>
              <a:ext cx="986155" cy="410209"/>
            </a:xfrm>
            <a:custGeom>
              <a:rect b="b" l="l" r="r" t="t"/>
              <a:pathLst>
                <a:path extrusionOk="0" h="410210" w="986154">
                  <a:moveTo>
                    <a:pt x="917498" y="409799"/>
                  </a:moveTo>
                  <a:lnTo>
                    <a:pt x="68301" y="409799"/>
                  </a:lnTo>
                  <a:lnTo>
                    <a:pt x="41715" y="404432"/>
                  </a:lnTo>
                  <a:lnTo>
                    <a:pt x="20004" y="389794"/>
                  </a:lnTo>
                  <a:lnTo>
                    <a:pt x="5367" y="368084"/>
                  </a:lnTo>
                  <a:lnTo>
                    <a:pt x="0" y="341498"/>
                  </a:lnTo>
                  <a:lnTo>
                    <a:pt x="0" y="68301"/>
                  </a:lnTo>
                  <a:lnTo>
                    <a:pt x="5367" y="41715"/>
                  </a:lnTo>
                  <a:lnTo>
                    <a:pt x="20004" y="20004"/>
                  </a:lnTo>
                  <a:lnTo>
                    <a:pt x="41715" y="5367"/>
                  </a:lnTo>
                  <a:lnTo>
                    <a:pt x="68301" y="0"/>
                  </a:lnTo>
                  <a:lnTo>
                    <a:pt x="917498" y="0"/>
                  </a:lnTo>
                  <a:lnTo>
                    <a:pt x="955392" y="11475"/>
                  </a:lnTo>
                  <a:lnTo>
                    <a:pt x="980600" y="42163"/>
                  </a:lnTo>
                  <a:lnTo>
                    <a:pt x="985799" y="68301"/>
                  </a:lnTo>
                  <a:lnTo>
                    <a:pt x="985799" y="341498"/>
                  </a:lnTo>
                  <a:lnTo>
                    <a:pt x="980432" y="368084"/>
                  </a:lnTo>
                  <a:lnTo>
                    <a:pt x="965794" y="389794"/>
                  </a:lnTo>
                  <a:lnTo>
                    <a:pt x="944084" y="404432"/>
                  </a:lnTo>
                  <a:lnTo>
                    <a:pt x="917498" y="409799"/>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72" name="Google Shape;572;p16"/>
            <p:cNvSpPr/>
            <p:nvPr/>
          </p:nvSpPr>
          <p:spPr>
            <a:xfrm>
              <a:off x="2471574" y="3016100"/>
              <a:ext cx="986155" cy="410209"/>
            </a:xfrm>
            <a:custGeom>
              <a:rect b="b" l="l" r="r" t="t"/>
              <a:pathLst>
                <a:path extrusionOk="0" h="410210" w="986154">
                  <a:moveTo>
                    <a:pt x="0" y="68301"/>
                  </a:moveTo>
                  <a:lnTo>
                    <a:pt x="5367" y="41715"/>
                  </a:lnTo>
                  <a:lnTo>
                    <a:pt x="20004" y="20004"/>
                  </a:lnTo>
                  <a:lnTo>
                    <a:pt x="41715" y="5367"/>
                  </a:lnTo>
                  <a:lnTo>
                    <a:pt x="68301" y="0"/>
                  </a:lnTo>
                  <a:lnTo>
                    <a:pt x="917498" y="0"/>
                  </a:lnTo>
                  <a:lnTo>
                    <a:pt x="955392" y="11475"/>
                  </a:lnTo>
                  <a:lnTo>
                    <a:pt x="980600" y="42163"/>
                  </a:lnTo>
                  <a:lnTo>
                    <a:pt x="985799" y="68301"/>
                  </a:lnTo>
                  <a:lnTo>
                    <a:pt x="985799" y="341498"/>
                  </a:lnTo>
                  <a:lnTo>
                    <a:pt x="980432" y="368084"/>
                  </a:lnTo>
                  <a:lnTo>
                    <a:pt x="965794" y="389794"/>
                  </a:lnTo>
                  <a:lnTo>
                    <a:pt x="944084" y="404432"/>
                  </a:lnTo>
                  <a:lnTo>
                    <a:pt x="917498" y="409799"/>
                  </a:lnTo>
                  <a:lnTo>
                    <a:pt x="68301" y="409799"/>
                  </a:lnTo>
                  <a:lnTo>
                    <a:pt x="41715" y="404432"/>
                  </a:lnTo>
                  <a:lnTo>
                    <a:pt x="20004" y="389794"/>
                  </a:lnTo>
                  <a:lnTo>
                    <a:pt x="5367" y="368084"/>
                  </a:lnTo>
                  <a:lnTo>
                    <a:pt x="0" y="341498"/>
                  </a:lnTo>
                  <a:lnTo>
                    <a:pt x="0" y="68301"/>
                  </a:lnTo>
                  <a:close/>
                </a:path>
              </a:pathLst>
            </a:custGeom>
            <a:noFill/>
            <a:ln cap="flat" cmpd="sng" w="9525">
              <a:solidFill>
                <a:srgbClr val="FFAB4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73" name="Google Shape;573;p16"/>
          <p:cNvSpPr txBox="1"/>
          <p:nvPr/>
        </p:nvSpPr>
        <p:spPr>
          <a:xfrm>
            <a:off x="2577305" y="3021229"/>
            <a:ext cx="718185" cy="389255"/>
          </a:xfrm>
          <a:prstGeom prst="rect">
            <a:avLst/>
          </a:prstGeom>
          <a:noFill/>
          <a:ln>
            <a:noFill/>
          </a:ln>
        </p:spPr>
        <p:txBody>
          <a:bodyPr anchorCtr="0" anchor="t" bIns="0" lIns="0" spcFirstLastPara="1" rIns="0" wrap="square" tIns="19675">
            <a:spAutoFit/>
          </a:bodyPr>
          <a:lstStyle/>
          <a:p>
            <a:pPr indent="0" lvl="0" marL="0" marR="5080" rtl="0" algn="l">
              <a:lnSpc>
                <a:spcPct val="119166"/>
              </a:lnSpc>
              <a:spcBef>
                <a:spcPts val="0"/>
              </a:spcBef>
              <a:spcAft>
                <a:spcPts val="0"/>
              </a:spcAft>
              <a:buNone/>
            </a:pPr>
            <a:r>
              <a:rPr lang="en-US" sz="1200">
                <a:latin typeface="Arial"/>
                <a:ea typeface="Arial"/>
                <a:cs typeface="Arial"/>
                <a:sym typeface="Arial"/>
              </a:rPr>
              <a:t>Document Chunk</a:t>
            </a:r>
            <a:endParaRPr sz="1200">
              <a:latin typeface="Arial"/>
              <a:ea typeface="Arial"/>
              <a:cs typeface="Arial"/>
              <a:sym typeface="Arial"/>
            </a:endParaRPr>
          </a:p>
        </p:txBody>
      </p:sp>
      <p:grpSp>
        <p:nvGrpSpPr>
          <p:cNvPr id="574" name="Google Shape;574;p16"/>
          <p:cNvGrpSpPr/>
          <p:nvPr/>
        </p:nvGrpSpPr>
        <p:grpSpPr>
          <a:xfrm>
            <a:off x="1248224" y="3425899"/>
            <a:ext cx="1716865" cy="923685"/>
            <a:chOff x="1248224" y="3425899"/>
            <a:chExt cx="1716865" cy="923685"/>
          </a:xfrm>
        </p:grpSpPr>
        <p:sp>
          <p:nvSpPr>
            <p:cNvPr id="575" name="Google Shape;575;p16"/>
            <p:cNvSpPr/>
            <p:nvPr/>
          </p:nvSpPr>
          <p:spPr>
            <a:xfrm>
              <a:off x="1694574" y="3983824"/>
              <a:ext cx="777240" cy="365760"/>
            </a:xfrm>
            <a:custGeom>
              <a:rect b="b" l="l" r="r" t="t"/>
              <a:pathLst>
                <a:path extrusionOk="0" h="365760" w="777239">
                  <a:moveTo>
                    <a:pt x="664065" y="365399"/>
                  </a:moveTo>
                  <a:lnTo>
                    <a:pt x="112934" y="365399"/>
                  </a:lnTo>
                  <a:lnTo>
                    <a:pt x="68975" y="356525"/>
                  </a:lnTo>
                  <a:lnTo>
                    <a:pt x="33077" y="332322"/>
                  </a:lnTo>
                  <a:lnTo>
                    <a:pt x="8874" y="296424"/>
                  </a:lnTo>
                  <a:lnTo>
                    <a:pt x="0" y="252465"/>
                  </a:lnTo>
                  <a:lnTo>
                    <a:pt x="0" y="112933"/>
                  </a:lnTo>
                  <a:lnTo>
                    <a:pt x="8874" y="68975"/>
                  </a:lnTo>
                  <a:lnTo>
                    <a:pt x="33077" y="33077"/>
                  </a:lnTo>
                  <a:lnTo>
                    <a:pt x="68975" y="8874"/>
                  </a:lnTo>
                  <a:lnTo>
                    <a:pt x="112934" y="0"/>
                  </a:lnTo>
                  <a:lnTo>
                    <a:pt x="664065" y="0"/>
                  </a:lnTo>
                  <a:lnTo>
                    <a:pt x="707283" y="8596"/>
                  </a:lnTo>
                  <a:lnTo>
                    <a:pt x="743922" y="33077"/>
                  </a:lnTo>
                  <a:lnTo>
                    <a:pt x="768403" y="69716"/>
                  </a:lnTo>
                  <a:lnTo>
                    <a:pt x="776999" y="112933"/>
                  </a:lnTo>
                  <a:lnTo>
                    <a:pt x="776999" y="252465"/>
                  </a:lnTo>
                  <a:lnTo>
                    <a:pt x="768125" y="296424"/>
                  </a:lnTo>
                  <a:lnTo>
                    <a:pt x="743922" y="332322"/>
                  </a:lnTo>
                  <a:lnTo>
                    <a:pt x="708024" y="356525"/>
                  </a:lnTo>
                  <a:lnTo>
                    <a:pt x="664065" y="3653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76" name="Google Shape;576;p16"/>
            <p:cNvSpPr/>
            <p:nvPr/>
          </p:nvSpPr>
          <p:spPr>
            <a:xfrm>
              <a:off x="1248224" y="3425899"/>
              <a:ext cx="835025" cy="443865"/>
            </a:xfrm>
            <a:custGeom>
              <a:rect b="b" l="l" r="r" t="t"/>
              <a:pathLst>
                <a:path extrusionOk="0" h="443864" w="835025">
                  <a:moveTo>
                    <a:pt x="0" y="0"/>
                  </a:moveTo>
                  <a:lnTo>
                    <a:pt x="0" y="278960"/>
                  </a:lnTo>
                  <a:lnTo>
                    <a:pt x="834899" y="278960"/>
                  </a:lnTo>
                  <a:lnTo>
                    <a:pt x="834899" y="4436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577" name="Google Shape;577;p16"/>
            <p:cNvPicPr preferRelativeResize="0"/>
            <p:nvPr/>
          </p:nvPicPr>
          <p:blipFill rotWithShape="1">
            <a:blip r:embed="rId6">
              <a:alphaModFix/>
            </a:blip>
            <a:srcRect b="0" l="0" r="0" t="0"/>
            <a:stretch/>
          </p:blipFill>
          <p:spPr>
            <a:xfrm>
              <a:off x="2042134" y="3860074"/>
              <a:ext cx="81980" cy="105500"/>
            </a:xfrm>
            <a:prstGeom prst="rect">
              <a:avLst/>
            </a:prstGeom>
            <a:noFill/>
            <a:ln>
              <a:noFill/>
            </a:ln>
          </p:spPr>
        </p:pic>
        <p:sp>
          <p:nvSpPr>
            <p:cNvPr id="578" name="Google Shape;578;p16"/>
            <p:cNvSpPr/>
            <p:nvPr/>
          </p:nvSpPr>
          <p:spPr>
            <a:xfrm>
              <a:off x="2083074" y="3425899"/>
              <a:ext cx="882015" cy="443865"/>
            </a:xfrm>
            <a:custGeom>
              <a:rect b="b" l="l" r="r" t="t"/>
              <a:pathLst>
                <a:path extrusionOk="0" h="443864" w="882014">
                  <a:moveTo>
                    <a:pt x="881399" y="0"/>
                  </a:moveTo>
                  <a:lnTo>
                    <a:pt x="881399" y="278960"/>
                  </a:lnTo>
                  <a:lnTo>
                    <a:pt x="0" y="278960"/>
                  </a:lnTo>
                  <a:lnTo>
                    <a:pt x="0" y="4436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579" name="Google Shape;579;p16"/>
            <p:cNvPicPr preferRelativeResize="0"/>
            <p:nvPr/>
          </p:nvPicPr>
          <p:blipFill rotWithShape="1">
            <a:blip r:embed="rId6">
              <a:alphaModFix/>
            </a:blip>
            <a:srcRect b="0" l="0" r="0" t="0"/>
            <a:stretch/>
          </p:blipFill>
          <p:spPr>
            <a:xfrm>
              <a:off x="2042084" y="3860074"/>
              <a:ext cx="81980" cy="105500"/>
            </a:xfrm>
            <a:prstGeom prst="rect">
              <a:avLst/>
            </a:prstGeom>
            <a:noFill/>
            <a:ln>
              <a:noFill/>
            </a:ln>
          </p:spPr>
        </p:pic>
      </p:grpSp>
      <p:sp>
        <p:nvSpPr>
          <p:cNvPr id="580" name="Google Shape;580;p16"/>
          <p:cNvSpPr txBox="1"/>
          <p:nvPr/>
        </p:nvSpPr>
        <p:spPr>
          <a:xfrm>
            <a:off x="1769890" y="3996345"/>
            <a:ext cx="640080" cy="883919"/>
          </a:xfrm>
          <a:prstGeom prst="rect">
            <a:avLst/>
          </a:prstGeom>
          <a:noFill/>
          <a:ln>
            <a:noFill/>
          </a:ln>
        </p:spPr>
        <p:txBody>
          <a:bodyPr anchorCtr="0" anchor="t" bIns="0" lIns="0" spcFirstLastPara="1" rIns="0" wrap="square" tIns="12700">
            <a:spAutoFit/>
          </a:bodyPr>
          <a:lstStyle/>
          <a:p>
            <a:pPr indent="-635" lvl="0" marL="74295" marR="80010" rtl="0" algn="ctr">
              <a:lnSpc>
                <a:spcPct val="100000"/>
              </a:lnSpc>
              <a:spcBef>
                <a:spcPts val="0"/>
              </a:spcBef>
              <a:spcAft>
                <a:spcPts val="0"/>
              </a:spcAft>
              <a:buNone/>
            </a:pPr>
            <a:r>
              <a:rPr b="1" lang="en-US" sz="1000">
                <a:solidFill>
                  <a:srgbClr val="FFFFFF"/>
                </a:solidFill>
                <a:latin typeface="Arial"/>
                <a:ea typeface="Arial"/>
                <a:cs typeface="Arial"/>
                <a:sym typeface="Arial"/>
              </a:rPr>
              <a:t>Cross Encoder</a:t>
            </a:r>
            <a:endParaRPr sz="1000">
              <a:latin typeface="Arial"/>
              <a:ea typeface="Arial"/>
              <a:cs typeface="Arial"/>
              <a:sym typeface="Arial"/>
            </a:endParaRPr>
          </a:p>
          <a:p>
            <a:pPr indent="0" lvl="0" marL="0" rtl="0" algn="l">
              <a:lnSpc>
                <a:spcPct val="100000"/>
              </a:lnSpc>
              <a:spcBef>
                <a:spcPts val="805"/>
              </a:spcBef>
              <a:spcAft>
                <a:spcPts val="0"/>
              </a:spcAft>
              <a:buNone/>
            </a:pPr>
            <a:r>
              <a:t/>
            </a:r>
            <a:endParaRPr sz="1000">
              <a:latin typeface="Arial"/>
              <a:ea typeface="Arial"/>
              <a:cs typeface="Arial"/>
              <a:sym typeface="Arial"/>
            </a:endParaRPr>
          </a:p>
          <a:p>
            <a:pPr indent="0" lvl="0" marL="0" marR="5080" rtl="0" algn="ctr">
              <a:lnSpc>
                <a:spcPct val="100000"/>
              </a:lnSpc>
              <a:spcBef>
                <a:spcPts val="0"/>
              </a:spcBef>
              <a:spcAft>
                <a:spcPts val="0"/>
              </a:spcAft>
              <a:buNone/>
            </a:pPr>
            <a:r>
              <a:rPr b="1" lang="en-US" sz="1000">
                <a:latin typeface="Arial"/>
                <a:ea typeface="Arial"/>
                <a:cs typeface="Arial"/>
                <a:sym typeface="Arial"/>
              </a:rPr>
              <a:t>Relevance Scores List</a:t>
            </a:r>
            <a:endParaRPr sz="1000">
              <a:latin typeface="Arial"/>
              <a:ea typeface="Arial"/>
              <a:cs typeface="Arial"/>
              <a:sym typeface="Arial"/>
            </a:endParaRPr>
          </a:p>
        </p:txBody>
      </p:sp>
      <p:pic>
        <p:nvPicPr>
          <p:cNvPr id="581" name="Google Shape;581;p16"/>
          <p:cNvPicPr preferRelativeResize="0"/>
          <p:nvPr/>
        </p:nvPicPr>
        <p:blipFill rotWithShape="1">
          <a:blip r:embed="rId8">
            <a:alphaModFix/>
          </a:blip>
          <a:srcRect b="0" l="0" r="0" t="0"/>
          <a:stretch/>
        </p:blipFill>
        <p:spPr>
          <a:xfrm>
            <a:off x="2042084" y="4349224"/>
            <a:ext cx="81980" cy="2039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pic>
        <p:nvPicPr>
          <p:cNvPr id="586" name="Google Shape;586;p1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87" name="Google Shape;587;p17"/>
          <p:cNvSpPr txBox="1"/>
          <p:nvPr>
            <p:ph type="title"/>
          </p:nvPr>
        </p:nvSpPr>
        <p:spPr>
          <a:xfrm>
            <a:off x="477250" y="2154808"/>
            <a:ext cx="3481070" cy="4368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700"/>
              <a:t>Putting it all together</a:t>
            </a:r>
            <a:endParaRPr sz="2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grpSp>
        <p:nvGrpSpPr>
          <p:cNvPr id="592" name="Google Shape;592;p18"/>
          <p:cNvGrpSpPr/>
          <p:nvPr/>
        </p:nvGrpSpPr>
        <p:grpSpPr>
          <a:xfrm>
            <a:off x="0" y="0"/>
            <a:ext cx="9144000" cy="5143500"/>
            <a:chOff x="0" y="0"/>
            <a:chExt cx="9144000" cy="5143500"/>
          </a:xfrm>
        </p:grpSpPr>
        <p:pic>
          <p:nvPicPr>
            <p:cNvPr id="593" name="Google Shape;593;p1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94" name="Google Shape;594;p18"/>
            <p:cNvSpPr/>
            <p:nvPr/>
          </p:nvSpPr>
          <p:spPr>
            <a:xfrm>
              <a:off x="6151624" y="2491650"/>
              <a:ext cx="2113280" cy="572770"/>
            </a:xfrm>
            <a:custGeom>
              <a:rect b="b" l="l" r="r" t="t"/>
              <a:pathLst>
                <a:path extrusionOk="0" h="572769" w="2113279">
                  <a:moveTo>
                    <a:pt x="0" y="0"/>
                  </a:moveTo>
                  <a:lnTo>
                    <a:pt x="2112899" y="0"/>
                  </a:lnTo>
                  <a:lnTo>
                    <a:pt x="2112899" y="572699"/>
                  </a:lnTo>
                  <a:lnTo>
                    <a:pt x="0" y="572699"/>
                  </a:lnTo>
                  <a:lnTo>
                    <a:pt x="0"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95" name="Google Shape;595;p18"/>
          <p:cNvSpPr txBox="1"/>
          <p:nvPr>
            <p:ph type="title"/>
          </p:nvPr>
        </p:nvSpPr>
        <p:spPr>
          <a:xfrm>
            <a:off x="384725" y="188286"/>
            <a:ext cx="738124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RAG Architecture</a:t>
            </a:r>
            <a:endParaRPr/>
          </a:p>
        </p:txBody>
      </p:sp>
      <p:grpSp>
        <p:nvGrpSpPr>
          <p:cNvPr id="596" name="Google Shape;596;p18"/>
          <p:cNvGrpSpPr/>
          <p:nvPr/>
        </p:nvGrpSpPr>
        <p:grpSpPr>
          <a:xfrm>
            <a:off x="752749" y="1460025"/>
            <a:ext cx="1985645" cy="1109345"/>
            <a:chOff x="752749" y="1460025"/>
            <a:chExt cx="1985645" cy="1109345"/>
          </a:xfrm>
        </p:grpSpPr>
        <p:sp>
          <p:nvSpPr>
            <p:cNvPr id="597" name="Google Shape;597;p18"/>
            <p:cNvSpPr/>
            <p:nvPr/>
          </p:nvSpPr>
          <p:spPr>
            <a:xfrm>
              <a:off x="752749" y="1460025"/>
              <a:ext cx="1985645" cy="1109345"/>
            </a:xfrm>
            <a:custGeom>
              <a:rect b="b" l="l" r="r" t="t"/>
              <a:pathLst>
                <a:path extrusionOk="0" h="1109345" w="1985645">
                  <a:moveTo>
                    <a:pt x="0" y="0"/>
                  </a:moveTo>
                  <a:lnTo>
                    <a:pt x="1985099" y="0"/>
                  </a:lnTo>
                  <a:lnTo>
                    <a:pt x="1985099" y="1108799"/>
                  </a:lnTo>
                  <a:lnTo>
                    <a:pt x="0" y="1108799"/>
                  </a:lnTo>
                  <a:lnTo>
                    <a:pt x="0"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8" name="Google Shape;598;p18"/>
            <p:cNvSpPr/>
            <p:nvPr/>
          </p:nvSpPr>
          <p:spPr>
            <a:xfrm>
              <a:off x="883349" y="1857500"/>
              <a:ext cx="640715" cy="321310"/>
            </a:xfrm>
            <a:custGeom>
              <a:rect b="b" l="l" r="r" t="t"/>
              <a:pathLst>
                <a:path extrusionOk="0" h="321310" w="640715">
                  <a:moveTo>
                    <a:pt x="0" y="53550"/>
                  </a:moveTo>
                  <a:lnTo>
                    <a:pt x="4208" y="32706"/>
                  </a:lnTo>
                  <a:lnTo>
                    <a:pt x="15684" y="15684"/>
                  </a:lnTo>
                  <a:lnTo>
                    <a:pt x="32706" y="4208"/>
                  </a:lnTo>
                  <a:lnTo>
                    <a:pt x="53551" y="0"/>
                  </a:lnTo>
                  <a:lnTo>
                    <a:pt x="586948" y="0"/>
                  </a:lnTo>
                  <a:lnTo>
                    <a:pt x="624815" y="15684"/>
                  </a:lnTo>
                  <a:lnTo>
                    <a:pt x="640499" y="53550"/>
                  </a:lnTo>
                  <a:lnTo>
                    <a:pt x="640499" y="267748"/>
                  </a:lnTo>
                  <a:lnTo>
                    <a:pt x="636291" y="288593"/>
                  </a:lnTo>
                  <a:lnTo>
                    <a:pt x="624815" y="305615"/>
                  </a:lnTo>
                  <a:lnTo>
                    <a:pt x="607793" y="317091"/>
                  </a:lnTo>
                  <a:lnTo>
                    <a:pt x="586948" y="321299"/>
                  </a:lnTo>
                  <a:lnTo>
                    <a:pt x="53551" y="321299"/>
                  </a:lnTo>
                  <a:lnTo>
                    <a:pt x="32706" y="317091"/>
                  </a:lnTo>
                  <a:lnTo>
                    <a:pt x="15684" y="305615"/>
                  </a:lnTo>
                  <a:lnTo>
                    <a:pt x="4208" y="288593"/>
                  </a:lnTo>
                  <a:lnTo>
                    <a:pt x="0" y="267748"/>
                  </a:lnTo>
                  <a:lnTo>
                    <a:pt x="0" y="5355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99" name="Google Shape;599;p18"/>
          <p:cNvSpPr txBox="1"/>
          <p:nvPr/>
        </p:nvSpPr>
        <p:spPr>
          <a:xfrm>
            <a:off x="4863441" y="1308032"/>
            <a:ext cx="614680"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000">
                <a:latin typeface="Arial"/>
                <a:ea typeface="Arial"/>
                <a:cs typeface="Arial"/>
                <a:sym typeface="Arial"/>
              </a:rPr>
              <a:t>Vector DB</a:t>
            </a:r>
            <a:endParaRPr sz="1000">
              <a:latin typeface="Arial"/>
              <a:ea typeface="Arial"/>
              <a:cs typeface="Arial"/>
              <a:sym typeface="Arial"/>
            </a:endParaRPr>
          </a:p>
        </p:txBody>
      </p:sp>
      <p:sp>
        <p:nvSpPr>
          <p:cNvPr id="600" name="Google Shape;600;p18"/>
          <p:cNvSpPr txBox="1"/>
          <p:nvPr/>
        </p:nvSpPr>
        <p:spPr>
          <a:xfrm>
            <a:off x="1030955" y="1908866"/>
            <a:ext cx="34544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User</a:t>
            </a:r>
            <a:endParaRPr sz="1200">
              <a:latin typeface="Arial"/>
              <a:ea typeface="Arial"/>
              <a:cs typeface="Arial"/>
              <a:sym typeface="Arial"/>
            </a:endParaRPr>
          </a:p>
        </p:txBody>
      </p:sp>
      <p:grpSp>
        <p:nvGrpSpPr>
          <p:cNvPr id="601" name="Google Shape;601;p18"/>
          <p:cNvGrpSpPr/>
          <p:nvPr/>
        </p:nvGrpSpPr>
        <p:grpSpPr>
          <a:xfrm>
            <a:off x="1997449" y="876037"/>
            <a:ext cx="3335654" cy="1294765"/>
            <a:chOff x="1997449" y="876037"/>
            <a:chExt cx="3335654" cy="1294765"/>
          </a:xfrm>
        </p:grpSpPr>
        <p:sp>
          <p:nvSpPr>
            <p:cNvPr id="602" name="Google Shape;602;p18"/>
            <p:cNvSpPr/>
            <p:nvPr/>
          </p:nvSpPr>
          <p:spPr>
            <a:xfrm>
              <a:off x="5008599" y="876037"/>
              <a:ext cx="324485" cy="365760"/>
            </a:xfrm>
            <a:custGeom>
              <a:rect b="b" l="l" r="r" t="t"/>
              <a:pathLst>
                <a:path extrusionOk="0" h="365759" w="324485">
                  <a:moveTo>
                    <a:pt x="161999" y="365324"/>
                  </a:moveTo>
                  <a:lnTo>
                    <a:pt x="98942" y="360540"/>
                  </a:lnTo>
                  <a:lnTo>
                    <a:pt x="47448" y="347491"/>
                  </a:lnTo>
                  <a:lnTo>
                    <a:pt x="12730" y="328137"/>
                  </a:lnTo>
                  <a:lnTo>
                    <a:pt x="0" y="304437"/>
                  </a:lnTo>
                  <a:lnTo>
                    <a:pt x="0" y="60887"/>
                  </a:lnTo>
                  <a:lnTo>
                    <a:pt x="12730" y="37187"/>
                  </a:lnTo>
                  <a:lnTo>
                    <a:pt x="47448" y="17833"/>
                  </a:lnTo>
                  <a:lnTo>
                    <a:pt x="98942" y="4784"/>
                  </a:lnTo>
                  <a:lnTo>
                    <a:pt x="161999" y="0"/>
                  </a:lnTo>
                  <a:lnTo>
                    <a:pt x="225057" y="4784"/>
                  </a:lnTo>
                  <a:lnTo>
                    <a:pt x="276551" y="17833"/>
                  </a:lnTo>
                  <a:lnTo>
                    <a:pt x="311269" y="37187"/>
                  </a:lnTo>
                  <a:lnTo>
                    <a:pt x="323999" y="60887"/>
                  </a:lnTo>
                  <a:lnTo>
                    <a:pt x="323999" y="304437"/>
                  </a:lnTo>
                  <a:lnTo>
                    <a:pt x="311269" y="328137"/>
                  </a:lnTo>
                  <a:lnTo>
                    <a:pt x="276551" y="347491"/>
                  </a:lnTo>
                  <a:lnTo>
                    <a:pt x="225057" y="360540"/>
                  </a:lnTo>
                  <a:lnTo>
                    <a:pt x="161999" y="365324"/>
                  </a:lnTo>
                  <a:close/>
                </a:path>
              </a:pathLst>
            </a:custGeom>
            <a:solidFill>
              <a:srgbClr val="FFAB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03" name="Google Shape;603;p18"/>
            <p:cNvSpPr/>
            <p:nvPr/>
          </p:nvSpPr>
          <p:spPr>
            <a:xfrm>
              <a:off x="1997449" y="876037"/>
              <a:ext cx="3335654" cy="1294765"/>
            </a:xfrm>
            <a:custGeom>
              <a:rect b="b" l="l" r="r" t="t"/>
              <a:pathLst>
                <a:path extrusionOk="0" h="1294764" w="3335654">
                  <a:moveTo>
                    <a:pt x="3335149" y="60887"/>
                  </a:moveTo>
                  <a:lnTo>
                    <a:pt x="3322419" y="84587"/>
                  </a:lnTo>
                  <a:lnTo>
                    <a:pt x="3287701" y="103941"/>
                  </a:lnTo>
                  <a:lnTo>
                    <a:pt x="3236207" y="116990"/>
                  </a:lnTo>
                  <a:lnTo>
                    <a:pt x="3173149" y="121774"/>
                  </a:lnTo>
                  <a:lnTo>
                    <a:pt x="3110092" y="116990"/>
                  </a:lnTo>
                  <a:lnTo>
                    <a:pt x="3058598" y="103941"/>
                  </a:lnTo>
                  <a:lnTo>
                    <a:pt x="3023880" y="84587"/>
                  </a:lnTo>
                  <a:lnTo>
                    <a:pt x="3011149" y="60887"/>
                  </a:lnTo>
                </a:path>
                <a:path extrusionOk="0" h="1294764" w="3335654">
                  <a:moveTo>
                    <a:pt x="3011149" y="60887"/>
                  </a:moveTo>
                  <a:lnTo>
                    <a:pt x="3023880" y="37187"/>
                  </a:lnTo>
                  <a:lnTo>
                    <a:pt x="3058598" y="17833"/>
                  </a:lnTo>
                  <a:lnTo>
                    <a:pt x="3110092" y="4784"/>
                  </a:lnTo>
                  <a:lnTo>
                    <a:pt x="3173149" y="0"/>
                  </a:lnTo>
                  <a:lnTo>
                    <a:pt x="3236207" y="4784"/>
                  </a:lnTo>
                  <a:lnTo>
                    <a:pt x="3287701" y="17833"/>
                  </a:lnTo>
                  <a:lnTo>
                    <a:pt x="3322419" y="37187"/>
                  </a:lnTo>
                  <a:lnTo>
                    <a:pt x="3335149" y="60887"/>
                  </a:lnTo>
                  <a:lnTo>
                    <a:pt x="3335149" y="304437"/>
                  </a:lnTo>
                  <a:lnTo>
                    <a:pt x="3322419" y="328137"/>
                  </a:lnTo>
                  <a:lnTo>
                    <a:pt x="3287701" y="347491"/>
                  </a:lnTo>
                  <a:lnTo>
                    <a:pt x="3236207" y="360540"/>
                  </a:lnTo>
                  <a:lnTo>
                    <a:pt x="3173149" y="365324"/>
                  </a:lnTo>
                  <a:lnTo>
                    <a:pt x="3110092" y="360540"/>
                  </a:lnTo>
                  <a:lnTo>
                    <a:pt x="3058598" y="347491"/>
                  </a:lnTo>
                  <a:lnTo>
                    <a:pt x="3023880" y="328137"/>
                  </a:lnTo>
                  <a:lnTo>
                    <a:pt x="3011149" y="304437"/>
                  </a:lnTo>
                  <a:lnTo>
                    <a:pt x="3011149" y="60887"/>
                  </a:lnTo>
                  <a:close/>
                </a:path>
                <a:path extrusionOk="0" h="1294764" w="3335654">
                  <a:moveTo>
                    <a:pt x="0" y="1026588"/>
                  </a:moveTo>
                  <a:lnTo>
                    <a:pt x="4208" y="1005743"/>
                  </a:lnTo>
                  <a:lnTo>
                    <a:pt x="15684" y="988722"/>
                  </a:lnTo>
                  <a:lnTo>
                    <a:pt x="32706" y="977245"/>
                  </a:lnTo>
                  <a:lnTo>
                    <a:pt x="53550" y="973037"/>
                  </a:lnTo>
                  <a:lnTo>
                    <a:pt x="586948" y="973037"/>
                  </a:lnTo>
                  <a:lnTo>
                    <a:pt x="624815" y="988722"/>
                  </a:lnTo>
                  <a:lnTo>
                    <a:pt x="640499" y="1026588"/>
                  </a:lnTo>
                  <a:lnTo>
                    <a:pt x="640499" y="1240786"/>
                  </a:lnTo>
                  <a:lnTo>
                    <a:pt x="636291" y="1261631"/>
                  </a:lnTo>
                  <a:lnTo>
                    <a:pt x="624815" y="1278652"/>
                  </a:lnTo>
                  <a:lnTo>
                    <a:pt x="607793" y="1290129"/>
                  </a:lnTo>
                  <a:lnTo>
                    <a:pt x="586948" y="1294337"/>
                  </a:lnTo>
                  <a:lnTo>
                    <a:pt x="53550" y="1294337"/>
                  </a:lnTo>
                  <a:lnTo>
                    <a:pt x="32706" y="1290129"/>
                  </a:lnTo>
                  <a:lnTo>
                    <a:pt x="15684" y="1278652"/>
                  </a:lnTo>
                  <a:lnTo>
                    <a:pt x="4208" y="1261631"/>
                  </a:lnTo>
                  <a:lnTo>
                    <a:pt x="0" y="1240786"/>
                  </a:lnTo>
                  <a:lnTo>
                    <a:pt x="0" y="1026588"/>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04" name="Google Shape;604;p18"/>
          <p:cNvSpPr txBox="1"/>
          <p:nvPr/>
        </p:nvSpPr>
        <p:spPr>
          <a:xfrm>
            <a:off x="2229942" y="1900441"/>
            <a:ext cx="17589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UI</a:t>
            </a:r>
            <a:endParaRPr sz="1200">
              <a:latin typeface="Arial"/>
              <a:ea typeface="Arial"/>
              <a:cs typeface="Arial"/>
              <a:sym typeface="Arial"/>
            </a:endParaRPr>
          </a:p>
        </p:txBody>
      </p:sp>
      <p:grpSp>
        <p:nvGrpSpPr>
          <p:cNvPr id="605" name="Google Shape;605;p18"/>
          <p:cNvGrpSpPr/>
          <p:nvPr/>
        </p:nvGrpSpPr>
        <p:grpSpPr>
          <a:xfrm>
            <a:off x="1162509" y="1610950"/>
            <a:ext cx="1196280" cy="806440"/>
            <a:chOff x="1162509" y="1610950"/>
            <a:chExt cx="1196280" cy="806440"/>
          </a:xfrm>
        </p:grpSpPr>
        <p:sp>
          <p:nvSpPr>
            <p:cNvPr id="606" name="Google Shape;606;p18"/>
            <p:cNvSpPr/>
            <p:nvPr/>
          </p:nvSpPr>
          <p:spPr>
            <a:xfrm>
              <a:off x="1203599" y="1610950"/>
              <a:ext cx="1114425" cy="247015"/>
            </a:xfrm>
            <a:custGeom>
              <a:rect b="b" l="l" r="r" t="t"/>
              <a:pathLst>
                <a:path extrusionOk="0" h="247014" w="1114425">
                  <a:moveTo>
                    <a:pt x="0" y="246549"/>
                  </a:moveTo>
                  <a:lnTo>
                    <a:pt x="0" y="0"/>
                  </a:lnTo>
                  <a:lnTo>
                    <a:pt x="1114199" y="0"/>
                  </a:lnTo>
                  <a:lnTo>
                    <a:pt x="1114199" y="12384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07" name="Google Shape;607;p18"/>
            <p:cNvPicPr preferRelativeResize="0"/>
            <p:nvPr/>
          </p:nvPicPr>
          <p:blipFill rotWithShape="1">
            <a:blip r:embed="rId4">
              <a:alphaModFix/>
            </a:blip>
            <a:srcRect b="0" l="0" r="0" t="0"/>
            <a:stretch/>
          </p:blipFill>
          <p:spPr>
            <a:xfrm>
              <a:off x="2276809" y="1725275"/>
              <a:ext cx="81980" cy="105500"/>
            </a:xfrm>
            <a:prstGeom prst="rect">
              <a:avLst/>
            </a:prstGeom>
            <a:noFill/>
            <a:ln>
              <a:noFill/>
            </a:ln>
          </p:spPr>
        </p:pic>
        <p:sp>
          <p:nvSpPr>
            <p:cNvPr id="608" name="Google Shape;608;p18"/>
            <p:cNvSpPr/>
            <p:nvPr/>
          </p:nvSpPr>
          <p:spPr>
            <a:xfrm>
              <a:off x="1203499" y="2170375"/>
              <a:ext cx="1114425" cy="247015"/>
            </a:xfrm>
            <a:custGeom>
              <a:rect b="b" l="l" r="r" t="t"/>
              <a:pathLst>
                <a:path extrusionOk="0" h="247014" w="1114425">
                  <a:moveTo>
                    <a:pt x="1114199" y="0"/>
                  </a:moveTo>
                  <a:lnTo>
                    <a:pt x="1114199" y="246549"/>
                  </a:lnTo>
                  <a:lnTo>
                    <a:pt x="0" y="246549"/>
                  </a:lnTo>
                  <a:lnTo>
                    <a:pt x="0" y="1226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09" name="Google Shape;609;p18"/>
            <p:cNvPicPr preferRelativeResize="0"/>
            <p:nvPr/>
          </p:nvPicPr>
          <p:blipFill rotWithShape="1">
            <a:blip r:embed="rId5">
              <a:alphaModFix/>
            </a:blip>
            <a:srcRect b="0" l="0" r="0" t="0"/>
            <a:stretch/>
          </p:blipFill>
          <p:spPr>
            <a:xfrm>
              <a:off x="1162509" y="2197099"/>
              <a:ext cx="81980" cy="105500"/>
            </a:xfrm>
            <a:prstGeom prst="rect">
              <a:avLst/>
            </a:prstGeom>
            <a:noFill/>
            <a:ln>
              <a:noFill/>
            </a:ln>
          </p:spPr>
        </p:pic>
      </p:grpSp>
      <p:sp>
        <p:nvSpPr>
          <p:cNvPr id="610" name="Google Shape;610;p18"/>
          <p:cNvSpPr txBox="1"/>
          <p:nvPr/>
        </p:nvSpPr>
        <p:spPr>
          <a:xfrm>
            <a:off x="1425050" y="1504950"/>
            <a:ext cx="640715" cy="201930"/>
          </a:xfrm>
          <a:prstGeom prst="rect">
            <a:avLst/>
          </a:prstGeom>
          <a:solidFill>
            <a:srgbClr val="FFFFFF"/>
          </a:solidFill>
          <a:ln>
            <a:noFill/>
          </a:ln>
        </p:spPr>
        <p:txBody>
          <a:bodyPr anchorCtr="0" anchor="t" bIns="0" lIns="0" spcFirstLastPara="1" rIns="0" wrap="square" tIns="19675">
            <a:spAutoFit/>
          </a:bodyPr>
          <a:lstStyle/>
          <a:p>
            <a:pPr indent="0" lvl="0" marL="142240" rtl="0" algn="l">
              <a:lnSpc>
                <a:spcPct val="100000"/>
              </a:lnSpc>
              <a:spcBef>
                <a:spcPts val="0"/>
              </a:spcBef>
              <a:spcAft>
                <a:spcPts val="0"/>
              </a:spcAft>
              <a:buNone/>
            </a:pPr>
            <a:r>
              <a:rPr b="1" lang="en-US" sz="1000">
                <a:latin typeface="Arial"/>
                <a:ea typeface="Arial"/>
                <a:cs typeface="Arial"/>
                <a:sym typeface="Arial"/>
              </a:rPr>
              <a:t>Query</a:t>
            </a:r>
            <a:endParaRPr sz="1000">
              <a:latin typeface="Arial"/>
              <a:ea typeface="Arial"/>
              <a:cs typeface="Arial"/>
              <a:sym typeface="Arial"/>
            </a:endParaRPr>
          </a:p>
        </p:txBody>
      </p:sp>
      <p:sp>
        <p:nvSpPr>
          <p:cNvPr id="611" name="Google Shape;611;p18"/>
          <p:cNvSpPr txBox="1"/>
          <p:nvPr/>
        </p:nvSpPr>
        <p:spPr>
          <a:xfrm>
            <a:off x="1356725" y="2312599"/>
            <a:ext cx="709295" cy="201930"/>
          </a:xfrm>
          <a:prstGeom prst="rect">
            <a:avLst/>
          </a:prstGeom>
          <a:solidFill>
            <a:srgbClr val="FFFFFF"/>
          </a:solidFill>
          <a:ln>
            <a:noFill/>
          </a:ln>
        </p:spPr>
        <p:txBody>
          <a:bodyPr anchorCtr="0" anchor="t" bIns="0" lIns="0" spcFirstLastPara="1" rIns="0" wrap="square" tIns="19675">
            <a:spAutoFit/>
          </a:bodyPr>
          <a:lstStyle/>
          <a:p>
            <a:pPr indent="0" lvl="0" marL="72390" rtl="0" algn="l">
              <a:lnSpc>
                <a:spcPct val="100000"/>
              </a:lnSpc>
              <a:spcBef>
                <a:spcPts val="0"/>
              </a:spcBef>
              <a:spcAft>
                <a:spcPts val="0"/>
              </a:spcAft>
              <a:buNone/>
            </a:pPr>
            <a:r>
              <a:rPr b="1" lang="en-US" sz="1000">
                <a:latin typeface="Arial"/>
                <a:ea typeface="Arial"/>
                <a:cs typeface="Arial"/>
                <a:sym typeface="Arial"/>
              </a:rPr>
              <a:t>Response</a:t>
            </a:r>
            <a:endParaRPr sz="1000">
              <a:latin typeface="Arial"/>
              <a:ea typeface="Arial"/>
              <a:cs typeface="Arial"/>
              <a:sym typeface="Arial"/>
            </a:endParaRPr>
          </a:p>
        </p:txBody>
      </p:sp>
      <p:sp>
        <p:nvSpPr>
          <p:cNvPr id="612" name="Google Shape;612;p18"/>
          <p:cNvSpPr/>
          <p:nvPr/>
        </p:nvSpPr>
        <p:spPr>
          <a:xfrm>
            <a:off x="3245524" y="1036649"/>
            <a:ext cx="969644" cy="365760"/>
          </a:xfrm>
          <a:custGeom>
            <a:rect b="b" l="l" r="r" t="t"/>
            <a:pathLst>
              <a:path extrusionOk="0" h="365759" w="969645">
                <a:moveTo>
                  <a:pt x="856665" y="365399"/>
                </a:moveTo>
                <a:lnTo>
                  <a:pt x="112933" y="365399"/>
                </a:lnTo>
                <a:lnTo>
                  <a:pt x="68975" y="356525"/>
                </a:lnTo>
                <a:lnTo>
                  <a:pt x="33077" y="332322"/>
                </a:lnTo>
                <a:lnTo>
                  <a:pt x="8874" y="296424"/>
                </a:lnTo>
                <a:lnTo>
                  <a:pt x="0" y="252465"/>
                </a:lnTo>
                <a:lnTo>
                  <a:pt x="0" y="112934"/>
                </a:lnTo>
                <a:lnTo>
                  <a:pt x="8874" y="68975"/>
                </a:lnTo>
                <a:lnTo>
                  <a:pt x="33077" y="33077"/>
                </a:lnTo>
                <a:lnTo>
                  <a:pt x="68975" y="8874"/>
                </a:lnTo>
                <a:lnTo>
                  <a:pt x="112933" y="0"/>
                </a:lnTo>
                <a:lnTo>
                  <a:pt x="856665" y="0"/>
                </a:lnTo>
                <a:lnTo>
                  <a:pt x="899883" y="8596"/>
                </a:lnTo>
                <a:lnTo>
                  <a:pt x="936522" y="33077"/>
                </a:lnTo>
                <a:lnTo>
                  <a:pt x="961003" y="69716"/>
                </a:lnTo>
                <a:lnTo>
                  <a:pt x="969599" y="112934"/>
                </a:lnTo>
                <a:lnTo>
                  <a:pt x="969599" y="252465"/>
                </a:lnTo>
                <a:lnTo>
                  <a:pt x="960725" y="296424"/>
                </a:lnTo>
                <a:lnTo>
                  <a:pt x="936522" y="332322"/>
                </a:lnTo>
                <a:lnTo>
                  <a:pt x="900624" y="356525"/>
                </a:lnTo>
                <a:lnTo>
                  <a:pt x="856665" y="3653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13" name="Google Shape;613;p18"/>
          <p:cNvSpPr txBox="1"/>
          <p:nvPr/>
        </p:nvSpPr>
        <p:spPr>
          <a:xfrm>
            <a:off x="3383746" y="1049170"/>
            <a:ext cx="693420" cy="330200"/>
          </a:xfrm>
          <a:prstGeom prst="rect">
            <a:avLst/>
          </a:prstGeom>
          <a:noFill/>
          <a:ln>
            <a:noFill/>
          </a:ln>
        </p:spPr>
        <p:txBody>
          <a:bodyPr anchorCtr="0" anchor="t" bIns="0" lIns="0" spcFirstLastPara="1" rIns="0" wrap="square" tIns="12700">
            <a:spAutoFit/>
          </a:bodyPr>
          <a:lstStyle/>
          <a:p>
            <a:pPr indent="-149860" lvl="0" marL="161925" marR="5080" rtl="0" algn="l">
              <a:lnSpc>
                <a:spcPct val="100000"/>
              </a:lnSpc>
              <a:spcBef>
                <a:spcPts val="0"/>
              </a:spcBef>
              <a:spcAft>
                <a:spcPts val="0"/>
              </a:spcAft>
              <a:buNone/>
            </a:pPr>
            <a:r>
              <a:rPr b="1" lang="en-US" sz="1000">
                <a:solidFill>
                  <a:srgbClr val="FFFFFF"/>
                </a:solidFill>
                <a:latin typeface="Arial"/>
                <a:ea typeface="Arial"/>
                <a:cs typeface="Arial"/>
                <a:sym typeface="Arial"/>
              </a:rPr>
              <a:t>Embedding Model</a:t>
            </a:r>
            <a:endParaRPr sz="1000">
              <a:latin typeface="Arial"/>
              <a:ea typeface="Arial"/>
              <a:cs typeface="Arial"/>
              <a:sym typeface="Arial"/>
            </a:endParaRPr>
          </a:p>
        </p:txBody>
      </p:sp>
      <p:grpSp>
        <p:nvGrpSpPr>
          <p:cNvPr id="614" name="Google Shape;614;p18"/>
          <p:cNvGrpSpPr/>
          <p:nvPr/>
        </p:nvGrpSpPr>
        <p:grpSpPr>
          <a:xfrm>
            <a:off x="4743912" y="1953062"/>
            <a:ext cx="853615" cy="452084"/>
            <a:chOff x="4743912" y="1953062"/>
            <a:chExt cx="853615" cy="452084"/>
          </a:xfrm>
        </p:grpSpPr>
        <p:sp>
          <p:nvSpPr>
            <p:cNvPr id="615" name="Google Shape;615;p18"/>
            <p:cNvSpPr/>
            <p:nvPr/>
          </p:nvSpPr>
          <p:spPr>
            <a:xfrm>
              <a:off x="4820287" y="1953062"/>
              <a:ext cx="777240" cy="410209"/>
            </a:xfrm>
            <a:custGeom>
              <a:rect b="b" l="l" r="r" t="t"/>
              <a:pathLst>
                <a:path extrusionOk="0" h="410210" w="777239">
                  <a:moveTo>
                    <a:pt x="0" y="68301"/>
                  </a:moveTo>
                  <a:lnTo>
                    <a:pt x="5367" y="41715"/>
                  </a:lnTo>
                  <a:lnTo>
                    <a:pt x="20005" y="20004"/>
                  </a:lnTo>
                  <a:lnTo>
                    <a:pt x="41715" y="5367"/>
                  </a:lnTo>
                  <a:lnTo>
                    <a:pt x="68301" y="0"/>
                  </a:lnTo>
                  <a:lnTo>
                    <a:pt x="708698" y="0"/>
                  </a:lnTo>
                  <a:lnTo>
                    <a:pt x="746592" y="11475"/>
                  </a:lnTo>
                  <a:lnTo>
                    <a:pt x="771800" y="42163"/>
                  </a:lnTo>
                  <a:lnTo>
                    <a:pt x="776999" y="68301"/>
                  </a:lnTo>
                  <a:lnTo>
                    <a:pt x="776999" y="341498"/>
                  </a:lnTo>
                  <a:lnTo>
                    <a:pt x="771632" y="368084"/>
                  </a:lnTo>
                  <a:lnTo>
                    <a:pt x="756994" y="389795"/>
                  </a:lnTo>
                  <a:lnTo>
                    <a:pt x="735284" y="404432"/>
                  </a:lnTo>
                  <a:lnTo>
                    <a:pt x="708698" y="409799"/>
                  </a:lnTo>
                  <a:lnTo>
                    <a:pt x="68301" y="409799"/>
                  </a:lnTo>
                  <a:lnTo>
                    <a:pt x="41715" y="404432"/>
                  </a:lnTo>
                  <a:lnTo>
                    <a:pt x="20005" y="389795"/>
                  </a:lnTo>
                  <a:lnTo>
                    <a:pt x="5367" y="368084"/>
                  </a:lnTo>
                  <a:lnTo>
                    <a:pt x="0" y="341498"/>
                  </a:lnTo>
                  <a:lnTo>
                    <a:pt x="0" y="68301"/>
                  </a:lnTo>
                  <a:close/>
                </a:path>
              </a:pathLst>
            </a:custGeom>
            <a:noFill/>
            <a:ln cap="flat" cmpd="sng" w="9525">
              <a:solidFill>
                <a:srgbClr val="FFAB4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16" name="Google Shape;616;p18"/>
            <p:cNvSpPr/>
            <p:nvPr/>
          </p:nvSpPr>
          <p:spPr>
            <a:xfrm>
              <a:off x="4743912" y="1994937"/>
              <a:ext cx="777240" cy="410209"/>
            </a:xfrm>
            <a:custGeom>
              <a:rect b="b" l="l" r="r" t="t"/>
              <a:pathLst>
                <a:path extrusionOk="0" h="410210" w="777239">
                  <a:moveTo>
                    <a:pt x="708698" y="409799"/>
                  </a:moveTo>
                  <a:lnTo>
                    <a:pt x="68301" y="409799"/>
                  </a:lnTo>
                  <a:lnTo>
                    <a:pt x="41715" y="404432"/>
                  </a:lnTo>
                  <a:lnTo>
                    <a:pt x="20005" y="389795"/>
                  </a:lnTo>
                  <a:lnTo>
                    <a:pt x="5367" y="368084"/>
                  </a:lnTo>
                  <a:lnTo>
                    <a:pt x="0" y="341498"/>
                  </a:lnTo>
                  <a:lnTo>
                    <a:pt x="0" y="68301"/>
                  </a:lnTo>
                  <a:lnTo>
                    <a:pt x="5367" y="41715"/>
                  </a:lnTo>
                  <a:lnTo>
                    <a:pt x="20005" y="20004"/>
                  </a:lnTo>
                  <a:lnTo>
                    <a:pt x="41715" y="5367"/>
                  </a:lnTo>
                  <a:lnTo>
                    <a:pt x="68301" y="0"/>
                  </a:lnTo>
                  <a:lnTo>
                    <a:pt x="708698" y="0"/>
                  </a:lnTo>
                  <a:lnTo>
                    <a:pt x="746592" y="11475"/>
                  </a:lnTo>
                  <a:lnTo>
                    <a:pt x="771800" y="42163"/>
                  </a:lnTo>
                  <a:lnTo>
                    <a:pt x="776999" y="68301"/>
                  </a:lnTo>
                  <a:lnTo>
                    <a:pt x="776999" y="341498"/>
                  </a:lnTo>
                  <a:lnTo>
                    <a:pt x="771632" y="368084"/>
                  </a:lnTo>
                  <a:lnTo>
                    <a:pt x="756994" y="389795"/>
                  </a:lnTo>
                  <a:lnTo>
                    <a:pt x="735284" y="404432"/>
                  </a:lnTo>
                  <a:lnTo>
                    <a:pt x="708698" y="409799"/>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17" name="Google Shape;617;p18"/>
            <p:cNvSpPr/>
            <p:nvPr/>
          </p:nvSpPr>
          <p:spPr>
            <a:xfrm>
              <a:off x="4743912" y="1994937"/>
              <a:ext cx="777240" cy="410209"/>
            </a:xfrm>
            <a:custGeom>
              <a:rect b="b" l="l" r="r" t="t"/>
              <a:pathLst>
                <a:path extrusionOk="0" h="410210" w="777239">
                  <a:moveTo>
                    <a:pt x="0" y="68301"/>
                  </a:moveTo>
                  <a:lnTo>
                    <a:pt x="5367" y="41715"/>
                  </a:lnTo>
                  <a:lnTo>
                    <a:pt x="20005" y="20004"/>
                  </a:lnTo>
                  <a:lnTo>
                    <a:pt x="41715" y="5367"/>
                  </a:lnTo>
                  <a:lnTo>
                    <a:pt x="68301" y="0"/>
                  </a:lnTo>
                  <a:lnTo>
                    <a:pt x="708698" y="0"/>
                  </a:lnTo>
                  <a:lnTo>
                    <a:pt x="746592" y="11475"/>
                  </a:lnTo>
                  <a:lnTo>
                    <a:pt x="771800" y="42163"/>
                  </a:lnTo>
                  <a:lnTo>
                    <a:pt x="776999" y="68301"/>
                  </a:lnTo>
                  <a:lnTo>
                    <a:pt x="776999" y="341498"/>
                  </a:lnTo>
                  <a:lnTo>
                    <a:pt x="771632" y="368084"/>
                  </a:lnTo>
                  <a:lnTo>
                    <a:pt x="756994" y="389795"/>
                  </a:lnTo>
                  <a:lnTo>
                    <a:pt x="735284" y="404432"/>
                  </a:lnTo>
                  <a:lnTo>
                    <a:pt x="708698" y="409799"/>
                  </a:lnTo>
                  <a:lnTo>
                    <a:pt x="68301" y="409799"/>
                  </a:lnTo>
                  <a:lnTo>
                    <a:pt x="41715" y="404432"/>
                  </a:lnTo>
                  <a:lnTo>
                    <a:pt x="20005" y="389795"/>
                  </a:lnTo>
                  <a:lnTo>
                    <a:pt x="5367" y="368084"/>
                  </a:lnTo>
                  <a:lnTo>
                    <a:pt x="0" y="341498"/>
                  </a:lnTo>
                  <a:lnTo>
                    <a:pt x="0" y="68301"/>
                  </a:lnTo>
                  <a:close/>
                </a:path>
              </a:pathLst>
            </a:custGeom>
            <a:noFill/>
            <a:ln cap="flat" cmpd="sng" w="9525">
              <a:solidFill>
                <a:srgbClr val="FFAB4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18" name="Google Shape;618;p18"/>
          <p:cNvSpPr txBox="1"/>
          <p:nvPr/>
        </p:nvSpPr>
        <p:spPr>
          <a:xfrm>
            <a:off x="4649499" y="1892549"/>
            <a:ext cx="1042669" cy="572770"/>
          </a:xfrm>
          <a:prstGeom prst="rect">
            <a:avLst/>
          </a:prstGeom>
          <a:noFill/>
          <a:ln cap="flat" cmpd="sng" w="9525">
            <a:solidFill>
              <a:srgbClr val="595959"/>
            </a:solidFill>
            <a:prstDash val="solid"/>
            <a:round/>
            <a:headEnd len="sm" w="sm" type="none"/>
            <a:tailEnd len="sm" w="sm" type="none"/>
          </a:ln>
        </p:spPr>
        <p:txBody>
          <a:bodyPr anchorCtr="0" anchor="t" bIns="0" lIns="0" spcFirstLastPara="1" rIns="0" wrap="square" tIns="45075">
            <a:spAutoFit/>
          </a:bodyPr>
          <a:lstStyle/>
          <a:p>
            <a:pPr indent="0" lvl="0" marL="0" rtl="0" algn="l">
              <a:lnSpc>
                <a:spcPct val="100000"/>
              </a:lnSpc>
              <a:spcBef>
                <a:spcPts val="0"/>
              </a:spcBef>
              <a:spcAft>
                <a:spcPts val="0"/>
              </a:spcAft>
              <a:buNone/>
            </a:pPr>
            <a:r>
              <a:t/>
            </a:r>
            <a:endParaRPr sz="900">
              <a:latin typeface="Times New Roman"/>
              <a:ea typeface="Times New Roman"/>
              <a:cs typeface="Times New Roman"/>
              <a:sym typeface="Times New Roman"/>
            </a:endParaRPr>
          </a:p>
          <a:p>
            <a:pPr indent="0" lvl="0" marL="200025" marR="305435" rtl="0" algn="l">
              <a:lnSpc>
                <a:spcPct val="116666"/>
              </a:lnSpc>
              <a:spcBef>
                <a:spcPts val="0"/>
              </a:spcBef>
              <a:spcAft>
                <a:spcPts val="0"/>
              </a:spcAft>
              <a:buNone/>
            </a:pPr>
            <a:r>
              <a:rPr lang="en-US" sz="900">
                <a:latin typeface="Arial"/>
                <a:ea typeface="Arial"/>
                <a:cs typeface="Arial"/>
                <a:sym typeface="Arial"/>
              </a:rPr>
              <a:t>Document Chunk</a:t>
            </a:r>
            <a:endParaRPr sz="900">
              <a:latin typeface="Arial"/>
              <a:ea typeface="Arial"/>
              <a:cs typeface="Arial"/>
              <a:sym typeface="Arial"/>
            </a:endParaRPr>
          </a:p>
        </p:txBody>
      </p:sp>
      <p:sp>
        <p:nvSpPr>
          <p:cNvPr id="619" name="Google Shape;619;p18"/>
          <p:cNvSpPr/>
          <p:nvPr/>
        </p:nvSpPr>
        <p:spPr>
          <a:xfrm>
            <a:off x="6244725" y="2617349"/>
            <a:ext cx="843915" cy="321310"/>
          </a:xfrm>
          <a:custGeom>
            <a:rect b="b" l="l" r="r" t="t"/>
            <a:pathLst>
              <a:path extrusionOk="0" h="321310" w="843915">
                <a:moveTo>
                  <a:pt x="789749" y="321299"/>
                </a:moveTo>
                <a:lnTo>
                  <a:pt x="53551" y="321299"/>
                </a:lnTo>
                <a:lnTo>
                  <a:pt x="32706" y="317091"/>
                </a:lnTo>
                <a:lnTo>
                  <a:pt x="15684" y="305615"/>
                </a:lnTo>
                <a:lnTo>
                  <a:pt x="4208" y="288593"/>
                </a:lnTo>
                <a:lnTo>
                  <a:pt x="0" y="267748"/>
                </a:lnTo>
                <a:lnTo>
                  <a:pt x="0" y="53550"/>
                </a:lnTo>
                <a:lnTo>
                  <a:pt x="4137" y="33057"/>
                </a:lnTo>
                <a:lnTo>
                  <a:pt x="4208" y="32706"/>
                </a:lnTo>
                <a:lnTo>
                  <a:pt x="15684" y="15684"/>
                </a:lnTo>
                <a:lnTo>
                  <a:pt x="32706" y="4208"/>
                </a:lnTo>
                <a:lnTo>
                  <a:pt x="53551" y="0"/>
                </a:lnTo>
                <a:lnTo>
                  <a:pt x="789749" y="0"/>
                </a:lnTo>
                <a:lnTo>
                  <a:pt x="827615" y="15684"/>
                </a:lnTo>
                <a:lnTo>
                  <a:pt x="843299" y="53550"/>
                </a:lnTo>
                <a:lnTo>
                  <a:pt x="843299" y="267748"/>
                </a:lnTo>
                <a:lnTo>
                  <a:pt x="839091" y="288593"/>
                </a:lnTo>
                <a:lnTo>
                  <a:pt x="827615" y="305615"/>
                </a:lnTo>
                <a:lnTo>
                  <a:pt x="810593" y="317091"/>
                </a:lnTo>
                <a:lnTo>
                  <a:pt x="789749" y="3212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20" name="Google Shape;620;p18"/>
          <p:cNvSpPr txBox="1"/>
          <p:nvPr/>
        </p:nvSpPr>
        <p:spPr>
          <a:xfrm>
            <a:off x="6357459" y="2668716"/>
            <a:ext cx="631190"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1200">
                <a:solidFill>
                  <a:srgbClr val="FFFFFF"/>
                </a:solidFill>
                <a:latin typeface="Arial"/>
                <a:ea typeface="Arial"/>
                <a:cs typeface="Arial"/>
                <a:sym typeface="Arial"/>
              </a:rPr>
              <a:t>Retriever</a:t>
            </a:r>
            <a:endParaRPr sz="1200">
              <a:latin typeface="Arial"/>
              <a:ea typeface="Arial"/>
              <a:cs typeface="Arial"/>
              <a:sym typeface="Arial"/>
            </a:endParaRPr>
          </a:p>
        </p:txBody>
      </p:sp>
      <p:grpSp>
        <p:nvGrpSpPr>
          <p:cNvPr id="621" name="Google Shape;621;p18"/>
          <p:cNvGrpSpPr/>
          <p:nvPr/>
        </p:nvGrpSpPr>
        <p:grpSpPr>
          <a:xfrm>
            <a:off x="4782099" y="3231500"/>
            <a:ext cx="853615" cy="452084"/>
            <a:chOff x="4782099" y="3231500"/>
            <a:chExt cx="853615" cy="452084"/>
          </a:xfrm>
        </p:grpSpPr>
        <p:sp>
          <p:nvSpPr>
            <p:cNvPr id="622" name="Google Shape;622;p18"/>
            <p:cNvSpPr/>
            <p:nvPr/>
          </p:nvSpPr>
          <p:spPr>
            <a:xfrm>
              <a:off x="4858474" y="3231500"/>
              <a:ext cx="777240" cy="410209"/>
            </a:xfrm>
            <a:custGeom>
              <a:rect b="b" l="l" r="r" t="t"/>
              <a:pathLst>
                <a:path extrusionOk="0" h="410210" w="777239">
                  <a:moveTo>
                    <a:pt x="0" y="68301"/>
                  </a:moveTo>
                  <a:lnTo>
                    <a:pt x="5367" y="41715"/>
                  </a:lnTo>
                  <a:lnTo>
                    <a:pt x="20005" y="20004"/>
                  </a:lnTo>
                  <a:lnTo>
                    <a:pt x="41715" y="5367"/>
                  </a:lnTo>
                  <a:lnTo>
                    <a:pt x="68301" y="0"/>
                  </a:lnTo>
                  <a:lnTo>
                    <a:pt x="708698" y="0"/>
                  </a:lnTo>
                  <a:lnTo>
                    <a:pt x="746592" y="11475"/>
                  </a:lnTo>
                  <a:lnTo>
                    <a:pt x="771800" y="42163"/>
                  </a:lnTo>
                  <a:lnTo>
                    <a:pt x="776999" y="68301"/>
                  </a:lnTo>
                  <a:lnTo>
                    <a:pt x="776999" y="341498"/>
                  </a:lnTo>
                  <a:lnTo>
                    <a:pt x="771632" y="368084"/>
                  </a:lnTo>
                  <a:lnTo>
                    <a:pt x="756994" y="389794"/>
                  </a:lnTo>
                  <a:lnTo>
                    <a:pt x="735284" y="404432"/>
                  </a:lnTo>
                  <a:lnTo>
                    <a:pt x="708698" y="409799"/>
                  </a:lnTo>
                  <a:lnTo>
                    <a:pt x="68301" y="409799"/>
                  </a:lnTo>
                  <a:lnTo>
                    <a:pt x="41715" y="404432"/>
                  </a:lnTo>
                  <a:lnTo>
                    <a:pt x="20005" y="389794"/>
                  </a:lnTo>
                  <a:lnTo>
                    <a:pt x="5367" y="368084"/>
                  </a:lnTo>
                  <a:lnTo>
                    <a:pt x="0" y="341498"/>
                  </a:lnTo>
                  <a:lnTo>
                    <a:pt x="0" y="68301"/>
                  </a:lnTo>
                  <a:close/>
                </a:path>
              </a:pathLst>
            </a:custGeom>
            <a:noFill/>
            <a:ln cap="flat" cmpd="sng" w="9525">
              <a:solidFill>
                <a:srgbClr val="0B7BB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23" name="Google Shape;623;p18"/>
            <p:cNvSpPr/>
            <p:nvPr/>
          </p:nvSpPr>
          <p:spPr>
            <a:xfrm>
              <a:off x="4782099" y="3273375"/>
              <a:ext cx="777240" cy="410209"/>
            </a:xfrm>
            <a:custGeom>
              <a:rect b="b" l="l" r="r" t="t"/>
              <a:pathLst>
                <a:path extrusionOk="0" h="410210" w="777239">
                  <a:moveTo>
                    <a:pt x="708698" y="409799"/>
                  </a:moveTo>
                  <a:lnTo>
                    <a:pt x="68301" y="409799"/>
                  </a:lnTo>
                  <a:lnTo>
                    <a:pt x="41715" y="404432"/>
                  </a:lnTo>
                  <a:lnTo>
                    <a:pt x="20005" y="389794"/>
                  </a:lnTo>
                  <a:lnTo>
                    <a:pt x="5367" y="368084"/>
                  </a:lnTo>
                  <a:lnTo>
                    <a:pt x="0" y="341498"/>
                  </a:lnTo>
                  <a:lnTo>
                    <a:pt x="0" y="68301"/>
                  </a:lnTo>
                  <a:lnTo>
                    <a:pt x="5367" y="41715"/>
                  </a:lnTo>
                  <a:lnTo>
                    <a:pt x="20005" y="20005"/>
                  </a:lnTo>
                  <a:lnTo>
                    <a:pt x="41715" y="5367"/>
                  </a:lnTo>
                  <a:lnTo>
                    <a:pt x="68301" y="0"/>
                  </a:lnTo>
                  <a:lnTo>
                    <a:pt x="708698" y="0"/>
                  </a:lnTo>
                  <a:lnTo>
                    <a:pt x="746592" y="11475"/>
                  </a:lnTo>
                  <a:lnTo>
                    <a:pt x="771800" y="42163"/>
                  </a:lnTo>
                  <a:lnTo>
                    <a:pt x="776999" y="68301"/>
                  </a:lnTo>
                  <a:lnTo>
                    <a:pt x="776999" y="341498"/>
                  </a:lnTo>
                  <a:lnTo>
                    <a:pt x="771632" y="368084"/>
                  </a:lnTo>
                  <a:lnTo>
                    <a:pt x="756994" y="389794"/>
                  </a:lnTo>
                  <a:lnTo>
                    <a:pt x="735284" y="404432"/>
                  </a:lnTo>
                  <a:lnTo>
                    <a:pt x="708698" y="409799"/>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24" name="Google Shape;624;p18"/>
            <p:cNvSpPr/>
            <p:nvPr/>
          </p:nvSpPr>
          <p:spPr>
            <a:xfrm>
              <a:off x="4782099" y="3273375"/>
              <a:ext cx="777240" cy="410209"/>
            </a:xfrm>
            <a:custGeom>
              <a:rect b="b" l="l" r="r" t="t"/>
              <a:pathLst>
                <a:path extrusionOk="0" h="410210" w="777239">
                  <a:moveTo>
                    <a:pt x="0" y="68301"/>
                  </a:moveTo>
                  <a:lnTo>
                    <a:pt x="5367" y="41715"/>
                  </a:lnTo>
                  <a:lnTo>
                    <a:pt x="20005" y="20005"/>
                  </a:lnTo>
                  <a:lnTo>
                    <a:pt x="41715" y="5367"/>
                  </a:lnTo>
                  <a:lnTo>
                    <a:pt x="68301" y="0"/>
                  </a:lnTo>
                  <a:lnTo>
                    <a:pt x="708698" y="0"/>
                  </a:lnTo>
                  <a:lnTo>
                    <a:pt x="746592" y="11475"/>
                  </a:lnTo>
                  <a:lnTo>
                    <a:pt x="771800" y="42163"/>
                  </a:lnTo>
                  <a:lnTo>
                    <a:pt x="776999" y="68301"/>
                  </a:lnTo>
                  <a:lnTo>
                    <a:pt x="776999" y="341498"/>
                  </a:lnTo>
                  <a:lnTo>
                    <a:pt x="771632" y="368084"/>
                  </a:lnTo>
                  <a:lnTo>
                    <a:pt x="756994" y="389794"/>
                  </a:lnTo>
                  <a:lnTo>
                    <a:pt x="735284" y="404432"/>
                  </a:lnTo>
                  <a:lnTo>
                    <a:pt x="708698" y="409799"/>
                  </a:lnTo>
                  <a:lnTo>
                    <a:pt x="68301" y="409799"/>
                  </a:lnTo>
                  <a:lnTo>
                    <a:pt x="41715" y="404432"/>
                  </a:lnTo>
                  <a:lnTo>
                    <a:pt x="20005" y="389794"/>
                  </a:lnTo>
                  <a:lnTo>
                    <a:pt x="5367" y="368084"/>
                  </a:lnTo>
                  <a:lnTo>
                    <a:pt x="0" y="341498"/>
                  </a:lnTo>
                  <a:lnTo>
                    <a:pt x="0" y="68301"/>
                  </a:lnTo>
                  <a:close/>
                </a:path>
              </a:pathLst>
            </a:custGeom>
            <a:noFill/>
            <a:ln cap="flat" cmpd="sng" w="9525">
              <a:solidFill>
                <a:srgbClr val="0B7BB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25" name="Google Shape;625;p18"/>
          <p:cNvSpPr txBox="1"/>
          <p:nvPr/>
        </p:nvSpPr>
        <p:spPr>
          <a:xfrm>
            <a:off x="4687699" y="3116424"/>
            <a:ext cx="1042669" cy="659130"/>
          </a:xfrm>
          <a:prstGeom prst="rect">
            <a:avLst/>
          </a:prstGeom>
          <a:noFill/>
          <a:ln cap="flat" cmpd="sng" w="9525">
            <a:solidFill>
              <a:srgbClr val="595959"/>
            </a:solidFill>
            <a:prstDash val="solid"/>
            <a:round/>
            <a:headEnd len="sm" w="sm" type="none"/>
            <a:tailEnd len="sm" w="sm" type="none"/>
          </a:ln>
        </p:spPr>
        <p:txBody>
          <a:bodyPr anchorCtr="0" anchor="t" bIns="0" lIns="0" spcFirstLastPara="1" rIns="0" wrap="square" tIns="99675">
            <a:spAutoFit/>
          </a:bodyPr>
          <a:lstStyle/>
          <a:p>
            <a:pPr indent="0" lvl="0" marL="0" rtl="0" algn="l">
              <a:lnSpc>
                <a:spcPct val="100000"/>
              </a:lnSpc>
              <a:spcBef>
                <a:spcPts val="0"/>
              </a:spcBef>
              <a:spcAft>
                <a:spcPts val="0"/>
              </a:spcAft>
              <a:buNone/>
            </a:pPr>
            <a:r>
              <a:t/>
            </a:r>
            <a:endParaRPr sz="900">
              <a:latin typeface="Times New Roman"/>
              <a:ea typeface="Times New Roman"/>
              <a:cs typeface="Times New Roman"/>
              <a:sym typeface="Times New Roman"/>
            </a:endParaRPr>
          </a:p>
          <a:p>
            <a:pPr indent="0" lvl="0" marL="200025" marR="305435" rtl="0" algn="l">
              <a:lnSpc>
                <a:spcPct val="116666"/>
              </a:lnSpc>
              <a:spcBef>
                <a:spcPts val="0"/>
              </a:spcBef>
              <a:spcAft>
                <a:spcPts val="0"/>
              </a:spcAft>
              <a:buNone/>
            </a:pPr>
            <a:r>
              <a:rPr lang="en-US" sz="900">
                <a:latin typeface="Arial"/>
                <a:ea typeface="Arial"/>
                <a:cs typeface="Arial"/>
                <a:sym typeface="Arial"/>
              </a:rPr>
              <a:t>Document Chunk</a:t>
            </a:r>
            <a:endParaRPr sz="900">
              <a:latin typeface="Arial"/>
              <a:ea typeface="Arial"/>
              <a:cs typeface="Arial"/>
              <a:sym typeface="Arial"/>
            </a:endParaRPr>
          </a:p>
        </p:txBody>
      </p:sp>
      <p:grpSp>
        <p:nvGrpSpPr>
          <p:cNvPr id="626" name="Google Shape;626;p18"/>
          <p:cNvGrpSpPr/>
          <p:nvPr/>
        </p:nvGrpSpPr>
        <p:grpSpPr>
          <a:xfrm>
            <a:off x="2637950" y="1178234"/>
            <a:ext cx="4611239" cy="2308705"/>
            <a:chOff x="2637950" y="1178234"/>
            <a:chExt cx="4611239" cy="2308705"/>
          </a:xfrm>
        </p:grpSpPr>
        <p:sp>
          <p:nvSpPr>
            <p:cNvPr id="627" name="Google Shape;627;p18"/>
            <p:cNvSpPr/>
            <p:nvPr/>
          </p:nvSpPr>
          <p:spPr>
            <a:xfrm>
              <a:off x="2637950" y="1219224"/>
              <a:ext cx="493395" cy="790575"/>
            </a:xfrm>
            <a:custGeom>
              <a:rect b="b" l="l" r="r" t="t"/>
              <a:pathLst>
                <a:path extrusionOk="0" h="790575" w="493394">
                  <a:moveTo>
                    <a:pt x="0" y="790499"/>
                  </a:moveTo>
                  <a:lnTo>
                    <a:pt x="303786" y="790499"/>
                  </a:lnTo>
                  <a:lnTo>
                    <a:pt x="303786" y="0"/>
                  </a:lnTo>
                  <a:lnTo>
                    <a:pt x="493199"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28" name="Google Shape;628;p18"/>
            <p:cNvPicPr preferRelativeResize="0"/>
            <p:nvPr/>
          </p:nvPicPr>
          <p:blipFill rotWithShape="1">
            <a:blip r:embed="rId6">
              <a:alphaModFix/>
            </a:blip>
            <a:srcRect b="0" l="0" r="0" t="0"/>
            <a:stretch/>
          </p:blipFill>
          <p:spPr>
            <a:xfrm>
              <a:off x="3121625" y="1178234"/>
              <a:ext cx="105500" cy="81980"/>
            </a:xfrm>
            <a:prstGeom prst="rect">
              <a:avLst/>
            </a:prstGeom>
            <a:noFill/>
            <a:ln>
              <a:noFill/>
            </a:ln>
          </p:spPr>
        </p:pic>
        <p:sp>
          <p:nvSpPr>
            <p:cNvPr id="629" name="Google Shape;629;p18"/>
            <p:cNvSpPr/>
            <p:nvPr/>
          </p:nvSpPr>
          <p:spPr>
            <a:xfrm>
              <a:off x="4215124" y="1219349"/>
              <a:ext cx="452755" cy="182880"/>
            </a:xfrm>
            <a:custGeom>
              <a:rect b="b" l="l" r="r" t="t"/>
              <a:pathLst>
                <a:path extrusionOk="0" h="182880" w="452754">
                  <a:moveTo>
                    <a:pt x="0" y="0"/>
                  </a:moveTo>
                  <a:lnTo>
                    <a:pt x="283488" y="0"/>
                  </a:lnTo>
                  <a:lnTo>
                    <a:pt x="283488" y="182699"/>
                  </a:lnTo>
                  <a:lnTo>
                    <a:pt x="452699" y="1826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30" name="Google Shape;630;p18"/>
            <p:cNvPicPr preferRelativeResize="0"/>
            <p:nvPr/>
          </p:nvPicPr>
          <p:blipFill rotWithShape="1">
            <a:blip r:embed="rId7">
              <a:alphaModFix/>
            </a:blip>
            <a:srcRect b="0" l="0" r="0" t="0"/>
            <a:stretch/>
          </p:blipFill>
          <p:spPr>
            <a:xfrm>
              <a:off x="4658299" y="1361059"/>
              <a:ext cx="105500" cy="81980"/>
            </a:xfrm>
            <a:prstGeom prst="rect">
              <a:avLst/>
            </a:prstGeom>
            <a:noFill/>
            <a:ln>
              <a:noFill/>
            </a:ln>
          </p:spPr>
        </p:pic>
        <p:pic>
          <p:nvPicPr>
            <p:cNvPr id="631" name="Google Shape;631;p18"/>
            <p:cNvPicPr preferRelativeResize="0"/>
            <p:nvPr/>
          </p:nvPicPr>
          <p:blipFill rotWithShape="1">
            <a:blip r:embed="rId8">
              <a:alphaModFix/>
            </a:blip>
            <a:srcRect b="0" l="0" r="0" t="0"/>
            <a:stretch/>
          </p:blipFill>
          <p:spPr>
            <a:xfrm>
              <a:off x="5129609" y="1562662"/>
              <a:ext cx="81980" cy="311675"/>
            </a:xfrm>
            <a:prstGeom prst="rect">
              <a:avLst/>
            </a:prstGeom>
            <a:noFill/>
            <a:ln>
              <a:noFill/>
            </a:ln>
          </p:spPr>
        </p:pic>
        <p:sp>
          <p:nvSpPr>
            <p:cNvPr id="632" name="Google Shape;632;p18"/>
            <p:cNvSpPr/>
            <p:nvPr/>
          </p:nvSpPr>
          <p:spPr>
            <a:xfrm>
              <a:off x="5691700" y="2178899"/>
              <a:ext cx="1517015" cy="198755"/>
            </a:xfrm>
            <a:custGeom>
              <a:rect b="b" l="l" r="r" t="t"/>
              <a:pathLst>
                <a:path extrusionOk="0" h="198755" w="1517015">
                  <a:moveTo>
                    <a:pt x="0" y="0"/>
                  </a:moveTo>
                  <a:lnTo>
                    <a:pt x="1516499" y="0"/>
                  </a:lnTo>
                  <a:lnTo>
                    <a:pt x="1516499" y="1985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33" name="Google Shape;633;p18"/>
            <p:cNvPicPr preferRelativeResize="0"/>
            <p:nvPr/>
          </p:nvPicPr>
          <p:blipFill rotWithShape="1">
            <a:blip r:embed="rId4">
              <a:alphaModFix/>
            </a:blip>
            <a:srcRect b="0" l="0" r="0" t="0"/>
            <a:stretch/>
          </p:blipFill>
          <p:spPr>
            <a:xfrm>
              <a:off x="7167209" y="2367974"/>
              <a:ext cx="81980" cy="105500"/>
            </a:xfrm>
            <a:prstGeom prst="rect">
              <a:avLst/>
            </a:prstGeom>
            <a:noFill/>
            <a:ln>
              <a:noFill/>
            </a:ln>
          </p:spPr>
        </p:pic>
        <p:sp>
          <p:nvSpPr>
            <p:cNvPr id="634" name="Google Shape;634;p18"/>
            <p:cNvSpPr/>
            <p:nvPr/>
          </p:nvSpPr>
          <p:spPr>
            <a:xfrm>
              <a:off x="5844275" y="3064349"/>
              <a:ext cx="1363980" cy="381635"/>
            </a:xfrm>
            <a:custGeom>
              <a:rect b="b" l="l" r="r" t="t"/>
              <a:pathLst>
                <a:path extrusionOk="0" h="381635" w="1363979">
                  <a:moveTo>
                    <a:pt x="1363799" y="0"/>
                  </a:moveTo>
                  <a:lnTo>
                    <a:pt x="1363799" y="381599"/>
                  </a:lnTo>
                  <a:lnTo>
                    <a:pt x="0" y="3815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35" name="Google Shape;635;p18"/>
            <p:cNvPicPr preferRelativeResize="0"/>
            <p:nvPr/>
          </p:nvPicPr>
          <p:blipFill rotWithShape="1">
            <a:blip r:embed="rId9">
              <a:alphaModFix/>
            </a:blip>
            <a:srcRect b="0" l="0" r="0" t="0"/>
            <a:stretch/>
          </p:blipFill>
          <p:spPr>
            <a:xfrm>
              <a:off x="5748299" y="3404959"/>
              <a:ext cx="105500" cy="81980"/>
            </a:xfrm>
            <a:prstGeom prst="rect">
              <a:avLst/>
            </a:prstGeom>
            <a:noFill/>
            <a:ln>
              <a:noFill/>
            </a:ln>
          </p:spPr>
        </p:pic>
        <p:sp>
          <p:nvSpPr>
            <p:cNvPr id="636" name="Google Shape;636;p18"/>
            <p:cNvSpPr/>
            <p:nvPr/>
          </p:nvSpPr>
          <p:spPr>
            <a:xfrm>
              <a:off x="3245525" y="2617349"/>
              <a:ext cx="1042669" cy="321310"/>
            </a:xfrm>
            <a:custGeom>
              <a:rect b="b" l="l" r="r" t="t"/>
              <a:pathLst>
                <a:path extrusionOk="0" h="321310" w="1042670">
                  <a:moveTo>
                    <a:pt x="988648" y="321299"/>
                  </a:moveTo>
                  <a:lnTo>
                    <a:pt x="53551" y="321299"/>
                  </a:lnTo>
                  <a:lnTo>
                    <a:pt x="32706" y="317091"/>
                  </a:lnTo>
                  <a:lnTo>
                    <a:pt x="15684" y="305615"/>
                  </a:lnTo>
                  <a:lnTo>
                    <a:pt x="4208" y="288593"/>
                  </a:lnTo>
                  <a:lnTo>
                    <a:pt x="0" y="267748"/>
                  </a:lnTo>
                  <a:lnTo>
                    <a:pt x="0" y="53550"/>
                  </a:lnTo>
                  <a:lnTo>
                    <a:pt x="4208" y="32706"/>
                  </a:lnTo>
                  <a:lnTo>
                    <a:pt x="15684" y="15684"/>
                  </a:lnTo>
                  <a:lnTo>
                    <a:pt x="32706" y="4208"/>
                  </a:lnTo>
                  <a:lnTo>
                    <a:pt x="53551" y="0"/>
                  </a:lnTo>
                  <a:lnTo>
                    <a:pt x="988648" y="0"/>
                  </a:lnTo>
                  <a:lnTo>
                    <a:pt x="1026515" y="15684"/>
                  </a:lnTo>
                  <a:lnTo>
                    <a:pt x="1042199" y="53550"/>
                  </a:lnTo>
                  <a:lnTo>
                    <a:pt x="1042199" y="267748"/>
                  </a:lnTo>
                  <a:lnTo>
                    <a:pt x="1037991" y="288593"/>
                  </a:lnTo>
                  <a:lnTo>
                    <a:pt x="1026515" y="305615"/>
                  </a:lnTo>
                  <a:lnTo>
                    <a:pt x="1009493" y="317091"/>
                  </a:lnTo>
                  <a:lnTo>
                    <a:pt x="988648" y="3212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37" name="Google Shape;637;p18"/>
          <p:cNvSpPr txBox="1"/>
          <p:nvPr/>
        </p:nvSpPr>
        <p:spPr>
          <a:xfrm>
            <a:off x="3421387" y="2668716"/>
            <a:ext cx="69088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solidFill>
                  <a:srgbClr val="FFFFFF"/>
                </a:solidFill>
                <a:latin typeface="Arial"/>
                <a:ea typeface="Arial"/>
                <a:cs typeface="Arial"/>
                <a:sym typeface="Arial"/>
              </a:rPr>
              <a:t>Optimizer</a:t>
            </a:r>
            <a:endParaRPr sz="1200">
              <a:latin typeface="Arial"/>
              <a:ea typeface="Arial"/>
              <a:cs typeface="Arial"/>
              <a:sym typeface="Arial"/>
            </a:endParaRPr>
          </a:p>
        </p:txBody>
      </p:sp>
      <p:grpSp>
        <p:nvGrpSpPr>
          <p:cNvPr id="638" name="Google Shape;638;p18"/>
          <p:cNvGrpSpPr/>
          <p:nvPr/>
        </p:nvGrpSpPr>
        <p:grpSpPr>
          <a:xfrm>
            <a:off x="2637950" y="2009725"/>
            <a:ext cx="5548893" cy="2588434"/>
            <a:chOff x="2637950" y="2009725"/>
            <a:chExt cx="5548893" cy="2588434"/>
          </a:xfrm>
        </p:grpSpPr>
        <p:sp>
          <p:nvSpPr>
            <p:cNvPr id="639" name="Google Shape;639;p18"/>
            <p:cNvSpPr/>
            <p:nvPr/>
          </p:nvSpPr>
          <p:spPr>
            <a:xfrm>
              <a:off x="2637950" y="2009725"/>
              <a:ext cx="493395" cy="768350"/>
            </a:xfrm>
            <a:custGeom>
              <a:rect b="b" l="l" r="r" t="t"/>
              <a:pathLst>
                <a:path extrusionOk="0" h="768350" w="493394">
                  <a:moveTo>
                    <a:pt x="0" y="0"/>
                  </a:moveTo>
                  <a:lnTo>
                    <a:pt x="303786" y="0"/>
                  </a:lnTo>
                  <a:lnTo>
                    <a:pt x="303786" y="768299"/>
                  </a:lnTo>
                  <a:lnTo>
                    <a:pt x="493199" y="7682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40" name="Google Shape;640;p18"/>
            <p:cNvPicPr preferRelativeResize="0"/>
            <p:nvPr/>
          </p:nvPicPr>
          <p:blipFill rotWithShape="1">
            <a:blip r:embed="rId10">
              <a:alphaModFix/>
            </a:blip>
            <a:srcRect b="0" l="0" r="0" t="0"/>
            <a:stretch/>
          </p:blipFill>
          <p:spPr>
            <a:xfrm>
              <a:off x="3121625" y="2737034"/>
              <a:ext cx="105500" cy="81980"/>
            </a:xfrm>
            <a:prstGeom prst="rect">
              <a:avLst/>
            </a:prstGeom>
            <a:noFill/>
            <a:ln>
              <a:noFill/>
            </a:ln>
          </p:spPr>
        </p:pic>
        <p:sp>
          <p:nvSpPr>
            <p:cNvPr id="641" name="Google Shape;641;p18"/>
            <p:cNvSpPr/>
            <p:nvPr/>
          </p:nvSpPr>
          <p:spPr>
            <a:xfrm>
              <a:off x="4402100" y="2778025"/>
              <a:ext cx="285750" cy="668020"/>
            </a:xfrm>
            <a:custGeom>
              <a:rect b="b" l="l" r="r" t="t"/>
              <a:pathLst>
                <a:path extrusionOk="0" h="668020" w="285750">
                  <a:moveTo>
                    <a:pt x="285599" y="667799"/>
                  </a:moveTo>
                  <a:lnTo>
                    <a:pt x="85613" y="667799"/>
                  </a:lnTo>
                  <a:lnTo>
                    <a:pt x="85613" y="0"/>
                  </a:lnTo>
                  <a:lnTo>
                    <a:pt x="0"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42" name="Google Shape;642;p18"/>
            <p:cNvPicPr preferRelativeResize="0"/>
            <p:nvPr/>
          </p:nvPicPr>
          <p:blipFill rotWithShape="1">
            <a:blip r:embed="rId9">
              <a:alphaModFix/>
            </a:blip>
            <a:srcRect b="0" l="0" r="0" t="0"/>
            <a:stretch/>
          </p:blipFill>
          <p:spPr>
            <a:xfrm>
              <a:off x="4306124" y="2737034"/>
              <a:ext cx="105500" cy="81980"/>
            </a:xfrm>
            <a:prstGeom prst="rect">
              <a:avLst/>
            </a:prstGeom>
            <a:noFill/>
            <a:ln>
              <a:noFill/>
            </a:ln>
          </p:spPr>
        </p:pic>
        <p:sp>
          <p:nvSpPr>
            <p:cNvPr id="643" name="Google Shape;643;p18"/>
            <p:cNvSpPr/>
            <p:nvPr/>
          </p:nvSpPr>
          <p:spPr>
            <a:xfrm>
              <a:off x="3281825" y="4232399"/>
              <a:ext cx="969644" cy="365760"/>
            </a:xfrm>
            <a:custGeom>
              <a:rect b="b" l="l" r="r" t="t"/>
              <a:pathLst>
                <a:path extrusionOk="0" h="365760" w="969645">
                  <a:moveTo>
                    <a:pt x="856665" y="365399"/>
                  </a:moveTo>
                  <a:lnTo>
                    <a:pt x="112933" y="365399"/>
                  </a:lnTo>
                  <a:lnTo>
                    <a:pt x="68975" y="356525"/>
                  </a:lnTo>
                  <a:lnTo>
                    <a:pt x="33077" y="332322"/>
                  </a:lnTo>
                  <a:lnTo>
                    <a:pt x="8874" y="296424"/>
                  </a:lnTo>
                  <a:lnTo>
                    <a:pt x="0" y="252465"/>
                  </a:lnTo>
                  <a:lnTo>
                    <a:pt x="0" y="112933"/>
                  </a:lnTo>
                  <a:lnTo>
                    <a:pt x="8874" y="68975"/>
                  </a:lnTo>
                  <a:lnTo>
                    <a:pt x="33077" y="33077"/>
                  </a:lnTo>
                  <a:lnTo>
                    <a:pt x="68975" y="8874"/>
                  </a:lnTo>
                  <a:lnTo>
                    <a:pt x="112933" y="0"/>
                  </a:lnTo>
                  <a:lnTo>
                    <a:pt x="856665" y="0"/>
                  </a:lnTo>
                  <a:lnTo>
                    <a:pt x="899883" y="8596"/>
                  </a:lnTo>
                  <a:lnTo>
                    <a:pt x="936522" y="33077"/>
                  </a:lnTo>
                  <a:lnTo>
                    <a:pt x="961003" y="69716"/>
                  </a:lnTo>
                  <a:lnTo>
                    <a:pt x="969599" y="112933"/>
                  </a:lnTo>
                  <a:lnTo>
                    <a:pt x="969599" y="252465"/>
                  </a:lnTo>
                  <a:lnTo>
                    <a:pt x="960725" y="296424"/>
                  </a:lnTo>
                  <a:lnTo>
                    <a:pt x="936522" y="332322"/>
                  </a:lnTo>
                  <a:lnTo>
                    <a:pt x="900624" y="356525"/>
                  </a:lnTo>
                  <a:lnTo>
                    <a:pt x="856665" y="3653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44" name="Google Shape;644;p18"/>
            <p:cNvSpPr/>
            <p:nvPr/>
          </p:nvSpPr>
          <p:spPr>
            <a:xfrm>
              <a:off x="3766625" y="2938649"/>
              <a:ext cx="0" cy="1179830"/>
            </a:xfrm>
            <a:custGeom>
              <a:rect b="b" l="l" r="r" t="t"/>
              <a:pathLst>
                <a:path extrusionOk="0" h="1179829" w="120000">
                  <a:moveTo>
                    <a:pt x="0" y="0"/>
                  </a:moveTo>
                  <a:lnTo>
                    <a:pt x="0" y="11795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45" name="Google Shape;645;p18"/>
            <p:cNvPicPr preferRelativeResize="0"/>
            <p:nvPr/>
          </p:nvPicPr>
          <p:blipFill rotWithShape="1">
            <a:blip r:embed="rId4">
              <a:alphaModFix/>
            </a:blip>
            <a:srcRect b="0" l="0" r="0" t="0"/>
            <a:stretch/>
          </p:blipFill>
          <p:spPr>
            <a:xfrm>
              <a:off x="3725634" y="4108724"/>
              <a:ext cx="81980" cy="105500"/>
            </a:xfrm>
            <a:prstGeom prst="rect">
              <a:avLst/>
            </a:prstGeom>
            <a:noFill/>
            <a:ln>
              <a:noFill/>
            </a:ln>
          </p:spPr>
        </p:pic>
        <p:sp>
          <p:nvSpPr>
            <p:cNvPr id="646" name="Google Shape;646;p18"/>
            <p:cNvSpPr/>
            <p:nvPr/>
          </p:nvSpPr>
          <p:spPr>
            <a:xfrm>
              <a:off x="7144174" y="2617425"/>
              <a:ext cx="1042669" cy="321310"/>
            </a:xfrm>
            <a:custGeom>
              <a:rect b="b" l="l" r="r" t="t"/>
              <a:pathLst>
                <a:path extrusionOk="0" h="321310" w="1042670">
                  <a:moveTo>
                    <a:pt x="988649" y="321299"/>
                  </a:moveTo>
                  <a:lnTo>
                    <a:pt x="53550" y="321299"/>
                  </a:lnTo>
                  <a:lnTo>
                    <a:pt x="32706" y="317091"/>
                  </a:lnTo>
                  <a:lnTo>
                    <a:pt x="15684" y="305615"/>
                  </a:lnTo>
                  <a:lnTo>
                    <a:pt x="4208" y="288593"/>
                  </a:lnTo>
                  <a:lnTo>
                    <a:pt x="0" y="267748"/>
                  </a:lnTo>
                  <a:lnTo>
                    <a:pt x="0" y="53550"/>
                  </a:lnTo>
                  <a:lnTo>
                    <a:pt x="4208" y="32706"/>
                  </a:lnTo>
                  <a:lnTo>
                    <a:pt x="15684" y="15684"/>
                  </a:lnTo>
                  <a:lnTo>
                    <a:pt x="32706" y="4208"/>
                  </a:lnTo>
                  <a:lnTo>
                    <a:pt x="53550" y="0"/>
                  </a:lnTo>
                  <a:lnTo>
                    <a:pt x="988649" y="0"/>
                  </a:lnTo>
                  <a:lnTo>
                    <a:pt x="1026515" y="15684"/>
                  </a:lnTo>
                  <a:lnTo>
                    <a:pt x="1042199" y="53550"/>
                  </a:lnTo>
                  <a:lnTo>
                    <a:pt x="1042199" y="267748"/>
                  </a:lnTo>
                  <a:lnTo>
                    <a:pt x="1037991" y="288593"/>
                  </a:lnTo>
                  <a:lnTo>
                    <a:pt x="1026515" y="305615"/>
                  </a:lnTo>
                  <a:lnTo>
                    <a:pt x="1009493" y="317091"/>
                  </a:lnTo>
                  <a:lnTo>
                    <a:pt x="988649" y="3212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47" name="Google Shape;647;p18"/>
          <p:cNvSpPr txBox="1"/>
          <p:nvPr/>
        </p:nvSpPr>
        <p:spPr>
          <a:xfrm>
            <a:off x="7254327" y="2668791"/>
            <a:ext cx="835025"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1200">
                <a:solidFill>
                  <a:srgbClr val="FFFFFF"/>
                </a:solidFill>
                <a:latin typeface="Arial"/>
                <a:ea typeface="Arial"/>
                <a:cs typeface="Arial"/>
                <a:sym typeface="Arial"/>
              </a:rPr>
              <a:t>Compressor</a:t>
            </a:r>
            <a:endParaRPr sz="1200">
              <a:latin typeface="Arial"/>
              <a:ea typeface="Arial"/>
              <a:cs typeface="Arial"/>
              <a:sym typeface="Arial"/>
            </a:endParaRPr>
          </a:p>
        </p:txBody>
      </p:sp>
      <p:sp>
        <p:nvSpPr>
          <p:cNvPr id="648" name="Google Shape;648;p18"/>
          <p:cNvSpPr/>
          <p:nvPr/>
        </p:nvSpPr>
        <p:spPr>
          <a:xfrm>
            <a:off x="3245524" y="4010025"/>
            <a:ext cx="1042669" cy="854075"/>
          </a:xfrm>
          <a:custGeom>
            <a:rect b="b" l="l" r="r" t="t"/>
            <a:pathLst>
              <a:path extrusionOk="0" h="854075" w="1042670">
                <a:moveTo>
                  <a:pt x="0" y="0"/>
                </a:moveTo>
                <a:lnTo>
                  <a:pt x="1042199" y="0"/>
                </a:lnTo>
                <a:lnTo>
                  <a:pt x="1042199" y="853799"/>
                </a:lnTo>
                <a:lnTo>
                  <a:pt x="0" y="853799"/>
                </a:lnTo>
                <a:lnTo>
                  <a:pt x="0" y="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49" name="Google Shape;649;p18"/>
          <p:cNvSpPr txBox="1"/>
          <p:nvPr/>
        </p:nvSpPr>
        <p:spPr>
          <a:xfrm>
            <a:off x="3497948" y="4321120"/>
            <a:ext cx="537845" cy="465455"/>
          </a:xfrm>
          <a:prstGeom prst="rect">
            <a:avLst/>
          </a:prstGeom>
          <a:noFill/>
          <a:ln>
            <a:noFill/>
          </a:ln>
        </p:spPr>
        <p:txBody>
          <a:bodyPr anchorCtr="0" anchor="t" bIns="0" lIns="0" spcFirstLastPara="1" rIns="0" wrap="square" tIns="12700">
            <a:spAutoFit/>
          </a:bodyPr>
          <a:lstStyle/>
          <a:p>
            <a:pPr indent="0" lvl="0" marL="18415" rtl="0" algn="l">
              <a:lnSpc>
                <a:spcPct val="100000"/>
              </a:lnSpc>
              <a:spcBef>
                <a:spcPts val="0"/>
              </a:spcBef>
              <a:spcAft>
                <a:spcPts val="0"/>
              </a:spcAft>
              <a:buNone/>
            </a:pPr>
            <a:r>
              <a:rPr b="1" lang="en-US" sz="1000">
                <a:solidFill>
                  <a:srgbClr val="FFFFFF"/>
                </a:solidFill>
                <a:latin typeface="Arial"/>
                <a:ea typeface="Arial"/>
                <a:cs typeface="Arial"/>
                <a:sym typeface="Arial"/>
              </a:rPr>
              <a:t>LLM API</a:t>
            </a:r>
            <a:endParaRPr sz="1000">
              <a:latin typeface="Arial"/>
              <a:ea typeface="Arial"/>
              <a:cs typeface="Arial"/>
              <a:sym typeface="Arial"/>
            </a:endParaRPr>
          </a:p>
          <a:p>
            <a:pPr indent="0" lvl="0" marL="0" rtl="0" algn="l">
              <a:lnSpc>
                <a:spcPct val="100000"/>
              </a:lnSpc>
              <a:spcBef>
                <a:spcPts val="30"/>
              </a:spcBef>
              <a:spcAft>
                <a:spcPts val="0"/>
              </a:spcAft>
              <a:buNone/>
            </a:pPr>
            <a:r>
              <a:t/>
            </a:r>
            <a:endParaRPr sz="1000">
              <a:latin typeface="Arial"/>
              <a:ea typeface="Arial"/>
              <a:cs typeface="Arial"/>
              <a:sym typeface="Arial"/>
            </a:endParaRPr>
          </a:p>
          <a:p>
            <a:pPr indent="0" lvl="0" marL="12700" rtl="0" algn="l">
              <a:lnSpc>
                <a:spcPct val="100000"/>
              </a:lnSpc>
              <a:spcBef>
                <a:spcPts val="0"/>
              </a:spcBef>
              <a:spcAft>
                <a:spcPts val="0"/>
              </a:spcAft>
              <a:buNone/>
            </a:pPr>
            <a:r>
              <a:rPr b="1" lang="en-US" sz="900">
                <a:latin typeface="Arial"/>
                <a:ea typeface="Arial"/>
                <a:cs typeface="Arial"/>
                <a:sym typeface="Arial"/>
              </a:rPr>
              <a:t>LLM Host</a:t>
            </a:r>
            <a:endParaRPr sz="900">
              <a:latin typeface="Arial"/>
              <a:ea typeface="Arial"/>
              <a:cs typeface="Arial"/>
              <a:sym typeface="Arial"/>
            </a:endParaRPr>
          </a:p>
        </p:txBody>
      </p:sp>
      <p:sp>
        <p:nvSpPr>
          <p:cNvPr id="650" name="Google Shape;650;p18"/>
          <p:cNvSpPr/>
          <p:nvPr/>
        </p:nvSpPr>
        <p:spPr>
          <a:xfrm>
            <a:off x="2076624" y="4239374"/>
            <a:ext cx="892810" cy="410209"/>
          </a:xfrm>
          <a:custGeom>
            <a:rect b="b" l="l" r="r" t="t"/>
            <a:pathLst>
              <a:path extrusionOk="0" h="410210" w="892810">
                <a:moveTo>
                  <a:pt x="824198" y="409799"/>
                </a:moveTo>
                <a:lnTo>
                  <a:pt x="68301" y="409799"/>
                </a:lnTo>
                <a:lnTo>
                  <a:pt x="41715" y="404432"/>
                </a:lnTo>
                <a:lnTo>
                  <a:pt x="20004" y="389794"/>
                </a:lnTo>
                <a:lnTo>
                  <a:pt x="5367" y="368084"/>
                </a:lnTo>
                <a:lnTo>
                  <a:pt x="0" y="341498"/>
                </a:lnTo>
                <a:lnTo>
                  <a:pt x="0" y="68301"/>
                </a:lnTo>
                <a:lnTo>
                  <a:pt x="5367" y="41715"/>
                </a:lnTo>
                <a:lnTo>
                  <a:pt x="20004" y="20005"/>
                </a:lnTo>
                <a:lnTo>
                  <a:pt x="41715" y="5367"/>
                </a:lnTo>
                <a:lnTo>
                  <a:pt x="68301" y="0"/>
                </a:lnTo>
                <a:lnTo>
                  <a:pt x="824198" y="0"/>
                </a:lnTo>
                <a:lnTo>
                  <a:pt x="862092" y="11475"/>
                </a:lnTo>
                <a:lnTo>
                  <a:pt x="887300" y="42163"/>
                </a:lnTo>
                <a:lnTo>
                  <a:pt x="892499" y="68301"/>
                </a:lnTo>
                <a:lnTo>
                  <a:pt x="892499" y="341498"/>
                </a:lnTo>
                <a:lnTo>
                  <a:pt x="887132" y="368084"/>
                </a:lnTo>
                <a:lnTo>
                  <a:pt x="872495" y="389794"/>
                </a:lnTo>
                <a:lnTo>
                  <a:pt x="850784" y="404432"/>
                </a:lnTo>
                <a:lnTo>
                  <a:pt x="824198" y="4097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51" name="Google Shape;651;p18"/>
          <p:cNvSpPr txBox="1"/>
          <p:nvPr/>
        </p:nvSpPr>
        <p:spPr>
          <a:xfrm>
            <a:off x="2239131" y="4244504"/>
            <a:ext cx="567690" cy="389255"/>
          </a:xfrm>
          <a:prstGeom prst="rect">
            <a:avLst/>
          </a:prstGeom>
          <a:noFill/>
          <a:ln>
            <a:noFill/>
          </a:ln>
        </p:spPr>
        <p:txBody>
          <a:bodyPr anchorCtr="0" anchor="t" bIns="0" lIns="0" spcFirstLastPara="1" rIns="0" wrap="square" tIns="19675">
            <a:spAutoFit/>
          </a:bodyPr>
          <a:lstStyle/>
          <a:p>
            <a:pPr indent="-94615" lvl="0" marL="106680" marR="5080" rtl="0" algn="l">
              <a:lnSpc>
                <a:spcPct val="119166"/>
              </a:lnSpc>
              <a:spcBef>
                <a:spcPts val="0"/>
              </a:spcBef>
              <a:spcAft>
                <a:spcPts val="0"/>
              </a:spcAft>
              <a:buNone/>
            </a:pPr>
            <a:r>
              <a:rPr lang="en-US" sz="1200">
                <a:solidFill>
                  <a:srgbClr val="FFFFFF"/>
                </a:solidFill>
                <a:latin typeface="Arial"/>
                <a:ea typeface="Arial"/>
                <a:cs typeface="Arial"/>
                <a:sym typeface="Arial"/>
              </a:rPr>
              <a:t>Content Filter</a:t>
            </a:r>
            <a:endParaRPr sz="1200">
              <a:latin typeface="Arial"/>
              <a:ea typeface="Arial"/>
              <a:cs typeface="Arial"/>
              <a:sym typeface="Arial"/>
            </a:endParaRPr>
          </a:p>
        </p:txBody>
      </p:sp>
      <p:grpSp>
        <p:nvGrpSpPr>
          <p:cNvPr id="652" name="Google Shape;652;p18"/>
          <p:cNvGrpSpPr/>
          <p:nvPr/>
        </p:nvGrpSpPr>
        <p:grpSpPr>
          <a:xfrm>
            <a:off x="2461206" y="2207197"/>
            <a:ext cx="81977" cy="2042246"/>
            <a:chOff x="2461206" y="2207197"/>
            <a:chExt cx="81977" cy="2042246"/>
          </a:xfrm>
        </p:grpSpPr>
        <p:sp>
          <p:nvSpPr>
            <p:cNvPr id="653" name="Google Shape;653;p18"/>
            <p:cNvSpPr/>
            <p:nvPr/>
          </p:nvSpPr>
          <p:spPr>
            <a:xfrm>
              <a:off x="2512535" y="2293643"/>
              <a:ext cx="0" cy="1955800"/>
            </a:xfrm>
            <a:custGeom>
              <a:rect b="b" l="l" r="r" t="t"/>
              <a:pathLst>
                <a:path extrusionOk="0" h="1955800" w="120000">
                  <a:moveTo>
                    <a:pt x="0" y="1181631"/>
                  </a:moveTo>
                  <a:lnTo>
                    <a:pt x="0" y="1955256"/>
                  </a:lnTo>
                </a:path>
                <a:path extrusionOk="0" h="1955800" w="120000">
                  <a:moveTo>
                    <a:pt x="0" y="0"/>
                  </a:moveTo>
                  <a:lnTo>
                    <a:pt x="0" y="979731"/>
                  </a:lnTo>
                </a:path>
              </a:pathLst>
            </a:custGeom>
            <a:noFill/>
            <a:ln cap="flat" cmpd="sng" w="397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54" name="Google Shape;654;p18"/>
            <p:cNvPicPr preferRelativeResize="0"/>
            <p:nvPr/>
          </p:nvPicPr>
          <p:blipFill rotWithShape="1">
            <a:blip r:embed="rId11">
              <a:alphaModFix/>
            </a:blip>
            <a:srcRect b="0" l="0" r="0" t="0"/>
            <a:stretch/>
          </p:blipFill>
          <p:spPr>
            <a:xfrm>
              <a:off x="2461206" y="2207197"/>
              <a:ext cx="81977" cy="105831"/>
            </a:xfrm>
            <a:prstGeom prst="rect">
              <a:avLst/>
            </a:prstGeom>
            <a:noFill/>
            <a:ln>
              <a:noFill/>
            </a:ln>
          </p:spPr>
        </p:pic>
      </p:grpSp>
      <p:sp>
        <p:nvSpPr>
          <p:cNvPr id="655" name="Google Shape;655;p18"/>
          <p:cNvSpPr txBox="1"/>
          <p:nvPr/>
        </p:nvSpPr>
        <p:spPr>
          <a:xfrm>
            <a:off x="2168425" y="3273375"/>
            <a:ext cx="709295" cy="201930"/>
          </a:xfrm>
          <a:prstGeom prst="rect">
            <a:avLst/>
          </a:prstGeom>
          <a:solidFill>
            <a:srgbClr val="FFFFFF"/>
          </a:solidFill>
          <a:ln>
            <a:noFill/>
          </a:ln>
        </p:spPr>
        <p:txBody>
          <a:bodyPr anchorCtr="0" anchor="t" bIns="0" lIns="0" spcFirstLastPara="1" rIns="0" wrap="square" tIns="19675">
            <a:spAutoFit/>
          </a:bodyPr>
          <a:lstStyle/>
          <a:p>
            <a:pPr indent="0" lvl="0" marL="148590" rtl="0" algn="l">
              <a:lnSpc>
                <a:spcPct val="100000"/>
              </a:lnSpc>
              <a:spcBef>
                <a:spcPts val="0"/>
              </a:spcBef>
              <a:spcAft>
                <a:spcPts val="0"/>
              </a:spcAft>
              <a:buNone/>
            </a:pPr>
            <a:r>
              <a:rPr b="1" lang="en-US" sz="1000">
                <a:latin typeface="Arial"/>
                <a:ea typeface="Arial"/>
                <a:cs typeface="Arial"/>
                <a:sym typeface="Arial"/>
              </a:rPr>
              <a:t>Output</a:t>
            </a:r>
            <a:endParaRPr sz="1000">
              <a:latin typeface="Arial"/>
              <a:ea typeface="Arial"/>
              <a:cs typeface="Arial"/>
              <a:sym typeface="Arial"/>
            </a:endParaRPr>
          </a:p>
        </p:txBody>
      </p:sp>
      <p:pic>
        <p:nvPicPr>
          <p:cNvPr id="656" name="Google Shape;656;p18"/>
          <p:cNvPicPr preferRelativeResize="0"/>
          <p:nvPr/>
        </p:nvPicPr>
        <p:blipFill rotWithShape="1">
          <a:blip r:embed="rId12">
            <a:alphaModFix/>
          </a:blip>
          <a:srcRect b="0" l="0" r="0" t="0"/>
          <a:stretch/>
        </p:blipFill>
        <p:spPr>
          <a:xfrm>
            <a:off x="2987538" y="4400344"/>
            <a:ext cx="267510" cy="8195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grpSp>
        <p:nvGrpSpPr>
          <p:cNvPr id="661" name="Google Shape;661;p19"/>
          <p:cNvGrpSpPr/>
          <p:nvPr/>
        </p:nvGrpSpPr>
        <p:grpSpPr>
          <a:xfrm>
            <a:off x="-6" y="0"/>
            <a:ext cx="9144006" cy="5143500"/>
            <a:chOff x="-6" y="0"/>
            <a:chExt cx="9144006" cy="5143500"/>
          </a:xfrm>
        </p:grpSpPr>
        <p:sp>
          <p:nvSpPr>
            <p:cNvPr id="662" name="Google Shape;662;p19"/>
            <p:cNvSpPr/>
            <p:nvPr/>
          </p:nvSpPr>
          <p:spPr>
            <a:xfrm>
              <a:off x="-6" y="9"/>
              <a:ext cx="175895" cy="355600"/>
            </a:xfrm>
            <a:custGeom>
              <a:rect b="b" l="l" r="r" t="t"/>
              <a:pathLst>
                <a:path extrusionOk="0" h="355600" w="175895">
                  <a:moveTo>
                    <a:pt x="175499" y="355499"/>
                  </a:moveTo>
                  <a:lnTo>
                    <a:pt x="0" y="355499"/>
                  </a:lnTo>
                  <a:lnTo>
                    <a:pt x="0" y="0"/>
                  </a:lnTo>
                  <a:lnTo>
                    <a:pt x="175499" y="0"/>
                  </a:lnTo>
                  <a:lnTo>
                    <a:pt x="175499" y="3554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63" name="Google Shape;663;p19"/>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sp>
        <p:nvSpPr>
          <p:cNvPr id="664" name="Google Shape;664;p19"/>
          <p:cNvSpPr txBox="1"/>
          <p:nvPr>
            <p:ph type="title"/>
          </p:nvPr>
        </p:nvSpPr>
        <p:spPr>
          <a:xfrm>
            <a:off x="458750" y="2344696"/>
            <a:ext cx="2536190" cy="4368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700"/>
              <a:t>RAG Evaluation</a:t>
            </a:r>
            <a:endParaRPr sz="27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grpSp>
        <p:nvGrpSpPr>
          <p:cNvPr id="669" name="Google Shape;669;p20"/>
          <p:cNvGrpSpPr/>
          <p:nvPr/>
        </p:nvGrpSpPr>
        <p:grpSpPr>
          <a:xfrm>
            <a:off x="-6" y="0"/>
            <a:ext cx="9144006" cy="5143500"/>
            <a:chOff x="-6" y="0"/>
            <a:chExt cx="9144006" cy="5143500"/>
          </a:xfrm>
        </p:grpSpPr>
        <p:sp>
          <p:nvSpPr>
            <p:cNvPr id="670" name="Google Shape;670;p20"/>
            <p:cNvSpPr/>
            <p:nvPr/>
          </p:nvSpPr>
          <p:spPr>
            <a:xfrm>
              <a:off x="-6" y="9"/>
              <a:ext cx="175895" cy="355600"/>
            </a:xfrm>
            <a:custGeom>
              <a:rect b="b" l="l" r="r" t="t"/>
              <a:pathLst>
                <a:path extrusionOk="0" h="355600" w="175895">
                  <a:moveTo>
                    <a:pt x="175499" y="355499"/>
                  </a:moveTo>
                  <a:lnTo>
                    <a:pt x="0" y="355499"/>
                  </a:lnTo>
                  <a:lnTo>
                    <a:pt x="0" y="0"/>
                  </a:lnTo>
                  <a:lnTo>
                    <a:pt x="175499" y="0"/>
                  </a:lnTo>
                  <a:lnTo>
                    <a:pt x="175499" y="3554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71" name="Google Shape;671;p20"/>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sp>
        <p:nvSpPr>
          <p:cNvPr id="672" name="Google Shape;672;p20"/>
          <p:cNvSpPr txBox="1"/>
          <p:nvPr>
            <p:ph type="title"/>
          </p:nvPr>
        </p:nvSpPr>
        <p:spPr>
          <a:xfrm>
            <a:off x="384725" y="188286"/>
            <a:ext cx="220853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The RAG Triad</a:t>
            </a:r>
            <a:endParaRPr/>
          </a:p>
        </p:txBody>
      </p:sp>
      <p:sp>
        <p:nvSpPr>
          <p:cNvPr id="673" name="Google Shape;673;p20"/>
          <p:cNvSpPr/>
          <p:nvPr/>
        </p:nvSpPr>
        <p:spPr>
          <a:xfrm>
            <a:off x="5407774" y="1116549"/>
            <a:ext cx="1111885" cy="572770"/>
          </a:xfrm>
          <a:custGeom>
            <a:rect b="b" l="l" r="r" t="t"/>
            <a:pathLst>
              <a:path extrusionOk="0" h="572769" w="1111884">
                <a:moveTo>
                  <a:pt x="0" y="95451"/>
                </a:moveTo>
                <a:lnTo>
                  <a:pt x="7501" y="58297"/>
                </a:lnTo>
                <a:lnTo>
                  <a:pt x="27957" y="27957"/>
                </a:lnTo>
                <a:lnTo>
                  <a:pt x="58297" y="7501"/>
                </a:lnTo>
                <a:lnTo>
                  <a:pt x="95451" y="0"/>
                </a:lnTo>
                <a:lnTo>
                  <a:pt x="1016347" y="0"/>
                </a:lnTo>
                <a:lnTo>
                  <a:pt x="1069305" y="16037"/>
                </a:lnTo>
                <a:lnTo>
                  <a:pt x="1104534" y="58924"/>
                </a:lnTo>
                <a:lnTo>
                  <a:pt x="1111799" y="95451"/>
                </a:lnTo>
                <a:lnTo>
                  <a:pt x="1111799" y="477247"/>
                </a:lnTo>
                <a:lnTo>
                  <a:pt x="1104298" y="514402"/>
                </a:lnTo>
                <a:lnTo>
                  <a:pt x="1083842" y="544742"/>
                </a:lnTo>
                <a:lnTo>
                  <a:pt x="1053502" y="565198"/>
                </a:lnTo>
                <a:lnTo>
                  <a:pt x="1016347" y="572699"/>
                </a:lnTo>
                <a:lnTo>
                  <a:pt x="95451" y="572699"/>
                </a:lnTo>
                <a:lnTo>
                  <a:pt x="58297" y="565198"/>
                </a:lnTo>
                <a:lnTo>
                  <a:pt x="27957" y="544742"/>
                </a:lnTo>
                <a:lnTo>
                  <a:pt x="7501" y="514402"/>
                </a:lnTo>
                <a:lnTo>
                  <a:pt x="0" y="477247"/>
                </a:lnTo>
                <a:lnTo>
                  <a:pt x="0" y="9545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74" name="Google Shape;674;p20"/>
          <p:cNvSpPr txBox="1"/>
          <p:nvPr/>
        </p:nvSpPr>
        <p:spPr>
          <a:xfrm>
            <a:off x="5570785" y="1173538"/>
            <a:ext cx="786765" cy="448309"/>
          </a:xfrm>
          <a:prstGeom prst="rect">
            <a:avLst/>
          </a:prstGeom>
          <a:noFill/>
          <a:ln>
            <a:noFill/>
          </a:ln>
        </p:spPr>
        <p:txBody>
          <a:bodyPr anchorCtr="0" anchor="t" bIns="0" lIns="0" spcFirstLastPara="1" rIns="0" wrap="square" tIns="22850">
            <a:spAutoFit/>
          </a:bodyPr>
          <a:lstStyle/>
          <a:p>
            <a:pPr indent="-68580" lvl="0" marL="80645" marR="5080" rtl="0" algn="l">
              <a:lnSpc>
                <a:spcPct val="117857"/>
              </a:lnSpc>
              <a:spcBef>
                <a:spcPts val="0"/>
              </a:spcBef>
              <a:spcAft>
                <a:spcPts val="0"/>
              </a:spcAft>
              <a:buNone/>
            </a:pPr>
            <a:r>
              <a:rPr lang="en-US" sz="1400">
                <a:latin typeface="Arial"/>
                <a:ea typeface="Arial"/>
                <a:cs typeface="Arial"/>
                <a:sym typeface="Arial"/>
              </a:rPr>
              <a:t>Retrieved Context</a:t>
            </a:r>
            <a:endParaRPr sz="1400">
              <a:latin typeface="Arial"/>
              <a:ea typeface="Arial"/>
              <a:cs typeface="Arial"/>
              <a:sym typeface="Arial"/>
            </a:endParaRPr>
          </a:p>
        </p:txBody>
      </p:sp>
      <p:sp>
        <p:nvSpPr>
          <p:cNvPr id="675" name="Google Shape;675;p20"/>
          <p:cNvSpPr/>
          <p:nvPr/>
        </p:nvSpPr>
        <p:spPr>
          <a:xfrm>
            <a:off x="3865450" y="1551099"/>
            <a:ext cx="855980" cy="450215"/>
          </a:xfrm>
          <a:custGeom>
            <a:rect b="b" l="l" r="r" t="t"/>
            <a:pathLst>
              <a:path extrusionOk="0" h="450214" w="855979">
                <a:moveTo>
                  <a:pt x="716911" y="449699"/>
                </a:moveTo>
                <a:lnTo>
                  <a:pt x="138988" y="449699"/>
                </a:lnTo>
                <a:lnTo>
                  <a:pt x="95057" y="442614"/>
                </a:lnTo>
                <a:lnTo>
                  <a:pt x="56903" y="422883"/>
                </a:lnTo>
                <a:lnTo>
                  <a:pt x="26816" y="392796"/>
                </a:lnTo>
                <a:lnTo>
                  <a:pt x="7085" y="354642"/>
                </a:lnTo>
                <a:lnTo>
                  <a:pt x="0" y="310711"/>
                </a:lnTo>
                <a:lnTo>
                  <a:pt x="0" y="138988"/>
                </a:lnTo>
                <a:lnTo>
                  <a:pt x="7085" y="95057"/>
                </a:lnTo>
                <a:lnTo>
                  <a:pt x="26816" y="56903"/>
                </a:lnTo>
                <a:lnTo>
                  <a:pt x="56903" y="26816"/>
                </a:lnTo>
                <a:lnTo>
                  <a:pt x="95057" y="7085"/>
                </a:lnTo>
                <a:lnTo>
                  <a:pt x="138988" y="0"/>
                </a:lnTo>
                <a:lnTo>
                  <a:pt x="716911" y="0"/>
                </a:lnTo>
                <a:lnTo>
                  <a:pt x="770099" y="10579"/>
                </a:lnTo>
                <a:lnTo>
                  <a:pt x="815190" y="40708"/>
                </a:lnTo>
                <a:lnTo>
                  <a:pt x="845320" y="85800"/>
                </a:lnTo>
                <a:lnTo>
                  <a:pt x="855899" y="138988"/>
                </a:lnTo>
                <a:lnTo>
                  <a:pt x="855899" y="310711"/>
                </a:lnTo>
                <a:lnTo>
                  <a:pt x="848814" y="354642"/>
                </a:lnTo>
                <a:lnTo>
                  <a:pt x="829083" y="392796"/>
                </a:lnTo>
                <a:lnTo>
                  <a:pt x="798996" y="422883"/>
                </a:lnTo>
                <a:lnTo>
                  <a:pt x="760842" y="442614"/>
                </a:lnTo>
                <a:lnTo>
                  <a:pt x="716911" y="4496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76" name="Google Shape;676;p20"/>
          <p:cNvSpPr txBox="1"/>
          <p:nvPr/>
        </p:nvSpPr>
        <p:spPr>
          <a:xfrm>
            <a:off x="4103709" y="1651363"/>
            <a:ext cx="379730"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FFFFFF"/>
                </a:solidFill>
                <a:latin typeface="Arial"/>
                <a:ea typeface="Arial"/>
                <a:cs typeface="Arial"/>
                <a:sym typeface="Arial"/>
              </a:rPr>
              <a:t>LLM</a:t>
            </a:r>
            <a:endParaRPr sz="1400">
              <a:latin typeface="Arial"/>
              <a:ea typeface="Arial"/>
              <a:cs typeface="Arial"/>
              <a:sym typeface="Arial"/>
            </a:endParaRPr>
          </a:p>
        </p:txBody>
      </p:sp>
      <p:sp>
        <p:nvSpPr>
          <p:cNvPr id="677" name="Google Shape;677;p20"/>
          <p:cNvSpPr/>
          <p:nvPr/>
        </p:nvSpPr>
        <p:spPr>
          <a:xfrm>
            <a:off x="2320100" y="1178049"/>
            <a:ext cx="838835" cy="450215"/>
          </a:xfrm>
          <a:custGeom>
            <a:rect b="b" l="l" r="r" t="t"/>
            <a:pathLst>
              <a:path extrusionOk="0" h="450214" w="838835">
                <a:moveTo>
                  <a:pt x="0" y="74951"/>
                </a:moveTo>
                <a:lnTo>
                  <a:pt x="5890" y="45776"/>
                </a:lnTo>
                <a:lnTo>
                  <a:pt x="21952" y="21952"/>
                </a:lnTo>
                <a:lnTo>
                  <a:pt x="45776" y="5890"/>
                </a:lnTo>
                <a:lnTo>
                  <a:pt x="74951" y="0"/>
                </a:lnTo>
                <a:lnTo>
                  <a:pt x="763848" y="0"/>
                </a:lnTo>
                <a:lnTo>
                  <a:pt x="805431" y="12592"/>
                </a:lnTo>
                <a:lnTo>
                  <a:pt x="833094" y="46268"/>
                </a:lnTo>
                <a:lnTo>
                  <a:pt x="838799" y="74951"/>
                </a:lnTo>
                <a:lnTo>
                  <a:pt x="838799" y="374748"/>
                </a:lnTo>
                <a:lnTo>
                  <a:pt x="832909" y="403923"/>
                </a:lnTo>
                <a:lnTo>
                  <a:pt x="816847" y="427747"/>
                </a:lnTo>
                <a:lnTo>
                  <a:pt x="793023" y="443809"/>
                </a:lnTo>
                <a:lnTo>
                  <a:pt x="763848" y="449699"/>
                </a:lnTo>
                <a:lnTo>
                  <a:pt x="74951" y="449699"/>
                </a:lnTo>
                <a:lnTo>
                  <a:pt x="45776" y="443809"/>
                </a:lnTo>
                <a:lnTo>
                  <a:pt x="21952" y="427747"/>
                </a:lnTo>
                <a:lnTo>
                  <a:pt x="5890" y="403923"/>
                </a:lnTo>
                <a:lnTo>
                  <a:pt x="0" y="374748"/>
                </a:lnTo>
                <a:lnTo>
                  <a:pt x="0" y="7495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78" name="Google Shape;678;p20"/>
          <p:cNvSpPr txBox="1"/>
          <p:nvPr/>
        </p:nvSpPr>
        <p:spPr>
          <a:xfrm>
            <a:off x="2516335" y="1203128"/>
            <a:ext cx="446405" cy="389255"/>
          </a:xfrm>
          <a:prstGeom prst="rect">
            <a:avLst/>
          </a:prstGeom>
          <a:noFill/>
          <a:ln>
            <a:noFill/>
          </a:ln>
        </p:spPr>
        <p:txBody>
          <a:bodyPr anchorCtr="0" anchor="t" bIns="0" lIns="0" spcFirstLastPara="1" rIns="0" wrap="square" tIns="19675">
            <a:spAutoFit/>
          </a:bodyPr>
          <a:lstStyle/>
          <a:p>
            <a:pPr indent="50165" lvl="0" marL="12700" marR="5080" rtl="0" algn="l">
              <a:lnSpc>
                <a:spcPct val="119166"/>
              </a:lnSpc>
              <a:spcBef>
                <a:spcPts val="0"/>
              </a:spcBef>
              <a:spcAft>
                <a:spcPts val="0"/>
              </a:spcAft>
              <a:buNone/>
            </a:pPr>
            <a:r>
              <a:rPr lang="en-US" sz="1200">
                <a:latin typeface="Arial"/>
                <a:ea typeface="Arial"/>
                <a:cs typeface="Arial"/>
                <a:sym typeface="Arial"/>
              </a:rPr>
              <a:t>User Query</a:t>
            </a:r>
            <a:endParaRPr sz="1200">
              <a:latin typeface="Arial"/>
              <a:ea typeface="Arial"/>
              <a:cs typeface="Arial"/>
              <a:sym typeface="Arial"/>
            </a:endParaRPr>
          </a:p>
        </p:txBody>
      </p:sp>
      <p:sp>
        <p:nvSpPr>
          <p:cNvPr id="679" name="Google Shape;679;p20"/>
          <p:cNvSpPr/>
          <p:nvPr/>
        </p:nvSpPr>
        <p:spPr>
          <a:xfrm>
            <a:off x="3716349" y="2341599"/>
            <a:ext cx="1154430" cy="321310"/>
          </a:xfrm>
          <a:custGeom>
            <a:rect b="b" l="l" r="r" t="t"/>
            <a:pathLst>
              <a:path extrusionOk="0" h="321310" w="1154429">
                <a:moveTo>
                  <a:pt x="0" y="53550"/>
                </a:moveTo>
                <a:lnTo>
                  <a:pt x="4208" y="32706"/>
                </a:lnTo>
                <a:lnTo>
                  <a:pt x="15684" y="15684"/>
                </a:lnTo>
                <a:lnTo>
                  <a:pt x="32706" y="4208"/>
                </a:lnTo>
                <a:lnTo>
                  <a:pt x="53551" y="0"/>
                </a:lnTo>
                <a:lnTo>
                  <a:pt x="1100548" y="0"/>
                </a:lnTo>
                <a:lnTo>
                  <a:pt x="1138415" y="15684"/>
                </a:lnTo>
                <a:lnTo>
                  <a:pt x="1154099" y="53550"/>
                </a:lnTo>
                <a:lnTo>
                  <a:pt x="1154099" y="267748"/>
                </a:lnTo>
                <a:lnTo>
                  <a:pt x="1149891" y="288593"/>
                </a:lnTo>
                <a:lnTo>
                  <a:pt x="1138415" y="305615"/>
                </a:lnTo>
                <a:lnTo>
                  <a:pt x="1121393" y="317091"/>
                </a:lnTo>
                <a:lnTo>
                  <a:pt x="1100548" y="321299"/>
                </a:lnTo>
                <a:lnTo>
                  <a:pt x="53551" y="321299"/>
                </a:lnTo>
                <a:lnTo>
                  <a:pt x="32706" y="317091"/>
                </a:lnTo>
                <a:lnTo>
                  <a:pt x="15684" y="305615"/>
                </a:lnTo>
                <a:lnTo>
                  <a:pt x="4208" y="288593"/>
                </a:lnTo>
                <a:lnTo>
                  <a:pt x="0" y="267748"/>
                </a:lnTo>
                <a:lnTo>
                  <a:pt x="0" y="5355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80" name="Google Shape;680;p20"/>
          <p:cNvSpPr txBox="1"/>
          <p:nvPr/>
        </p:nvSpPr>
        <p:spPr>
          <a:xfrm>
            <a:off x="3946105" y="2392966"/>
            <a:ext cx="69532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Response</a:t>
            </a:r>
            <a:endParaRPr sz="1200">
              <a:latin typeface="Arial"/>
              <a:ea typeface="Arial"/>
              <a:cs typeface="Arial"/>
              <a:sym typeface="Arial"/>
            </a:endParaRPr>
          </a:p>
        </p:txBody>
      </p:sp>
      <p:grpSp>
        <p:nvGrpSpPr>
          <p:cNvPr id="681" name="Google Shape;681;p20"/>
          <p:cNvGrpSpPr/>
          <p:nvPr/>
        </p:nvGrpSpPr>
        <p:grpSpPr>
          <a:xfrm>
            <a:off x="2091500" y="1402900"/>
            <a:ext cx="3316309" cy="2119840"/>
            <a:chOff x="2091500" y="1402900"/>
            <a:chExt cx="3316309" cy="2119840"/>
          </a:xfrm>
        </p:grpSpPr>
        <p:pic>
          <p:nvPicPr>
            <p:cNvPr id="682" name="Google Shape;682;p20"/>
            <p:cNvPicPr preferRelativeResize="0"/>
            <p:nvPr/>
          </p:nvPicPr>
          <p:blipFill rotWithShape="1">
            <a:blip r:embed="rId4">
              <a:alphaModFix/>
            </a:blip>
            <a:srcRect b="0" l="0" r="0" t="0"/>
            <a:stretch/>
          </p:blipFill>
          <p:spPr>
            <a:xfrm>
              <a:off x="4252409" y="2000800"/>
              <a:ext cx="81980" cy="322475"/>
            </a:xfrm>
            <a:prstGeom prst="rect">
              <a:avLst/>
            </a:prstGeom>
            <a:noFill/>
            <a:ln>
              <a:noFill/>
            </a:ln>
          </p:spPr>
        </p:pic>
        <p:sp>
          <p:nvSpPr>
            <p:cNvPr id="683" name="Google Shape;683;p20"/>
            <p:cNvSpPr/>
            <p:nvPr/>
          </p:nvSpPr>
          <p:spPr>
            <a:xfrm>
              <a:off x="3158900" y="1402900"/>
              <a:ext cx="592455" cy="373380"/>
            </a:xfrm>
            <a:custGeom>
              <a:rect b="b" l="l" r="r" t="t"/>
              <a:pathLst>
                <a:path extrusionOk="0" h="373380" w="592454">
                  <a:moveTo>
                    <a:pt x="0" y="0"/>
                  </a:moveTo>
                  <a:lnTo>
                    <a:pt x="353277" y="0"/>
                  </a:lnTo>
                  <a:lnTo>
                    <a:pt x="353277" y="373199"/>
                  </a:lnTo>
                  <a:lnTo>
                    <a:pt x="592199" y="3731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84" name="Google Shape;684;p20"/>
            <p:cNvPicPr preferRelativeResize="0"/>
            <p:nvPr/>
          </p:nvPicPr>
          <p:blipFill rotWithShape="1">
            <a:blip r:embed="rId5">
              <a:alphaModFix/>
            </a:blip>
            <a:srcRect b="0" l="0" r="0" t="0"/>
            <a:stretch/>
          </p:blipFill>
          <p:spPr>
            <a:xfrm>
              <a:off x="3741575" y="1735109"/>
              <a:ext cx="105500" cy="81980"/>
            </a:xfrm>
            <a:prstGeom prst="rect">
              <a:avLst/>
            </a:prstGeom>
            <a:noFill/>
            <a:ln>
              <a:noFill/>
            </a:ln>
          </p:spPr>
        </p:pic>
        <p:sp>
          <p:nvSpPr>
            <p:cNvPr id="685" name="Google Shape;685;p20"/>
            <p:cNvSpPr/>
            <p:nvPr/>
          </p:nvSpPr>
          <p:spPr>
            <a:xfrm>
              <a:off x="4835674" y="1402900"/>
              <a:ext cx="572135" cy="373380"/>
            </a:xfrm>
            <a:custGeom>
              <a:rect b="b" l="l" r="r" t="t"/>
              <a:pathLst>
                <a:path extrusionOk="0" h="373380" w="572135">
                  <a:moveTo>
                    <a:pt x="572099" y="0"/>
                  </a:moveTo>
                  <a:lnTo>
                    <a:pt x="228886" y="0"/>
                  </a:lnTo>
                  <a:lnTo>
                    <a:pt x="228886" y="373199"/>
                  </a:lnTo>
                  <a:lnTo>
                    <a:pt x="0" y="3731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86" name="Google Shape;686;p20"/>
            <p:cNvPicPr preferRelativeResize="0"/>
            <p:nvPr/>
          </p:nvPicPr>
          <p:blipFill rotWithShape="1">
            <a:blip r:embed="rId6">
              <a:alphaModFix/>
            </a:blip>
            <a:srcRect b="0" l="0" r="0" t="0"/>
            <a:stretch/>
          </p:blipFill>
          <p:spPr>
            <a:xfrm>
              <a:off x="4739699" y="1735109"/>
              <a:ext cx="105500" cy="81980"/>
            </a:xfrm>
            <a:prstGeom prst="rect">
              <a:avLst/>
            </a:prstGeom>
            <a:noFill/>
            <a:ln>
              <a:noFill/>
            </a:ln>
          </p:spPr>
        </p:pic>
        <p:sp>
          <p:nvSpPr>
            <p:cNvPr id="687" name="Google Shape;687;p20"/>
            <p:cNvSpPr/>
            <p:nvPr/>
          </p:nvSpPr>
          <p:spPr>
            <a:xfrm>
              <a:off x="2091500" y="3072525"/>
              <a:ext cx="1545590" cy="450215"/>
            </a:xfrm>
            <a:custGeom>
              <a:rect b="b" l="l" r="r" t="t"/>
              <a:pathLst>
                <a:path extrusionOk="0" h="450214" w="1545589">
                  <a:moveTo>
                    <a:pt x="1406311" y="449699"/>
                  </a:moveTo>
                  <a:lnTo>
                    <a:pt x="138988" y="449699"/>
                  </a:lnTo>
                  <a:lnTo>
                    <a:pt x="95057" y="442614"/>
                  </a:lnTo>
                  <a:lnTo>
                    <a:pt x="56903" y="422883"/>
                  </a:lnTo>
                  <a:lnTo>
                    <a:pt x="26816" y="392796"/>
                  </a:lnTo>
                  <a:lnTo>
                    <a:pt x="7085" y="354642"/>
                  </a:lnTo>
                  <a:lnTo>
                    <a:pt x="0" y="310711"/>
                  </a:lnTo>
                  <a:lnTo>
                    <a:pt x="0" y="138988"/>
                  </a:lnTo>
                  <a:lnTo>
                    <a:pt x="7085" y="95057"/>
                  </a:lnTo>
                  <a:lnTo>
                    <a:pt x="26816" y="56903"/>
                  </a:lnTo>
                  <a:lnTo>
                    <a:pt x="56903" y="26816"/>
                  </a:lnTo>
                  <a:lnTo>
                    <a:pt x="95057" y="7085"/>
                  </a:lnTo>
                  <a:lnTo>
                    <a:pt x="138988" y="0"/>
                  </a:lnTo>
                  <a:lnTo>
                    <a:pt x="1406311" y="0"/>
                  </a:lnTo>
                  <a:lnTo>
                    <a:pt x="1459499" y="10579"/>
                  </a:lnTo>
                  <a:lnTo>
                    <a:pt x="1504590" y="40708"/>
                  </a:lnTo>
                  <a:lnTo>
                    <a:pt x="1534720" y="85800"/>
                  </a:lnTo>
                  <a:lnTo>
                    <a:pt x="1545299" y="138988"/>
                  </a:lnTo>
                  <a:lnTo>
                    <a:pt x="1545299" y="310711"/>
                  </a:lnTo>
                  <a:lnTo>
                    <a:pt x="1538214" y="354642"/>
                  </a:lnTo>
                  <a:lnTo>
                    <a:pt x="1518483" y="392796"/>
                  </a:lnTo>
                  <a:lnTo>
                    <a:pt x="1488396" y="422883"/>
                  </a:lnTo>
                  <a:lnTo>
                    <a:pt x="1450242" y="442614"/>
                  </a:lnTo>
                  <a:lnTo>
                    <a:pt x="1406311" y="4496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88" name="Google Shape;688;p20"/>
          <p:cNvSpPr txBox="1"/>
          <p:nvPr/>
        </p:nvSpPr>
        <p:spPr>
          <a:xfrm>
            <a:off x="2255708" y="3172788"/>
            <a:ext cx="1217930"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FFFFFF"/>
                </a:solidFill>
                <a:latin typeface="Arial"/>
                <a:ea typeface="Arial"/>
                <a:cs typeface="Arial"/>
                <a:sym typeface="Arial"/>
              </a:rPr>
              <a:t>Groundedness</a:t>
            </a:r>
            <a:endParaRPr sz="1400">
              <a:latin typeface="Arial"/>
              <a:ea typeface="Arial"/>
              <a:cs typeface="Arial"/>
              <a:sym typeface="Arial"/>
            </a:endParaRPr>
          </a:p>
        </p:txBody>
      </p:sp>
      <p:sp>
        <p:nvSpPr>
          <p:cNvPr id="689" name="Google Shape;689;p20"/>
          <p:cNvSpPr/>
          <p:nvPr/>
        </p:nvSpPr>
        <p:spPr>
          <a:xfrm>
            <a:off x="5173774" y="3072525"/>
            <a:ext cx="1545590" cy="450215"/>
          </a:xfrm>
          <a:custGeom>
            <a:rect b="b" l="l" r="r" t="t"/>
            <a:pathLst>
              <a:path extrusionOk="0" h="450214" w="1545590">
                <a:moveTo>
                  <a:pt x="1406310" y="449699"/>
                </a:moveTo>
                <a:lnTo>
                  <a:pt x="138988" y="449699"/>
                </a:lnTo>
                <a:lnTo>
                  <a:pt x="95057" y="442614"/>
                </a:lnTo>
                <a:lnTo>
                  <a:pt x="56903" y="422883"/>
                </a:lnTo>
                <a:lnTo>
                  <a:pt x="26816" y="392796"/>
                </a:lnTo>
                <a:lnTo>
                  <a:pt x="7085" y="354642"/>
                </a:lnTo>
                <a:lnTo>
                  <a:pt x="0" y="310711"/>
                </a:lnTo>
                <a:lnTo>
                  <a:pt x="0" y="138988"/>
                </a:lnTo>
                <a:lnTo>
                  <a:pt x="7085" y="95057"/>
                </a:lnTo>
                <a:lnTo>
                  <a:pt x="26816" y="56903"/>
                </a:lnTo>
                <a:lnTo>
                  <a:pt x="56903" y="26816"/>
                </a:lnTo>
                <a:lnTo>
                  <a:pt x="95057" y="7085"/>
                </a:lnTo>
                <a:lnTo>
                  <a:pt x="138988" y="0"/>
                </a:lnTo>
                <a:lnTo>
                  <a:pt x="1406310" y="0"/>
                </a:lnTo>
                <a:lnTo>
                  <a:pt x="1459500" y="10579"/>
                </a:lnTo>
                <a:lnTo>
                  <a:pt x="1504591" y="40708"/>
                </a:lnTo>
                <a:lnTo>
                  <a:pt x="1534720" y="85800"/>
                </a:lnTo>
                <a:lnTo>
                  <a:pt x="1545299" y="138988"/>
                </a:lnTo>
                <a:lnTo>
                  <a:pt x="1545299" y="310711"/>
                </a:lnTo>
                <a:lnTo>
                  <a:pt x="1538214" y="354642"/>
                </a:lnTo>
                <a:lnTo>
                  <a:pt x="1518483" y="392796"/>
                </a:lnTo>
                <a:lnTo>
                  <a:pt x="1488396" y="422883"/>
                </a:lnTo>
                <a:lnTo>
                  <a:pt x="1450242" y="442614"/>
                </a:lnTo>
                <a:lnTo>
                  <a:pt x="1406310" y="4496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90" name="Google Shape;690;p20"/>
          <p:cNvSpPr txBox="1"/>
          <p:nvPr/>
        </p:nvSpPr>
        <p:spPr>
          <a:xfrm>
            <a:off x="5514708" y="3172788"/>
            <a:ext cx="864869"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FFFFFF"/>
                </a:solidFill>
                <a:latin typeface="Arial"/>
                <a:ea typeface="Arial"/>
                <a:cs typeface="Arial"/>
                <a:sym typeface="Arial"/>
              </a:rPr>
              <a:t>Relevance</a:t>
            </a:r>
            <a:endParaRPr sz="1400">
              <a:latin typeface="Arial"/>
              <a:ea typeface="Arial"/>
              <a:cs typeface="Arial"/>
              <a:sym typeface="Arial"/>
            </a:endParaRPr>
          </a:p>
        </p:txBody>
      </p:sp>
      <p:grpSp>
        <p:nvGrpSpPr>
          <p:cNvPr id="691" name="Google Shape;691;p20"/>
          <p:cNvGrpSpPr/>
          <p:nvPr/>
        </p:nvGrpSpPr>
        <p:grpSpPr>
          <a:xfrm>
            <a:off x="2823209" y="2662900"/>
            <a:ext cx="3164180" cy="391175"/>
            <a:chOff x="2823209" y="2662900"/>
            <a:chExt cx="3164180" cy="391175"/>
          </a:xfrm>
        </p:grpSpPr>
        <p:sp>
          <p:nvSpPr>
            <p:cNvPr id="692" name="Google Shape;692;p20"/>
            <p:cNvSpPr/>
            <p:nvPr/>
          </p:nvSpPr>
          <p:spPr>
            <a:xfrm>
              <a:off x="2864199" y="2662900"/>
              <a:ext cx="1429385" cy="295275"/>
            </a:xfrm>
            <a:custGeom>
              <a:rect b="b" l="l" r="r" t="t"/>
              <a:pathLst>
                <a:path extrusionOk="0" h="295275" w="1429385">
                  <a:moveTo>
                    <a:pt x="1429199" y="0"/>
                  </a:moveTo>
                  <a:lnTo>
                    <a:pt x="1429199" y="204811"/>
                  </a:lnTo>
                  <a:lnTo>
                    <a:pt x="0" y="204811"/>
                  </a:lnTo>
                  <a:lnTo>
                    <a:pt x="0" y="2951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93" name="Google Shape;693;p20"/>
            <p:cNvPicPr preferRelativeResize="0"/>
            <p:nvPr/>
          </p:nvPicPr>
          <p:blipFill rotWithShape="1">
            <a:blip r:embed="rId7">
              <a:alphaModFix/>
            </a:blip>
            <a:srcRect b="0" l="0" r="0" t="0"/>
            <a:stretch/>
          </p:blipFill>
          <p:spPr>
            <a:xfrm>
              <a:off x="2823209" y="2948575"/>
              <a:ext cx="81980" cy="105500"/>
            </a:xfrm>
            <a:prstGeom prst="rect">
              <a:avLst/>
            </a:prstGeom>
            <a:noFill/>
            <a:ln>
              <a:noFill/>
            </a:ln>
          </p:spPr>
        </p:pic>
        <p:sp>
          <p:nvSpPr>
            <p:cNvPr id="694" name="Google Shape;694;p20"/>
            <p:cNvSpPr/>
            <p:nvPr/>
          </p:nvSpPr>
          <p:spPr>
            <a:xfrm>
              <a:off x="4293399" y="2662900"/>
              <a:ext cx="1653539" cy="295275"/>
            </a:xfrm>
            <a:custGeom>
              <a:rect b="b" l="l" r="r" t="t"/>
              <a:pathLst>
                <a:path extrusionOk="0" h="295275" w="1653539">
                  <a:moveTo>
                    <a:pt x="0" y="0"/>
                  </a:moveTo>
                  <a:lnTo>
                    <a:pt x="0" y="204811"/>
                  </a:lnTo>
                  <a:lnTo>
                    <a:pt x="1652999" y="204811"/>
                  </a:lnTo>
                  <a:lnTo>
                    <a:pt x="1652999" y="2951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695" name="Google Shape;695;p20"/>
            <p:cNvPicPr preferRelativeResize="0"/>
            <p:nvPr/>
          </p:nvPicPr>
          <p:blipFill rotWithShape="1">
            <a:blip r:embed="rId7">
              <a:alphaModFix/>
            </a:blip>
            <a:srcRect b="0" l="0" r="0" t="0"/>
            <a:stretch/>
          </p:blipFill>
          <p:spPr>
            <a:xfrm>
              <a:off x="5905409" y="2948575"/>
              <a:ext cx="81980" cy="105500"/>
            </a:xfrm>
            <a:prstGeom prst="rect">
              <a:avLst/>
            </a:prstGeom>
            <a:noFill/>
            <a:ln>
              <a:noFill/>
            </a:ln>
          </p:spPr>
        </p:pic>
      </p:grpSp>
      <p:sp>
        <p:nvSpPr>
          <p:cNvPr id="696" name="Google Shape;696;p20"/>
          <p:cNvSpPr txBox="1"/>
          <p:nvPr/>
        </p:nvSpPr>
        <p:spPr>
          <a:xfrm>
            <a:off x="2145475" y="3639734"/>
            <a:ext cx="1270000" cy="57404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200">
                <a:solidFill>
                  <a:srgbClr val="7E7E7E"/>
                </a:solidFill>
                <a:latin typeface="Arial"/>
                <a:ea typeface="Arial"/>
                <a:cs typeface="Arial"/>
                <a:sym typeface="Arial"/>
              </a:rPr>
              <a:t>Is the response supported by the retrieved context?</a:t>
            </a:r>
            <a:endParaRPr sz="1200">
              <a:latin typeface="Arial"/>
              <a:ea typeface="Arial"/>
              <a:cs typeface="Arial"/>
              <a:sym typeface="Arial"/>
            </a:endParaRPr>
          </a:p>
        </p:txBody>
      </p:sp>
      <p:sp>
        <p:nvSpPr>
          <p:cNvPr id="697" name="Google Shape;697;p20"/>
          <p:cNvSpPr txBox="1"/>
          <p:nvPr/>
        </p:nvSpPr>
        <p:spPr>
          <a:xfrm>
            <a:off x="5227750" y="3633823"/>
            <a:ext cx="1571625" cy="850265"/>
          </a:xfrm>
          <a:prstGeom prst="rect">
            <a:avLst/>
          </a:prstGeom>
          <a:noFill/>
          <a:ln>
            <a:noFill/>
          </a:ln>
        </p:spPr>
        <p:txBody>
          <a:bodyPr anchorCtr="0" anchor="t" bIns="0" lIns="0" spcFirstLastPara="1" rIns="0" wrap="square" tIns="12700">
            <a:spAutoFit/>
          </a:bodyPr>
          <a:lstStyle/>
          <a:p>
            <a:pPr indent="0" lvl="0" marL="12700" marR="30480" rtl="0" algn="l">
              <a:lnSpc>
                <a:spcPct val="100000"/>
              </a:lnSpc>
              <a:spcBef>
                <a:spcPts val="0"/>
              </a:spcBef>
              <a:spcAft>
                <a:spcPts val="0"/>
              </a:spcAft>
              <a:buNone/>
            </a:pPr>
            <a:r>
              <a:rPr b="1" lang="en-US" sz="1200">
                <a:solidFill>
                  <a:srgbClr val="7E7E7E"/>
                </a:solidFill>
                <a:latin typeface="Arial"/>
                <a:ea typeface="Arial"/>
                <a:cs typeface="Arial"/>
                <a:sym typeface="Arial"/>
              </a:rPr>
              <a:t>Is the response relevant to the query?</a:t>
            </a:r>
            <a:endParaRPr sz="1200">
              <a:latin typeface="Arial"/>
              <a:ea typeface="Arial"/>
              <a:cs typeface="Arial"/>
              <a:sym typeface="Arial"/>
            </a:endParaRPr>
          </a:p>
          <a:p>
            <a:pPr indent="0" lvl="0" marL="12700" marR="5080" rtl="0" algn="l">
              <a:lnSpc>
                <a:spcPct val="100000"/>
              </a:lnSpc>
              <a:spcBef>
                <a:spcPts val="730"/>
              </a:spcBef>
              <a:spcAft>
                <a:spcPts val="0"/>
              </a:spcAft>
              <a:buNone/>
            </a:pPr>
            <a:r>
              <a:rPr b="1" lang="en-US" sz="1200">
                <a:solidFill>
                  <a:srgbClr val="7E7E7E"/>
                </a:solidFill>
                <a:latin typeface="Arial"/>
                <a:ea typeface="Arial"/>
                <a:cs typeface="Arial"/>
                <a:sym typeface="Arial"/>
              </a:rPr>
              <a:t>Is the context relevant to the query?</a:t>
            </a:r>
            <a:endParaRPr sz="1200">
              <a:latin typeface="Arial"/>
              <a:ea typeface="Arial"/>
              <a:cs typeface="Arial"/>
              <a:sym typeface="Arial"/>
            </a:endParaRPr>
          </a:p>
        </p:txBody>
      </p:sp>
      <p:sp>
        <p:nvSpPr>
          <p:cNvPr id="698" name="Google Shape;698;p20"/>
          <p:cNvSpPr txBox="1"/>
          <p:nvPr/>
        </p:nvSpPr>
        <p:spPr>
          <a:xfrm>
            <a:off x="1840775" y="3790101"/>
            <a:ext cx="147320" cy="2692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00">
                <a:solidFill>
                  <a:srgbClr val="999999"/>
                </a:solidFill>
                <a:latin typeface="Arial"/>
                <a:ea typeface="Arial"/>
                <a:cs typeface="Arial"/>
                <a:sym typeface="Arial"/>
              </a:rPr>
              <a:t>1</a:t>
            </a:r>
            <a:endParaRPr sz="1600">
              <a:latin typeface="Arial"/>
              <a:ea typeface="Arial"/>
              <a:cs typeface="Arial"/>
              <a:sym typeface="Arial"/>
            </a:endParaRPr>
          </a:p>
        </p:txBody>
      </p:sp>
      <p:sp>
        <p:nvSpPr>
          <p:cNvPr id="699" name="Google Shape;699;p20"/>
          <p:cNvSpPr txBox="1"/>
          <p:nvPr/>
        </p:nvSpPr>
        <p:spPr>
          <a:xfrm>
            <a:off x="4943475" y="3692752"/>
            <a:ext cx="147320" cy="72834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00">
                <a:solidFill>
                  <a:srgbClr val="999999"/>
                </a:solidFill>
                <a:latin typeface="Arial"/>
                <a:ea typeface="Arial"/>
                <a:cs typeface="Arial"/>
                <a:sym typeface="Arial"/>
              </a:rPr>
              <a:t>2</a:t>
            </a:r>
            <a:endParaRPr sz="1600">
              <a:latin typeface="Arial"/>
              <a:ea typeface="Arial"/>
              <a:cs typeface="Arial"/>
              <a:sym typeface="Arial"/>
            </a:endParaRPr>
          </a:p>
          <a:p>
            <a:pPr indent="0" lvl="0" marL="12700" rtl="0" algn="l">
              <a:lnSpc>
                <a:spcPct val="100000"/>
              </a:lnSpc>
              <a:spcBef>
                <a:spcPts val="1689"/>
              </a:spcBef>
              <a:spcAft>
                <a:spcPts val="0"/>
              </a:spcAft>
              <a:buNone/>
            </a:pPr>
            <a:r>
              <a:rPr b="1" lang="en-US" sz="1600">
                <a:solidFill>
                  <a:srgbClr val="999999"/>
                </a:solidFill>
                <a:latin typeface="Arial"/>
                <a:ea typeface="Arial"/>
                <a:cs typeface="Arial"/>
                <a:sym typeface="Arial"/>
              </a:rPr>
              <a:t>3</a:t>
            </a:r>
            <a:endParaRPr sz="1600">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grpSp>
        <p:nvGrpSpPr>
          <p:cNvPr id="704" name="Google Shape;704;p21"/>
          <p:cNvGrpSpPr/>
          <p:nvPr/>
        </p:nvGrpSpPr>
        <p:grpSpPr>
          <a:xfrm>
            <a:off x="-6" y="0"/>
            <a:ext cx="9144006" cy="5143500"/>
            <a:chOff x="-6" y="0"/>
            <a:chExt cx="9144006" cy="5143500"/>
          </a:xfrm>
        </p:grpSpPr>
        <p:sp>
          <p:nvSpPr>
            <p:cNvPr id="705" name="Google Shape;705;p21"/>
            <p:cNvSpPr/>
            <p:nvPr/>
          </p:nvSpPr>
          <p:spPr>
            <a:xfrm>
              <a:off x="-6" y="9"/>
              <a:ext cx="175895" cy="355600"/>
            </a:xfrm>
            <a:custGeom>
              <a:rect b="b" l="l" r="r" t="t"/>
              <a:pathLst>
                <a:path extrusionOk="0" h="355600" w="175895">
                  <a:moveTo>
                    <a:pt x="175499" y="355499"/>
                  </a:moveTo>
                  <a:lnTo>
                    <a:pt x="0" y="355499"/>
                  </a:lnTo>
                  <a:lnTo>
                    <a:pt x="0" y="0"/>
                  </a:lnTo>
                  <a:lnTo>
                    <a:pt x="175499" y="0"/>
                  </a:lnTo>
                  <a:lnTo>
                    <a:pt x="175499" y="3554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06" name="Google Shape;706;p2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07" name="Google Shape;707;p21"/>
            <p:cNvSpPr/>
            <p:nvPr/>
          </p:nvSpPr>
          <p:spPr>
            <a:xfrm>
              <a:off x="4753474" y="1304475"/>
              <a:ext cx="3282315" cy="2346325"/>
            </a:xfrm>
            <a:custGeom>
              <a:rect b="b" l="l" r="r" t="t"/>
              <a:pathLst>
                <a:path extrusionOk="0" h="2346325" w="3282315">
                  <a:moveTo>
                    <a:pt x="3281999" y="2346299"/>
                  </a:moveTo>
                  <a:lnTo>
                    <a:pt x="0" y="2346299"/>
                  </a:lnTo>
                  <a:lnTo>
                    <a:pt x="0" y="0"/>
                  </a:lnTo>
                  <a:lnTo>
                    <a:pt x="3281999" y="0"/>
                  </a:lnTo>
                  <a:lnTo>
                    <a:pt x="3281999" y="23462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08" name="Google Shape;708;p21"/>
            <p:cNvSpPr/>
            <p:nvPr/>
          </p:nvSpPr>
          <p:spPr>
            <a:xfrm>
              <a:off x="4753474" y="1304475"/>
              <a:ext cx="3282315" cy="2346325"/>
            </a:xfrm>
            <a:custGeom>
              <a:rect b="b" l="l" r="r" t="t"/>
              <a:pathLst>
                <a:path extrusionOk="0" h="2346325" w="3282315">
                  <a:moveTo>
                    <a:pt x="0" y="0"/>
                  </a:moveTo>
                  <a:lnTo>
                    <a:pt x="3281999" y="0"/>
                  </a:lnTo>
                  <a:lnTo>
                    <a:pt x="3281999" y="2346299"/>
                  </a:lnTo>
                  <a:lnTo>
                    <a:pt x="0" y="2346299"/>
                  </a:lnTo>
                  <a:lnTo>
                    <a:pt x="0" y="0"/>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09" name="Google Shape;709;p21"/>
            <p:cNvSpPr/>
            <p:nvPr/>
          </p:nvSpPr>
          <p:spPr>
            <a:xfrm>
              <a:off x="1861774" y="1304475"/>
              <a:ext cx="2645410" cy="2346325"/>
            </a:xfrm>
            <a:custGeom>
              <a:rect b="b" l="l" r="r" t="t"/>
              <a:pathLst>
                <a:path extrusionOk="0" h="2346325" w="2645410">
                  <a:moveTo>
                    <a:pt x="2645099" y="2346299"/>
                  </a:moveTo>
                  <a:lnTo>
                    <a:pt x="0" y="2346299"/>
                  </a:lnTo>
                  <a:lnTo>
                    <a:pt x="0" y="0"/>
                  </a:lnTo>
                  <a:lnTo>
                    <a:pt x="2645099" y="0"/>
                  </a:lnTo>
                  <a:lnTo>
                    <a:pt x="2645099" y="23462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10" name="Google Shape;710;p21"/>
            <p:cNvSpPr/>
            <p:nvPr/>
          </p:nvSpPr>
          <p:spPr>
            <a:xfrm>
              <a:off x="1861774" y="1304475"/>
              <a:ext cx="2645410" cy="2346325"/>
            </a:xfrm>
            <a:custGeom>
              <a:rect b="b" l="l" r="r" t="t"/>
              <a:pathLst>
                <a:path extrusionOk="0" h="2346325" w="2645410">
                  <a:moveTo>
                    <a:pt x="0" y="0"/>
                  </a:moveTo>
                  <a:lnTo>
                    <a:pt x="2645099" y="0"/>
                  </a:lnTo>
                  <a:lnTo>
                    <a:pt x="2645099" y="2346299"/>
                  </a:lnTo>
                  <a:lnTo>
                    <a:pt x="0" y="2346299"/>
                  </a:lnTo>
                  <a:lnTo>
                    <a:pt x="0" y="0"/>
                  </a:lnTo>
                  <a:close/>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11" name="Google Shape;711;p21"/>
          <p:cNvSpPr txBox="1"/>
          <p:nvPr>
            <p:ph type="title"/>
          </p:nvPr>
        </p:nvSpPr>
        <p:spPr>
          <a:xfrm>
            <a:off x="384725" y="188286"/>
            <a:ext cx="562991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Evaluating RAG with LLM-as-a-Judge</a:t>
            </a:r>
            <a:endParaRPr/>
          </a:p>
        </p:txBody>
      </p:sp>
      <p:sp>
        <p:nvSpPr>
          <p:cNvPr id="712" name="Google Shape;712;p21"/>
          <p:cNvSpPr txBox="1"/>
          <p:nvPr/>
        </p:nvSpPr>
        <p:spPr>
          <a:xfrm>
            <a:off x="3093249" y="2280524"/>
            <a:ext cx="1029969" cy="426720"/>
          </a:xfrm>
          <a:prstGeom prst="rect">
            <a:avLst/>
          </a:prstGeom>
          <a:solidFill>
            <a:srgbClr val="0D38A9"/>
          </a:solidFill>
          <a:ln>
            <a:noFill/>
          </a:ln>
        </p:spPr>
        <p:txBody>
          <a:bodyPr anchorCtr="0" anchor="t" bIns="0" lIns="0" spcFirstLastPara="1" rIns="0" wrap="square" tIns="83175">
            <a:spAutoFit/>
          </a:bodyPr>
          <a:lstStyle/>
          <a:p>
            <a:pPr indent="0" lvl="0" marL="251460" rtl="0" algn="l">
              <a:lnSpc>
                <a:spcPct val="100000"/>
              </a:lnSpc>
              <a:spcBef>
                <a:spcPts val="0"/>
              </a:spcBef>
              <a:spcAft>
                <a:spcPts val="0"/>
              </a:spcAft>
              <a:buNone/>
            </a:pPr>
            <a:r>
              <a:rPr b="1" lang="en-US" sz="1600">
                <a:solidFill>
                  <a:srgbClr val="FFFFFF"/>
                </a:solidFill>
                <a:latin typeface="Arial"/>
                <a:ea typeface="Arial"/>
                <a:cs typeface="Arial"/>
                <a:sym typeface="Arial"/>
              </a:rPr>
              <a:t>LLM1</a:t>
            </a:r>
            <a:endParaRPr sz="1600">
              <a:latin typeface="Arial"/>
              <a:ea typeface="Arial"/>
              <a:cs typeface="Arial"/>
              <a:sym typeface="Arial"/>
            </a:endParaRPr>
          </a:p>
        </p:txBody>
      </p:sp>
      <p:sp>
        <p:nvSpPr>
          <p:cNvPr id="713" name="Google Shape;713;p21"/>
          <p:cNvSpPr txBox="1"/>
          <p:nvPr/>
        </p:nvSpPr>
        <p:spPr>
          <a:xfrm>
            <a:off x="708874" y="1441749"/>
            <a:ext cx="1029969" cy="302260"/>
          </a:xfrm>
          <a:prstGeom prst="rect">
            <a:avLst/>
          </a:prstGeom>
          <a:solidFill>
            <a:srgbClr val="FFFFFF"/>
          </a:solidFill>
          <a:ln>
            <a:noFill/>
          </a:ln>
        </p:spPr>
        <p:txBody>
          <a:bodyPr anchorCtr="0" anchor="t" bIns="0" lIns="0" spcFirstLastPara="1" rIns="0" wrap="square" tIns="45075">
            <a:spAutoFit/>
          </a:bodyPr>
          <a:lstStyle/>
          <a:p>
            <a:pPr indent="0" lvl="0" marL="85725" rtl="0" algn="l">
              <a:lnSpc>
                <a:spcPct val="100000"/>
              </a:lnSpc>
              <a:spcBef>
                <a:spcPts val="0"/>
              </a:spcBef>
              <a:spcAft>
                <a:spcPts val="0"/>
              </a:spcAft>
              <a:buNone/>
            </a:pPr>
            <a:r>
              <a:rPr b="1" lang="en-US" sz="1300">
                <a:latin typeface="Arial"/>
                <a:ea typeface="Arial"/>
                <a:cs typeface="Arial"/>
                <a:sym typeface="Arial"/>
              </a:rPr>
              <a:t>User Query</a:t>
            </a:r>
            <a:endParaRPr sz="1300">
              <a:latin typeface="Arial"/>
              <a:ea typeface="Arial"/>
              <a:cs typeface="Arial"/>
              <a:sym typeface="Arial"/>
            </a:endParaRPr>
          </a:p>
        </p:txBody>
      </p:sp>
      <p:sp>
        <p:nvSpPr>
          <p:cNvPr id="714" name="Google Shape;714;p21"/>
          <p:cNvSpPr txBox="1"/>
          <p:nvPr/>
        </p:nvSpPr>
        <p:spPr>
          <a:xfrm>
            <a:off x="3093724" y="3224500"/>
            <a:ext cx="1029969" cy="302260"/>
          </a:xfrm>
          <a:prstGeom prst="rect">
            <a:avLst/>
          </a:prstGeom>
          <a:solidFill>
            <a:srgbClr val="FFFFFF"/>
          </a:solidFill>
          <a:ln>
            <a:noFill/>
          </a:ln>
        </p:spPr>
        <p:txBody>
          <a:bodyPr anchorCtr="0" anchor="t" bIns="0" lIns="0" spcFirstLastPara="1" rIns="0" wrap="square" tIns="45075">
            <a:spAutoFit/>
          </a:bodyPr>
          <a:lstStyle/>
          <a:p>
            <a:pPr indent="0" lvl="0" marL="147955" rtl="0" algn="l">
              <a:lnSpc>
                <a:spcPct val="100000"/>
              </a:lnSpc>
              <a:spcBef>
                <a:spcPts val="0"/>
              </a:spcBef>
              <a:spcAft>
                <a:spcPts val="0"/>
              </a:spcAft>
              <a:buNone/>
            </a:pPr>
            <a:r>
              <a:rPr b="1" lang="en-US" sz="1300">
                <a:latin typeface="Arial"/>
                <a:ea typeface="Arial"/>
                <a:cs typeface="Arial"/>
                <a:sym typeface="Arial"/>
              </a:rPr>
              <a:t>Response</a:t>
            </a:r>
            <a:endParaRPr sz="1300">
              <a:latin typeface="Arial"/>
              <a:ea typeface="Arial"/>
              <a:cs typeface="Arial"/>
              <a:sym typeface="Arial"/>
            </a:endParaRPr>
          </a:p>
        </p:txBody>
      </p:sp>
      <p:sp>
        <p:nvSpPr>
          <p:cNvPr id="715" name="Google Shape;715;p21"/>
          <p:cNvSpPr txBox="1"/>
          <p:nvPr/>
        </p:nvSpPr>
        <p:spPr>
          <a:xfrm>
            <a:off x="5144975" y="2264324"/>
            <a:ext cx="1029969" cy="426720"/>
          </a:xfrm>
          <a:prstGeom prst="rect">
            <a:avLst/>
          </a:prstGeom>
          <a:solidFill>
            <a:srgbClr val="0D38A9"/>
          </a:solidFill>
          <a:ln>
            <a:noFill/>
          </a:ln>
        </p:spPr>
        <p:txBody>
          <a:bodyPr anchorCtr="0" anchor="t" bIns="0" lIns="0" spcFirstLastPara="1" rIns="0" wrap="square" tIns="83175">
            <a:spAutoFit/>
          </a:bodyPr>
          <a:lstStyle/>
          <a:p>
            <a:pPr indent="0" lvl="0" marL="251460" rtl="0" algn="l">
              <a:lnSpc>
                <a:spcPct val="100000"/>
              </a:lnSpc>
              <a:spcBef>
                <a:spcPts val="0"/>
              </a:spcBef>
              <a:spcAft>
                <a:spcPts val="0"/>
              </a:spcAft>
              <a:buNone/>
            </a:pPr>
            <a:r>
              <a:rPr b="1" lang="en-US" sz="1600">
                <a:solidFill>
                  <a:srgbClr val="FFFFFF"/>
                </a:solidFill>
                <a:latin typeface="Arial"/>
                <a:ea typeface="Arial"/>
                <a:cs typeface="Arial"/>
                <a:sym typeface="Arial"/>
              </a:rPr>
              <a:t>LLM2</a:t>
            </a:r>
            <a:endParaRPr sz="1600">
              <a:latin typeface="Arial"/>
              <a:ea typeface="Arial"/>
              <a:cs typeface="Arial"/>
              <a:sym typeface="Arial"/>
            </a:endParaRPr>
          </a:p>
        </p:txBody>
      </p:sp>
      <p:sp>
        <p:nvSpPr>
          <p:cNvPr id="716" name="Google Shape;716;p21"/>
          <p:cNvSpPr txBox="1"/>
          <p:nvPr/>
        </p:nvSpPr>
        <p:spPr>
          <a:xfrm>
            <a:off x="6760050" y="2191274"/>
            <a:ext cx="829944" cy="572770"/>
          </a:xfrm>
          <a:prstGeom prst="rect">
            <a:avLst/>
          </a:prstGeom>
          <a:solidFill>
            <a:srgbClr val="FFFFFF"/>
          </a:solidFill>
          <a:ln>
            <a:noFill/>
          </a:ln>
        </p:spPr>
        <p:txBody>
          <a:bodyPr anchorCtr="0" anchor="t" bIns="0" lIns="0" spcFirstLastPara="1" rIns="0" wrap="square" tIns="81275">
            <a:spAutoFit/>
          </a:bodyPr>
          <a:lstStyle/>
          <a:p>
            <a:pPr indent="-64135" lvl="0" marL="204470" marR="132715" rtl="0" algn="l">
              <a:lnSpc>
                <a:spcPct val="100000"/>
              </a:lnSpc>
              <a:spcBef>
                <a:spcPts val="0"/>
              </a:spcBef>
              <a:spcAft>
                <a:spcPts val="0"/>
              </a:spcAft>
              <a:buNone/>
            </a:pPr>
            <a:r>
              <a:rPr b="1" lang="en-US" sz="1300">
                <a:latin typeface="Arial"/>
                <a:ea typeface="Arial"/>
                <a:cs typeface="Arial"/>
                <a:sym typeface="Arial"/>
              </a:rPr>
              <a:t>Quality Score</a:t>
            </a:r>
            <a:endParaRPr sz="1300">
              <a:latin typeface="Arial"/>
              <a:ea typeface="Arial"/>
              <a:cs typeface="Arial"/>
              <a:sym typeface="Arial"/>
            </a:endParaRPr>
          </a:p>
        </p:txBody>
      </p:sp>
      <p:sp>
        <p:nvSpPr>
          <p:cNvPr id="717" name="Google Shape;717;p21"/>
          <p:cNvSpPr txBox="1"/>
          <p:nvPr/>
        </p:nvSpPr>
        <p:spPr>
          <a:xfrm>
            <a:off x="2362324" y="923425"/>
            <a:ext cx="1644014" cy="302260"/>
          </a:xfrm>
          <a:prstGeom prst="rect">
            <a:avLst/>
          </a:prstGeom>
          <a:solidFill>
            <a:srgbClr val="FFFFFF"/>
          </a:solidFill>
          <a:ln>
            <a:noFill/>
          </a:ln>
        </p:spPr>
        <p:txBody>
          <a:bodyPr anchorCtr="0" anchor="t" bIns="0" lIns="0" spcFirstLastPara="1" rIns="0" wrap="square" tIns="45075">
            <a:spAutoFit/>
          </a:bodyPr>
          <a:lstStyle/>
          <a:p>
            <a:pPr indent="0" lvl="0" marL="156210" rtl="0" algn="l">
              <a:lnSpc>
                <a:spcPct val="100000"/>
              </a:lnSpc>
              <a:spcBef>
                <a:spcPts val="0"/>
              </a:spcBef>
              <a:spcAft>
                <a:spcPts val="0"/>
              </a:spcAft>
              <a:buNone/>
            </a:pPr>
            <a:r>
              <a:rPr b="1" lang="en-US" sz="1300">
                <a:latin typeface="Arial"/>
                <a:ea typeface="Arial"/>
                <a:cs typeface="Arial"/>
                <a:sym typeface="Arial"/>
              </a:rPr>
              <a:t>Step 1: Prediction</a:t>
            </a:r>
            <a:endParaRPr sz="1300">
              <a:latin typeface="Arial"/>
              <a:ea typeface="Arial"/>
              <a:cs typeface="Arial"/>
              <a:sym typeface="Arial"/>
            </a:endParaRPr>
          </a:p>
        </p:txBody>
      </p:sp>
      <p:sp>
        <p:nvSpPr>
          <p:cNvPr id="718" name="Google Shape;718;p21"/>
          <p:cNvSpPr txBox="1"/>
          <p:nvPr/>
        </p:nvSpPr>
        <p:spPr>
          <a:xfrm>
            <a:off x="5472274" y="923425"/>
            <a:ext cx="1844675" cy="302260"/>
          </a:xfrm>
          <a:prstGeom prst="rect">
            <a:avLst/>
          </a:prstGeom>
          <a:solidFill>
            <a:srgbClr val="FFFFFF"/>
          </a:solidFill>
          <a:ln>
            <a:noFill/>
          </a:ln>
        </p:spPr>
        <p:txBody>
          <a:bodyPr anchorCtr="0" anchor="t" bIns="0" lIns="0" spcFirstLastPara="1" rIns="0" wrap="square" tIns="45075">
            <a:spAutoFit/>
          </a:bodyPr>
          <a:lstStyle/>
          <a:p>
            <a:pPr indent="0" lvl="0" marL="239395" rtl="0" algn="l">
              <a:lnSpc>
                <a:spcPct val="100000"/>
              </a:lnSpc>
              <a:spcBef>
                <a:spcPts val="0"/>
              </a:spcBef>
              <a:spcAft>
                <a:spcPts val="0"/>
              </a:spcAft>
              <a:buNone/>
            </a:pPr>
            <a:r>
              <a:rPr b="1" lang="en-US" sz="1300">
                <a:latin typeface="Arial"/>
                <a:ea typeface="Arial"/>
                <a:cs typeface="Arial"/>
                <a:sym typeface="Arial"/>
              </a:rPr>
              <a:t>Step 2: Evaluation</a:t>
            </a:r>
            <a:endParaRPr sz="1300">
              <a:latin typeface="Arial"/>
              <a:ea typeface="Arial"/>
              <a:cs typeface="Arial"/>
              <a:sym typeface="Arial"/>
            </a:endParaRPr>
          </a:p>
        </p:txBody>
      </p:sp>
      <p:pic>
        <p:nvPicPr>
          <p:cNvPr id="719" name="Google Shape;719;p21"/>
          <p:cNvPicPr preferRelativeResize="0"/>
          <p:nvPr/>
        </p:nvPicPr>
        <p:blipFill rotWithShape="1">
          <a:blip r:embed="rId4">
            <a:alphaModFix/>
          </a:blip>
          <a:srcRect b="0" l="0" r="0" t="0"/>
          <a:stretch/>
        </p:blipFill>
        <p:spPr>
          <a:xfrm>
            <a:off x="937325" y="2651800"/>
            <a:ext cx="572700" cy="572700"/>
          </a:xfrm>
          <a:prstGeom prst="rect">
            <a:avLst/>
          </a:prstGeom>
          <a:noFill/>
          <a:ln>
            <a:noFill/>
          </a:ln>
        </p:spPr>
      </p:pic>
      <p:sp>
        <p:nvSpPr>
          <p:cNvPr id="720" name="Google Shape;720;p21"/>
          <p:cNvSpPr txBox="1"/>
          <p:nvPr/>
        </p:nvSpPr>
        <p:spPr>
          <a:xfrm>
            <a:off x="2362312" y="1824887"/>
            <a:ext cx="779780" cy="302260"/>
          </a:xfrm>
          <a:prstGeom prst="rect">
            <a:avLst/>
          </a:prstGeom>
          <a:solidFill>
            <a:srgbClr val="FFFFFF"/>
          </a:solidFill>
          <a:ln>
            <a:noFill/>
          </a:ln>
        </p:spPr>
        <p:txBody>
          <a:bodyPr anchorCtr="0" anchor="t" bIns="0" lIns="0" spcFirstLastPara="1" rIns="0" wrap="square" tIns="45075">
            <a:spAutoFit/>
          </a:bodyPr>
          <a:lstStyle/>
          <a:p>
            <a:pPr indent="0" lvl="0" marL="94615" rtl="0" algn="l">
              <a:lnSpc>
                <a:spcPct val="100000"/>
              </a:lnSpc>
              <a:spcBef>
                <a:spcPts val="0"/>
              </a:spcBef>
              <a:spcAft>
                <a:spcPts val="0"/>
              </a:spcAft>
              <a:buNone/>
            </a:pPr>
            <a:r>
              <a:rPr b="1" lang="en-US" sz="1300">
                <a:latin typeface="Arial"/>
                <a:ea typeface="Arial"/>
                <a:cs typeface="Arial"/>
                <a:sym typeface="Arial"/>
              </a:rPr>
              <a:t>Context</a:t>
            </a:r>
            <a:endParaRPr sz="1300">
              <a:latin typeface="Arial"/>
              <a:ea typeface="Arial"/>
              <a:cs typeface="Arial"/>
              <a:sym typeface="Arial"/>
            </a:endParaRPr>
          </a:p>
        </p:txBody>
      </p:sp>
      <p:sp>
        <p:nvSpPr>
          <p:cNvPr id="721" name="Google Shape;721;p21"/>
          <p:cNvSpPr txBox="1"/>
          <p:nvPr/>
        </p:nvSpPr>
        <p:spPr>
          <a:xfrm>
            <a:off x="1000668" y="3336472"/>
            <a:ext cx="446405" cy="360680"/>
          </a:xfrm>
          <a:prstGeom prst="rect">
            <a:avLst/>
          </a:prstGeom>
          <a:noFill/>
          <a:ln>
            <a:noFill/>
          </a:ln>
        </p:spPr>
        <p:txBody>
          <a:bodyPr anchorCtr="0" anchor="t" bIns="0" lIns="0" spcFirstLastPara="1" rIns="0" wrap="square" tIns="12700">
            <a:spAutoFit/>
          </a:bodyPr>
          <a:lstStyle/>
          <a:p>
            <a:pPr indent="-109220" lvl="0" marL="121285" marR="5080" rtl="0" algn="l">
              <a:lnSpc>
                <a:spcPct val="100000"/>
              </a:lnSpc>
              <a:spcBef>
                <a:spcPts val="0"/>
              </a:spcBef>
              <a:spcAft>
                <a:spcPts val="0"/>
              </a:spcAft>
              <a:buNone/>
            </a:pPr>
            <a:r>
              <a:rPr b="1" lang="en-US" sz="1100">
                <a:latin typeface="Arial"/>
                <a:ea typeface="Arial"/>
                <a:cs typeface="Arial"/>
                <a:sym typeface="Arial"/>
              </a:rPr>
              <a:t>Vector DB</a:t>
            </a:r>
            <a:endParaRPr sz="1100">
              <a:latin typeface="Arial"/>
              <a:ea typeface="Arial"/>
              <a:cs typeface="Arial"/>
              <a:sym typeface="Arial"/>
            </a:endParaRPr>
          </a:p>
        </p:txBody>
      </p:sp>
      <p:grpSp>
        <p:nvGrpSpPr>
          <p:cNvPr id="722" name="Google Shape;722;p21"/>
          <p:cNvGrpSpPr/>
          <p:nvPr/>
        </p:nvGrpSpPr>
        <p:grpSpPr>
          <a:xfrm>
            <a:off x="1182684" y="1459549"/>
            <a:ext cx="5559166" cy="1916565"/>
            <a:chOff x="1182684" y="1459549"/>
            <a:chExt cx="5559166" cy="1916565"/>
          </a:xfrm>
        </p:grpSpPr>
        <p:sp>
          <p:nvSpPr>
            <p:cNvPr id="723" name="Google Shape;723;p21"/>
            <p:cNvSpPr/>
            <p:nvPr/>
          </p:nvSpPr>
          <p:spPr>
            <a:xfrm>
              <a:off x="1223674" y="1743849"/>
              <a:ext cx="0" cy="794385"/>
            </a:xfrm>
            <a:custGeom>
              <a:rect b="b" l="l" r="r" t="t"/>
              <a:pathLst>
                <a:path extrusionOk="0" h="794385" w="120000">
                  <a:moveTo>
                    <a:pt x="0" y="0"/>
                  </a:moveTo>
                  <a:lnTo>
                    <a:pt x="0" y="793799"/>
                  </a:lnTo>
                </a:path>
              </a:pathLst>
            </a:custGeom>
            <a:noFill/>
            <a:ln cap="flat" cmpd="sng" w="19025">
              <a:solidFill>
                <a:srgbClr val="A3141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24" name="Google Shape;724;p21"/>
            <p:cNvPicPr preferRelativeResize="0"/>
            <p:nvPr/>
          </p:nvPicPr>
          <p:blipFill rotWithShape="1">
            <a:blip r:embed="rId5">
              <a:alphaModFix/>
            </a:blip>
            <a:srcRect b="0" l="0" r="0" t="0"/>
            <a:stretch/>
          </p:blipFill>
          <p:spPr>
            <a:xfrm>
              <a:off x="1182684" y="2528124"/>
              <a:ext cx="81980" cy="105500"/>
            </a:xfrm>
            <a:prstGeom prst="rect">
              <a:avLst/>
            </a:prstGeom>
            <a:noFill/>
            <a:ln>
              <a:noFill/>
            </a:ln>
          </p:spPr>
        </p:pic>
        <p:sp>
          <p:nvSpPr>
            <p:cNvPr id="725" name="Google Shape;725;p21"/>
            <p:cNvSpPr/>
            <p:nvPr/>
          </p:nvSpPr>
          <p:spPr>
            <a:xfrm>
              <a:off x="1510025" y="1976050"/>
              <a:ext cx="738505" cy="962660"/>
            </a:xfrm>
            <a:custGeom>
              <a:rect b="b" l="l" r="r" t="t"/>
              <a:pathLst>
                <a:path extrusionOk="0" h="962660" w="738505">
                  <a:moveTo>
                    <a:pt x="0" y="962099"/>
                  </a:moveTo>
                  <a:lnTo>
                    <a:pt x="426141" y="962099"/>
                  </a:lnTo>
                  <a:lnTo>
                    <a:pt x="426141" y="0"/>
                  </a:lnTo>
                  <a:lnTo>
                    <a:pt x="738000" y="0"/>
                  </a:lnTo>
                </a:path>
              </a:pathLst>
            </a:custGeom>
            <a:noFill/>
            <a:ln cap="flat" cmpd="sng" w="19025">
              <a:solidFill>
                <a:srgbClr val="A3141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26" name="Google Shape;726;p21"/>
            <p:cNvPicPr preferRelativeResize="0"/>
            <p:nvPr/>
          </p:nvPicPr>
          <p:blipFill rotWithShape="1">
            <a:blip r:embed="rId6">
              <a:alphaModFix/>
            </a:blip>
            <a:srcRect b="0" l="0" r="0" t="0"/>
            <a:stretch/>
          </p:blipFill>
          <p:spPr>
            <a:xfrm>
              <a:off x="2238500" y="1935060"/>
              <a:ext cx="105500" cy="81980"/>
            </a:xfrm>
            <a:prstGeom prst="rect">
              <a:avLst/>
            </a:prstGeom>
            <a:noFill/>
            <a:ln>
              <a:noFill/>
            </a:ln>
          </p:spPr>
        </p:pic>
        <p:sp>
          <p:nvSpPr>
            <p:cNvPr id="727" name="Google Shape;727;p21"/>
            <p:cNvSpPr/>
            <p:nvPr/>
          </p:nvSpPr>
          <p:spPr>
            <a:xfrm>
              <a:off x="1738474" y="1592799"/>
              <a:ext cx="1870075" cy="573405"/>
            </a:xfrm>
            <a:custGeom>
              <a:rect b="b" l="l" r="r" t="t"/>
              <a:pathLst>
                <a:path extrusionOk="0" h="573405" w="1870075">
                  <a:moveTo>
                    <a:pt x="0" y="0"/>
                  </a:moveTo>
                  <a:lnTo>
                    <a:pt x="1869599" y="0"/>
                  </a:lnTo>
                  <a:lnTo>
                    <a:pt x="1869599" y="573299"/>
                  </a:lnTo>
                </a:path>
              </a:pathLst>
            </a:custGeom>
            <a:noFill/>
            <a:ln cap="flat" cmpd="sng" w="19025">
              <a:solidFill>
                <a:srgbClr val="0097A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28" name="Google Shape;728;p21"/>
            <p:cNvPicPr preferRelativeResize="0"/>
            <p:nvPr/>
          </p:nvPicPr>
          <p:blipFill rotWithShape="1">
            <a:blip r:embed="rId7">
              <a:alphaModFix/>
            </a:blip>
            <a:srcRect b="0" l="0" r="0" t="0"/>
            <a:stretch/>
          </p:blipFill>
          <p:spPr>
            <a:xfrm>
              <a:off x="3567084" y="2156574"/>
              <a:ext cx="81980" cy="105500"/>
            </a:xfrm>
            <a:prstGeom prst="rect">
              <a:avLst/>
            </a:prstGeom>
            <a:noFill/>
            <a:ln>
              <a:noFill/>
            </a:ln>
          </p:spPr>
        </p:pic>
        <p:pic>
          <p:nvPicPr>
            <p:cNvPr id="729" name="Google Shape;729;p21"/>
            <p:cNvPicPr preferRelativeResize="0"/>
            <p:nvPr/>
          </p:nvPicPr>
          <p:blipFill rotWithShape="1">
            <a:blip r:embed="rId8">
              <a:alphaModFix/>
            </a:blip>
            <a:srcRect b="0" l="0" r="0" t="0"/>
            <a:stretch/>
          </p:blipFill>
          <p:spPr>
            <a:xfrm>
              <a:off x="3132187" y="1966412"/>
              <a:ext cx="260215" cy="291500"/>
            </a:xfrm>
            <a:prstGeom prst="rect">
              <a:avLst/>
            </a:prstGeom>
            <a:noFill/>
            <a:ln>
              <a:noFill/>
            </a:ln>
          </p:spPr>
        </p:pic>
        <p:sp>
          <p:nvSpPr>
            <p:cNvPr id="730" name="Google Shape;730;p21"/>
            <p:cNvSpPr/>
            <p:nvPr/>
          </p:nvSpPr>
          <p:spPr>
            <a:xfrm>
              <a:off x="3608050" y="2707124"/>
              <a:ext cx="635" cy="403225"/>
            </a:xfrm>
            <a:custGeom>
              <a:rect b="b" l="l" r="r" t="t"/>
              <a:pathLst>
                <a:path extrusionOk="0" h="403225" w="635">
                  <a:moveTo>
                    <a:pt x="0" y="0"/>
                  </a:moveTo>
                  <a:lnTo>
                    <a:pt x="467" y="403199"/>
                  </a:lnTo>
                </a:path>
              </a:pathLst>
            </a:custGeom>
            <a:noFill/>
            <a:ln cap="flat" cmpd="sng" w="19025">
              <a:solidFill>
                <a:srgbClr val="9900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31" name="Google Shape;731;p21"/>
            <p:cNvPicPr preferRelativeResize="0"/>
            <p:nvPr/>
          </p:nvPicPr>
          <p:blipFill rotWithShape="1">
            <a:blip r:embed="rId9">
              <a:alphaModFix/>
            </a:blip>
            <a:srcRect b="0" l="0" r="0" t="0"/>
            <a:stretch/>
          </p:blipFill>
          <p:spPr>
            <a:xfrm>
              <a:off x="3567526" y="3100763"/>
              <a:ext cx="81980" cy="105536"/>
            </a:xfrm>
            <a:prstGeom prst="rect">
              <a:avLst/>
            </a:prstGeom>
            <a:noFill/>
            <a:ln>
              <a:noFill/>
            </a:ln>
          </p:spPr>
        </p:pic>
        <p:sp>
          <p:nvSpPr>
            <p:cNvPr id="732" name="Google Shape;732;p21"/>
            <p:cNvSpPr/>
            <p:nvPr/>
          </p:nvSpPr>
          <p:spPr>
            <a:xfrm>
              <a:off x="6174575" y="2477624"/>
              <a:ext cx="471805" cy="0"/>
            </a:xfrm>
            <a:custGeom>
              <a:rect b="b" l="l" r="r" t="t"/>
              <a:pathLst>
                <a:path extrusionOk="0" h="120000" w="471804">
                  <a:moveTo>
                    <a:pt x="0" y="0"/>
                  </a:moveTo>
                  <a:lnTo>
                    <a:pt x="471299" y="0"/>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33" name="Google Shape;733;p21"/>
            <p:cNvPicPr preferRelativeResize="0"/>
            <p:nvPr/>
          </p:nvPicPr>
          <p:blipFill rotWithShape="1">
            <a:blip r:embed="rId10">
              <a:alphaModFix/>
            </a:blip>
            <a:srcRect b="0" l="0" r="0" t="0"/>
            <a:stretch/>
          </p:blipFill>
          <p:spPr>
            <a:xfrm>
              <a:off x="6636350" y="2436634"/>
              <a:ext cx="105500" cy="81980"/>
            </a:xfrm>
            <a:prstGeom prst="rect">
              <a:avLst/>
            </a:prstGeom>
            <a:noFill/>
            <a:ln>
              <a:noFill/>
            </a:ln>
          </p:spPr>
        </p:pic>
        <p:sp>
          <p:nvSpPr>
            <p:cNvPr id="734" name="Google Shape;734;p21"/>
            <p:cNvSpPr/>
            <p:nvPr/>
          </p:nvSpPr>
          <p:spPr>
            <a:xfrm>
              <a:off x="1738474" y="1592799"/>
              <a:ext cx="3921760" cy="557530"/>
            </a:xfrm>
            <a:custGeom>
              <a:rect b="b" l="l" r="r" t="t"/>
              <a:pathLst>
                <a:path extrusionOk="0" h="557530" w="3921760">
                  <a:moveTo>
                    <a:pt x="0" y="0"/>
                  </a:moveTo>
                  <a:lnTo>
                    <a:pt x="3921299" y="0"/>
                  </a:lnTo>
                  <a:lnTo>
                    <a:pt x="3921299" y="557099"/>
                  </a:lnTo>
                </a:path>
              </a:pathLst>
            </a:custGeom>
            <a:noFill/>
            <a:ln cap="flat" cmpd="sng" w="19025">
              <a:solidFill>
                <a:srgbClr val="0097A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35" name="Google Shape;735;p21"/>
            <p:cNvPicPr preferRelativeResize="0"/>
            <p:nvPr/>
          </p:nvPicPr>
          <p:blipFill rotWithShape="1">
            <a:blip r:embed="rId11">
              <a:alphaModFix/>
            </a:blip>
            <a:srcRect b="0" l="0" r="0" t="0"/>
            <a:stretch/>
          </p:blipFill>
          <p:spPr>
            <a:xfrm>
              <a:off x="5618784" y="2140374"/>
              <a:ext cx="81980" cy="105500"/>
            </a:xfrm>
            <a:prstGeom prst="rect">
              <a:avLst/>
            </a:prstGeom>
            <a:noFill/>
            <a:ln>
              <a:noFill/>
            </a:ln>
          </p:spPr>
        </p:pic>
        <p:sp>
          <p:nvSpPr>
            <p:cNvPr id="736" name="Google Shape;736;p21"/>
            <p:cNvSpPr/>
            <p:nvPr/>
          </p:nvSpPr>
          <p:spPr>
            <a:xfrm>
              <a:off x="4123324" y="2805249"/>
              <a:ext cx="1536700" cy="570865"/>
            </a:xfrm>
            <a:custGeom>
              <a:rect b="b" l="l" r="r" t="t"/>
              <a:pathLst>
                <a:path extrusionOk="0" h="570864" w="1536700">
                  <a:moveTo>
                    <a:pt x="0" y="570299"/>
                  </a:moveTo>
                  <a:lnTo>
                    <a:pt x="1536599" y="570299"/>
                  </a:lnTo>
                  <a:lnTo>
                    <a:pt x="1536599" y="0"/>
                  </a:lnTo>
                </a:path>
              </a:pathLst>
            </a:custGeom>
            <a:noFill/>
            <a:ln cap="flat" cmpd="sng" w="19025">
              <a:solidFill>
                <a:srgbClr val="9900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37" name="Google Shape;737;p21"/>
            <p:cNvPicPr preferRelativeResize="0"/>
            <p:nvPr/>
          </p:nvPicPr>
          <p:blipFill rotWithShape="1">
            <a:blip r:embed="rId12">
              <a:alphaModFix/>
            </a:blip>
            <a:srcRect b="0" l="0" r="0" t="0"/>
            <a:stretch/>
          </p:blipFill>
          <p:spPr>
            <a:xfrm>
              <a:off x="5618934" y="2709274"/>
              <a:ext cx="81980" cy="105500"/>
            </a:xfrm>
            <a:prstGeom prst="rect">
              <a:avLst/>
            </a:prstGeom>
            <a:noFill/>
            <a:ln>
              <a:noFill/>
            </a:ln>
          </p:spPr>
        </p:pic>
        <p:sp>
          <p:nvSpPr>
            <p:cNvPr id="738" name="Google Shape;738;p21"/>
            <p:cNvSpPr/>
            <p:nvPr/>
          </p:nvSpPr>
          <p:spPr>
            <a:xfrm>
              <a:off x="3136524" y="2048449"/>
              <a:ext cx="2105025" cy="107950"/>
            </a:xfrm>
            <a:custGeom>
              <a:rect b="b" l="l" r="r" t="t"/>
              <a:pathLst>
                <a:path extrusionOk="0" h="107950" w="2105025">
                  <a:moveTo>
                    <a:pt x="0" y="0"/>
                  </a:moveTo>
                  <a:lnTo>
                    <a:pt x="2099949" y="0"/>
                  </a:lnTo>
                  <a:lnTo>
                    <a:pt x="2104442" y="107823"/>
                  </a:lnTo>
                </a:path>
              </a:pathLst>
            </a:custGeom>
            <a:noFill/>
            <a:ln cap="flat" cmpd="sng" w="19025">
              <a:solidFill>
                <a:srgbClr val="A31414"/>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39" name="Google Shape;739;p21"/>
            <p:cNvPicPr preferRelativeResize="0"/>
            <p:nvPr/>
          </p:nvPicPr>
          <p:blipFill rotWithShape="1">
            <a:blip r:embed="rId13">
              <a:alphaModFix/>
            </a:blip>
            <a:srcRect b="0" l="0" r="0" t="0"/>
            <a:stretch/>
          </p:blipFill>
          <p:spPr>
            <a:xfrm>
              <a:off x="5200004" y="2145439"/>
              <a:ext cx="81926" cy="106735"/>
            </a:xfrm>
            <a:prstGeom prst="rect">
              <a:avLst/>
            </a:prstGeom>
            <a:noFill/>
            <a:ln>
              <a:noFill/>
            </a:ln>
          </p:spPr>
        </p:pic>
        <p:sp>
          <p:nvSpPr>
            <p:cNvPr id="740" name="Google Shape;740;p21"/>
            <p:cNvSpPr/>
            <p:nvPr/>
          </p:nvSpPr>
          <p:spPr>
            <a:xfrm>
              <a:off x="2288625" y="1459549"/>
              <a:ext cx="255904" cy="212090"/>
            </a:xfrm>
            <a:custGeom>
              <a:rect b="b" l="l" r="r" t="t"/>
              <a:pathLst>
                <a:path extrusionOk="0" h="212089" w="255905">
                  <a:moveTo>
                    <a:pt x="255299" y="211799"/>
                  </a:moveTo>
                  <a:lnTo>
                    <a:pt x="0" y="211799"/>
                  </a:lnTo>
                  <a:lnTo>
                    <a:pt x="0" y="0"/>
                  </a:lnTo>
                  <a:lnTo>
                    <a:pt x="255299" y="0"/>
                  </a:lnTo>
                  <a:lnTo>
                    <a:pt x="255299" y="2117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41" name="Google Shape;741;p21"/>
          <p:cNvSpPr txBox="1"/>
          <p:nvPr/>
        </p:nvSpPr>
        <p:spPr>
          <a:xfrm>
            <a:off x="2361512" y="1479598"/>
            <a:ext cx="109855" cy="1625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00">
                <a:solidFill>
                  <a:srgbClr val="7E7E7E"/>
                </a:solidFill>
                <a:latin typeface="Arial"/>
                <a:ea typeface="Arial"/>
                <a:cs typeface="Arial"/>
                <a:sym typeface="Arial"/>
              </a:rPr>
              <a:t>A</a:t>
            </a:r>
            <a:endParaRPr sz="900">
              <a:latin typeface="Arial"/>
              <a:ea typeface="Arial"/>
              <a:cs typeface="Arial"/>
              <a:sym typeface="Arial"/>
            </a:endParaRPr>
          </a:p>
        </p:txBody>
      </p:sp>
      <p:sp>
        <p:nvSpPr>
          <p:cNvPr id="742" name="Google Shape;742;p21"/>
          <p:cNvSpPr/>
          <p:nvPr/>
        </p:nvSpPr>
        <p:spPr>
          <a:xfrm>
            <a:off x="3734725" y="1917225"/>
            <a:ext cx="255904" cy="212090"/>
          </a:xfrm>
          <a:custGeom>
            <a:rect b="b" l="l" r="r" t="t"/>
            <a:pathLst>
              <a:path extrusionOk="0" h="212089" w="255904">
                <a:moveTo>
                  <a:pt x="255299" y="211799"/>
                </a:moveTo>
                <a:lnTo>
                  <a:pt x="0" y="211799"/>
                </a:lnTo>
                <a:lnTo>
                  <a:pt x="0" y="0"/>
                </a:lnTo>
                <a:lnTo>
                  <a:pt x="255299" y="0"/>
                </a:lnTo>
                <a:lnTo>
                  <a:pt x="255299" y="2117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3" name="Google Shape;743;p21"/>
          <p:cNvSpPr txBox="1"/>
          <p:nvPr/>
        </p:nvSpPr>
        <p:spPr>
          <a:xfrm>
            <a:off x="3810698" y="1937273"/>
            <a:ext cx="103505" cy="1625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00">
                <a:solidFill>
                  <a:srgbClr val="7E7E7E"/>
                </a:solidFill>
                <a:latin typeface="Arial"/>
                <a:ea typeface="Arial"/>
                <a:cs typeface="Arial"/>
                <a:sym typeface="Arial"/>
              </a:rPr>
              <a:t>B</a:t>
            </a:r>
            <a:endParaRPr sz="900">
              <a:latin typeface="Arial"/>
              <a:ea typeface="Arial"/>
              <a:cs typeface="Arial"/>
              <a:sym typeface="Arial"/>
            </a:endParaRPr>
          </a:p>
        </p:txBody>
      </p:sp>
      <p:sp>
        <p:nvSpPr>
          <p:cNvPr id="744" name="Google Shape;744;p21"/>
          <p:cNvSpPr/>
          <p:nvPr/>
        </p:nvSpPr>
        <p:spPr>
          <a:xfrm>
            <a:off x="4190400" y="3254774"/>
            <a:ext cx="255904" cy="212090"/>
          </a:xfrm>
          <a:custGeom>
            <a:rect b="b" l="l" r="r" t="t"/>
            <a:pathLst>
              <a:path extrusionOk="0" h="212089" w="255904">
                <a:moveTo>
                  <a:pt x="255299" y="211799"/>
                </a:moveTo>
                <a:lnTo>
                  <a:pt x="0" y="211799"/>
                </a:lnTo>
                <a:lnTo>
                  <a:pt x="0" y="0"/>
                </a:lnTo>
                <a:lnTo>
                  <a:pt x="255299" y="0"/>
                </a:lnTo>
                <a:lnTo>
                  <a:pt x="255299" y="211799"/>
                </a:lnTo>
                <a:close/>
              </a:path>
            </a:pathLst>
          </a:custGeom>
          <a:solidFill>
            <a:srgbClr val="EEEE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5" name="Google Shape;745;p21"/>
          <p:cNvSpPr txBox="1"/>
          <p:nvPr/>
        </p:nvSpPr>
        <p:spPr>
          <a:xfrm>
            <a:off x="4266716" y="3274822"/>
            <a:ext cx="102870" cy="1625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900">
                <a:solidFill>
                  <a:srgbClr val="7E7E7E"/>
                </a:solidFill>
                <a:latin typeface="Arial"/>
                <a:ea typeface="Arial"/>
                <a:cs typeface="Arial"/>
                <a:sym typeface="Arial"/>
              </a:rPr>
              <a:t>C</a:t>
            </a:r>
            <a:endParaRPr sz="900">
              <a:latin typeface="Arial"/>
              <a:ea typeface="Arial"/>
              <a:cs typeface="Arial"/>
              <a:sym typeface="Arial"/>
            </a:endParaRPr>
          </a:p>
        </p:txBody>
      </p:sp>
      <p:sp>
        <p:nvSpPr>
          <p:cNvPr id="746" name="Google Shape;746;p21"/>
          <p:cNvSpPr txBox="1"/>
          <p:nvPr/>
        </p:nvSpPr>
        <p:spPr>
          <a:xfrm>
            <a:off x="6771425" y="2771792"/>
            <a:ext cx="781050" cy="29972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900">
                <a:solidFill>
                  <a:srgbClr val="7E7E7E"/>
                </a:solidFill>
                <a:latin typeface="Arial"/>
                <a:ea typeface="Arial"/>
                <a:cs typeface="Arial"/>
                <a:sym typeface="Arial"/>
              </a:rPr>
              <a:t>Groundedness Relevance</a:t>
            </a:r>
            <a:endParaRPr sz="900">
              <a:latin typeface="Arial"/>
              <a:ea typeface="Arial"/>
              <a:cs typeface="Arial"/>
              <a:sym typeface="Arial"/>
            </a:endParaRPr>
          </a:p>
        </p:txBody>
      </p:sp>
      <p:sp>
        <p:nvSpPr>
          <p:cNvPr id="747" name="Google Shape;747;p21"/>
          <p:cNvSpPr txBox="1"/>
          <p:nvPr/>
        </p:nvSpPr>
        <p:spPr>
          <a:xfrm>
            <a:off x="499775" y="4141230"/>
            <a:ext cx="5405755" cy="7112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500">
                <a:latin typeface="Arial"/>
                <a:ea typeface="Arial"/>
                <a:cs typeface="Arial"/>
                <a:sym typeface="Arial"/>
              </a:rPr>
              <a:t>Given input query, context and LLM response, rater LLMs judge whether: (a) The response is grounded in the context, (b) The response is relevant to the query</a:t>
            </a:r>
            <a:endParaRPr sz="15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grpSp>
        <p:nvGrpSpPr>
          <p:cNvPr id="752" name="Google Shape;752;p22"/>
          <p:cNvGrpSpPr/>
          <p:nvPr/>
        </p:nvGrpSpPr>
        <p:grpSpPr>
          <a:xfrm>
            <a:off x="-6" y="0"/>
            <a:ext cx="9144006" cy="5143500"/>
            <a:chOff x="-6" y="0"/>
            <a:chExt cx="9144006" cy="5143500"/>
          </a:xfrm>
        </p:grpSpPr>
        <p:sp>
          <p:nvSpPr>
            <p:cNvPr id="753" name="Google Shape;753;p22"/>
            <p:cNvSpPr/>
            <p:nvPr/>
          </p:nvSpPr>
          <p:spPr>
            <a:xfrm>
              <a:off x="-6" y="9"/>
              <a:ext cx="175895" cy="355600"/>
            </a:xfrm>
            <a:custGeom>
              <a:rect b="b" l="l" r="r" t="t"/>
              <a:pathLst>
                <a:path extrusionOk="0" h="355600" w="175895">
                  <a:moveTo>
                    <a:pt x="175499" y="355499"/>
                  </a:moveTo>
                  <a:lnTo>
                    <a:pt x="0" y="355499"/>
                  </a:lnTo>
                  <a:lnTo>
                    <a:pt x="0" y="0"/>
                  </a:lnTo>
                  <a:lnTo>
                    <a:pt x="175499" y="0"/>
                  </a:lnTo>
                  <a:lnTo>
                    <a:pt x="175499" y="3554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54" name="Google Shape;754;p22"/>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sp>
        <p:nvSpPr>
          <p:cNvPr id="755" name="Google Shape;755;p22"/>
          <p:cNvSpPr txBox="1"/>
          <p:nvPr>
            <p:ph type="title"/>
          </p:nvPr>
        </p:nvSpPr>
        <p:spPr>
          <a:xfrm>
            <a:off x="384725" y="188286"/>
            <a:ext cx="94361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Ragas</a:t>
            </a:r>
            <a:endParaRPr/>
          </a:p>
        </p:txBody>
      </p:sp>
      <p:sp>
        <p:nvSpPr>
          <p:cNvPr id="756" name="Google Shape;756;p22"/>
          <p:cNvSpPr/>
          <p:nvPr/>
        </p:nvSpPr>
        <p:spPr>
          <a:xfrm>
            <a:off x="5636374" y="735550"/>
            <a:ext cx="1111885" cy="572770"/>
          </a:xfrm>
          <a:custGeom>
            <a:rect b="b" l="l" r="r" t="t"/>
            <a:pathLst>
              <a:path extrusionOk="0" h="572769" w="1111884">
                <a:moveTo>
                  <a:pt x="0" y="95451"/>
                </a:moveTo>
                <a:lnTo>
                  <a:pt x="7501" y="58297"/>
                </a:lnTo>
                <a:lnTo>
                  <a:pt x="27957" y="27957"/>
                </a:lnTo>
                <a:lnTo>
                  <a:pt x="58297" y="7501"/>
                </a:lnTo>
                <a:lnTo>
                  <a:pt x="95451" y="0"/>
                </a:lnTo>
                <a:lnTo>
                  <a:pt x="1016348" y="0"/>
                </a:lnTo>
                <a:lnTo>
                  <a:pt x="1069305" y="16037"/>
                </a:lnTo>
                <a:lnTo>
                  <a:pt x="1104534" y="58924"/>
                </a:lnTo>
                <a:lnTo>
                  <a:pt x="1111799" y="95451"/>
                </a:lnTo>
                <a:lnTo>
                  <a:pt x="1111799" y="477247"/>
                </a:lnTo>
                <a:lnTo>
                  <a:pt x="1104298" y="514402"/>
                </a:lnTo>
                <a:lnTo>
                  <a:pt x="1083842" y="544742"/>
                </a:lnTo>
                <a:lnTo>
                  <a:pt x="1053502" y="565198"/>
                </a:lnTo>
                <a:lnTo>
                  <a:pt x="1016348" y="572699"/>
                </a:lnTo>
                <a:lnTo>
                  <a:pt x="95451" y="572699"/>
                </a:lnTo>
                <a:lnTo>
                  <a:pt x="58297" y="565198"/>
                </a:lnTo>
                <a:lnTo>
                  <a:pt x="27957" y="544742"/>
                </a:lnTo>
                <a:lnTo>
                  <a:pt x="7501" y="514402"/>
                </a:lnTo>
                <a:lnTo>
                  <a:pt x="0" y="477247"/>
                </a:lnTo>
                <a:lnTo>
                  <a:pt x="0" y="9545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57" name="Google Shape;757;p22"/>
          <p:cNvSpPr txBox="1"/>
          <p:nvPr/>
        </p:nvSpPr>
        <p:spPr>
          <a:xfrm>
            <a:off x="5799385" y="792538"/>
            <a:ext cx="786765" cy="448309"/>
          </a:xfrm>
          <a:prstGeom prst="rect">
            <a:avLst/>
          </a:prstGeom>
          <a:noFill/>
          <a:ln>
            <a:noFill/>
          </a:ln>
        </p:spPr>
        <p:txBody>
          <a:bodyPr anchorCtr="0" anchor="t" bIns="0" lIns="0" spcFirstLastPara="1" rIns="0" wrap="square" tIns="22850">
            <a:spAutoFit/>
          </a:bodyPr>
          <a:lstStyle/>
          <a:p>
            <a:pPr indent="-68580" lvl="0" marL="80645" marR="5080" rtl="0" algn="l">
              <a:lnSpc>
                <a:spcPct val="117857"/>
              </a:lnSpc>
              <a:spcBef>
                <a:spcPts val="0"/>
              </a:spcBef>
              <a:spcAft>
                <a:spcPts val="0"/>
              </a:spcAft>
              <a:buNone/>
            </a:pPr>
            <a:r>
              <a:rPr lang="en-US" sz="1400">
                <a:latin typeface="Arial"/>
                <a:ea typeface="Arial"/>
                <a:cs typeface="Arial"/>
                <a:sym typeface="Arial"/>
              </a:rPr>
              <a:t>Retrieved Context</a:t>
            </a:r>
            <a:endParaRPr sz="1400">
              <a:latin typeface="Arial"/>
              <a:ea typeface="Arial"/>
              <a:cs typeface="Arial"/>
              <a:sym typeface="Arial"/>
            </a:endParaRPr>
          </a:p>
        </p:txBody>
      </p:sp>
      <p:sp>
        <p:nvSpPr>
          <p:cNvPr id="758" name="Google Shape;758;p22"/>
          <p:cNvSpPr/>
          <p:nvPr/>
        </p:nvSpPr>
        <p:spPr>
          <a:xfrm>
            <a:off x="4094050" y="1170099"/>
            <a:ext cx="855980" cy="450215"/>
          </a:xfrm>
          <a:custGeom>
            <a:rect b="b" l="l" r="r" t="t"/>
            <a:pathLst>
              <a:path extrusionOk="0" h="450215" w="855979">
                <a:moveTo>
                  <a:pt x="716911" y="449699"/>
                </a:moveTo>
                <a:lnTo>
                  <a:pt x="138988" y="449699"/>
                </a:lnTo>
                <a:lnTo>
                  <a:pt x="95057" y="442614"/>
                </a:lnTo>
                <a:lnTo>
                  <a:pt x="56903" y="422883"/>
                </a:lnTo>
                <a:lnTo>
                  <a:pt x="26816" y="392796"/>
                </a:lnTo>
                <a:lnTo>
                  <a:pt x="7085" y="354642"/>
                </a:lnTo>
                <a:lnTo>
                  <a:pt x="0" y="310711"/>
                </a:lnTo>
                <a:lnTo>
                  <a:pt x="0" y="138988"/>
                </a:lnTo>
                <a:lnTo>
                  <a:pt x="7085" y="95057"/>
                </a:lnTo>
                <a:lnTo>
                  <a:pt x="26816" y="56903"/>
                </a:lnTo>
                <a:lnTo>
                  <a:pt x="56903" y="26816"/>
                </a:lnTo>
                <a:lnTo>
                  <a:pt x="95057" y="7085"/>
                </a:lnTo>
                <a:lnTo>
                  <a:pt x="138988" y="0"/>
                </a:lnTo>
                <a:lnTo>
                  <a:pt x="716911" y="0"/>
                </a:lnTo>
                <a:lnTo>
                  <a:pt x="770099" y="10579"/>
                </a:lnTo>
                <a:lnTo>
                  <a:pt x="815190" y="40708"/>
                </a:lnTo>
                <a:lnTo>
                  <a:pt x="845320" y="85800"/>
                </a:lnTo>
                <a:lnTo>
                  <a:pt x="855899" y="138988"/>
                </a:lnTo>
                <a:lnTo>
                  <a:pt x="855899" y="310711"/>
                </a:lnTo>
                <a:lnTo>
                  <a:pt x="848814" y="354642"/>
                </a:lnTo>
                <a:lnTo>
                  <a:pt x="829083" y="392796"/>
                </a:lnTo>
                <a:lnTo>
                  <a:pt x="798996" y="422883"/>
                </a:lnTo>
                <a:lnTo>
                  <a:pt x="760842" y="442614"/>
                </a:lnTo>
                <a:lnTo>
                  <a:pt x="716911" y="449699"/>
                </a:lnTo>
                <a:close/>
              </a:path>
            </a:pathLst>
          </a:custGeom>
          <a:solidFill>
            <a:srgbClr val="0097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59" name="Google Shape;759;p22"/>
          <p:cNvSpPr txBox="1"/>
          <p:nvPr/>
        </p:nvSpPr>
        <p:spPr>
          <a:xfrm>
            <a:off x="4332309" y="1270363"/>
            <a:ext cx="379730" cy="2387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FFFFFF"/>
                </a:solidFill>
                <a:latin typeface="Arial"/>
                <a:ea typeface="Arial"/>
                <a:cs typeface="Arial"/>
                <a:sym typeface="Arial"/>
              </a:rPr>
              <a:t>LLM</a:t>
            </a:r>
            <a:endParaRPr sz="1400">
              <a:latin typeface="Arial"/>
              <a:ea typeface="Arial"/>
              <a:cs typeface="Arial"/>
              <a:sym typeface="Arial"/>
            </a:endParaRPr>
          </a:p>
        </p:txBody>
      </p:sp>
      <p:sp>
        <p:nvSpPr>
          <p:cNvPr id="760" name="Google Shape;760;p22"/>
          <p:cNvSpPr/>
          <p:nvPr/>
        </p:nvSpPr>
        <p:spPr>
          <a:xfrm>
            <a:off x="2548700" y="797049"/>
            <a:ext cx="838835" cy="450215"/>
          </a:xfrm>
          <a:custGeom>
            <a:rect b="b" l="l" r="r" t="t"/>
            <a:pathLst>
              <a:path extrusionOk="0" h="450215" w="838835">
                <a:moveTo>
                  <a:pt x="0" y="74951"/>
                </a:moveTo>
                <a:lnTo>
                  <a:pt x="5890" y="45776"/>
                </a:lnTo>
                <a:lnTo>
                  <a:pt x="21952" y="21952"/>
                </a:lnTo>
                <a:lnTo>
                  <a:pt x="45776" y="5890"/>
                </a:lnTo>
                <a:lnTo>
                  <a:pt x="74951" y="0"/>
                </a:lnTo>
                <a:lnTo>
                  <a:pt x="763848" y="0"/>
                </a:lnTo>
                <a:lnTo>
                  <a:pt x="805431" y="12592"/>
                </a:lnTo>
                <a:lnTo>
                  <a:pt x="833094" y="46268"/>
                </a:lnTo>
                <a:lnTo>
                  <a:pt x="838799" y="74951"/>
                </a:lnTo>
                <a:lnTo>
                  <a:pt x="838799" y="374748"/>
                </a:lnTo>
                <a:lnTo>
                  <a:pt x="832909" y="403923"/>
                </a:lnTo>
                <a:lnTo>
                  <a:pt x="816847" y="427747"/>
                </a:lnTo>
                <a:lnTo>
                  <a:pt x="793022" y="443809"/>
                </a:lnTo>
                <a:lnTo>
                  <a:pt x="763848" y="449699"/>
                </a:lnTo>
                <a:lnTo>
                  <a:pt x="74951" y="449699"/>
                </a:lnTo>
                <a:lnTo>
                  <a:pt x="45776" y="443809"/>
                </a:lnTo>
                <a:lnTo>
                  <a:pt x="21952" y="427747"/>
                </a:lnTo>
                <a:lnTo>
                  <a:pt x="5890" y="403923"/>
                </a:lnTo>
                <a:lnTo>
                  <a:pt x="0" y="374748"/>
                </a:lnTo>
                <a:lnTo>
                  <a:pt x="0" y="74951"/>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1" name="Google Shape;761;p22"/>
          <p:cNvSpPr txBox="1"/>
          <p:nvPr/>
        </p:nvSpPr>
        <p:spPr>
          <a:xfrm>
            <a:off x="2744935" y="822128"/>
            <a:ext cx="446405" cy="389255"/>
          </a:xfrm>
          <a:prstGeom prst="rect">
            <a:avLst/>
          </a:prstGeom>
          <a:noFill/>
          <a:ln>
            <a:noFill/>
          </a:ln>
        </p:spPr>
        <p:txBody>
          <a:bodyPr anchorCtr="0" anchor="t" bIns="0" lIns="0" spcFirstLastPara="1" rIns="0" wrap="square" tIns="19675">
            <a:spAutoFit/>
          </a:bodyPr>
          <a:lstStyle/>
          <a:p>
            <a:pPr indent="50165" lvl="0" marL="12700" marR="5080" rtl="0" algn="l">
              <a:lnSpc>
                <a:spcPct val="119166"/>
              </a:lnSpc>
              <a:spcBef>
                <a:spcPts val="0"/>
              </a:spcBef>
              <a:spcAft>
                <a:spcPts val="0"/>
              </a:spcAft>
              <a:buNone/>
            </a:pPr>
            <a:r>
              <a:rPr lang="en-US" sz="1200">
                <a:latin typeface="Arial"/>
                <a:ea typeface="Arial"/>
                <a:cs typeface="Arial"/>
                <a:sym typeface="Arial"/>
              </a:rPr>
              <a:t>User Query</a:t>
            </a:r>
            <a:endParaRPr sz="1200">
              <a:latin typeface="Arial"/>
              <a:ea typeface="Arial"/>
              <a:cs typeface="Arial"/>
              <a:sym typeface="Arial"/>
            </a:endParaRPr>
          </a:p>
        </p:txBody>
      </p:sp>
      <p:sp>
        <p:nvSpPr>
          <p:cNvPr id="762" name="Google Shape;762;p22"/>
          <p:cNvSpPr/>
          <p:nvPr/>
        </p:nvSpPr>
        <p:spPr>
          <a:xfrm>
            <a:off x="3944949" y="1960599"/>
            <a:ext cx="1154430" cy="321310"/>
          </a:xfrm>
          <a:custGeom>
            <a:rect b="b" l="l" r="r" t="t"/>
            <a:pathLst>
              <a:path extrusionOk="0" h="321310" w="1154429">
                <a:moveTo>
                  <a:pt x="0" y="53550"/>
                </a:moveTo>
                <a:lnTo>
                  <a:pt x="4208" y="32706"/>
                </a:lnTo>
                <a:lnTo>
                  <a:pt x="15684" y="15684"/>
                </a:lnTo>
                <a:lnTo>
                  <a:pt x="32706" y="4208"/>
                </a:lnTo>
                <a:lnTo>
                  <a:pt x="53551" y="0"/>
                </a:lnTo>
                <a:lnTo>
                  <a:pt x="1100548" y="0"/>
                </a:lnTo>
                <a:lnTo>
                  <a:pt x="1138415" y="15684"/>
                </a:lnTo>
                <a:lnTo>
                  <a:pt x="1154099" y="53550"/>
                </a:lnTo>
                <a:lnTo>
                  <a:pt x="1154099" y="267748"/>
                </a:lnTo>
                <a:lnTo>
                  <a:pt x="1149891" y="288593"/>
                </a:lnTo>
                <a:lnTo>
                  <a:pt x="1138415" y="305615"/>
                </a:lnTo>
                <a:lnTo>
                  <a:pt x="1121393" y="317091"/>
                </a:lnTo>
                <a:lnTo>
                  <a:pt x="1100548" y="321299"/>
                </a:lnTo>
                <a:lnTo>
                  <a:pt x="53551" y="321299"/>
                </a:lnTo>
                <a:lnTo>
                  <a:pt x="32706" y="317091"/>
                </a:lnTo>
                <a:lnTo>
                  <a:pt x="15684" y="305615"/>
                </a:lnTo>
                <a:lnTo>
                  <a:pt x="4208" y="288593"/>
                </a:lnTo>
                <a:lnTo>
                  <a:pt x="0" y="267748"/>
                </a:lnTo>
                <a:lnTo>
                  <a:pt x="0" y="53550"/>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3" name="Google Shape;763;p22"/>
          <p:cNvSpPr txBox="1"/>
          <p:nvPr/>
        </p:nvSpPr>
        <p:spPr>
          <a:xfrm>
            <a:off x="4174705" y="2011966"/>
            <a:ext cx="69532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Response</a:t>
            </a:r>
            <a:endParaRPr sz="1200">
              <a:latin typeface="Arial"/>
              <a:ea typeface="Arial"/>
              <a:cs typeface="Arial"/>
              <a:sym typeface="Arial"/>
            </a:endParaRPr>
          </a:p>
        </p:txBody>
      </p:sp>
      <p:grpSp>
        <p:nvGrpSpPr>
          <p:cNvPr id="764" name="Google Shape;764;p22"/>
          <p:cNvGrpSpPr/>
          <p:nvPr/>
        </p:nvGrpSpPr>
        <p:grpSpPr>
          <a:xfrm>
            <a:off x="719899" y="1021900"/>
            <a:ext cx="7447280" cy="2119851"/>
            <a:chOff x="719899" y="1021900"/>
            <a:chExt cx="7447280" cy="2119851"/>
          </a:xfrm>
        </p:grpSpPr>
        <p:pic>
          <p:nvPicPr>
            <p:cNvPr id="765" name="Google Shape;765;p22"/>
            <p:cNvPicPr preferRelativeResize="0"/>
            <p:nvPr/>
          </p:nvPicPr>
          <p:blipFill rotWithShape="1">
            <a:blip r:embed="rId4">
              <a:alphaModFix/>
            </a:blip>
            <a:srcRect b="0" l="0" r="0" t="0"/>
            <a:stretch/>
          </p:blipFill>
          <p:spPr>
            <a:xfrm>
              <a:off x="4481009" y="1619800"/>
              <a:ext cx="81980" cy="322475"/>
            </a:xfrm>
            <a:prstGeom prst="rect">
              <a:avLst/>
            </a:prstGeom>
            <a:noFill/>
            <a:ln>
              <a:noFill/>
            </a:ln>
          </p:spPr>
        </p:pic>
        <p:sp>
          <p:nvSpPr>
            <p:cNvPr id="766" name="Google Shape;766;p22"/>
            <p:cNvSpPr/>
            <p:nvPr/>
          </p:nvSpPr>
          <p:spPr>
            <a:xfrm>
              <a:off x="3387499" y="1021900"/>
              <a:ext cx="592455" cy="373380"/>
            </a:xfrm>
            <a:custGeom>
              <a:rect b="b" l="l" r="r" t="t"/>
              <a:pathLst>
                <a:path extrusionOk="0" h="373380" w="592454">
                  <a:moveTo>
                    <a:pt x="0" y="0"/>
                  </a:moveTo>
                  <a:lnTo>
                    <a:pt x="353277" y="0"/>
                  </a:lnTo>
                  <a:lnTo>
                    <a:pt x="353277" y="373199"/>
                  </a:lnTo>
                  <a:lnTo>
                    <a:pt x="592199" y="3731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67" name="Google Shape;767;p22"/>
            <p:cNvPicPr preferRelativeResize="0"/>
            <p:nvPr/>
          </p:nvPicPr>
          <p:blipFill rotWithShape="1">
            <a:blip r:embed="rId5">
              <a:alphaModFix/>
            </a:blip>
            <a:srcRect b="0" l="0" r="0" t="0"/>
            <a:stretch/>
          </p:blipFill>
          <p:spPr>
            <a:xfrm>
              <a:off x="3970175" y="1354109"/>
              <a:ext cx="105500" cy="81980"/>
            </a:xfrm>
            <a:prstGeom prst="rect">
              <a:avLst/>
            </a:prstGeom>
            <a:noFill/>
            <a:ln>
              <a:noFill/>
            </a:ln>
          </p:spPr>
        </p:pic>
        <p:sp>
          <p:nvSpPr>
            <p:cNvPr id="768" name="Google Shape;768;p22"/>
            <p:cNvSpPr/>
            <p:nvPr/>
          </p:nvSpPr>
          <p:spPr>
            <a:xfrm>
              <a:off x="5064275" y="1021900"/>
              <a:ext cx="572135" cy="373380"/>
            </a:xfrm>
            <a:custGeom>
              <a:rect b="b" l="l" r="r" t="t"/>
              <a:pathLst>
                <a:path extrusionOk="0" h="373380" w="572135">
                  <a:moveTo>
                    <a:pt x="572099" y="0"/>
                  </a:moveTo>
                  <a:lnTo>
                    <a:pt x="228886" y="0"/>
                  </a:lnTo>
                  <a:lnTo>
                    <a:pt x="228886" y="373199"/>
                  </a:lnTo>
                  <a:lnTo>
                    <a:pt x="0" y="3731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69" name="Google Shape;769;p22"/>
            <p:cNvPicPr preferRelativeResize="0"/>
            <p:nvPr/>
          </p:nvPicPr>
          <p:blipFill rotWithShape="1">
            <a:blip r:embed="rId6">
              <a:alphaModFix/>
            </a:blip>
            <a:srcRect b="0" l="0" r="0" t="0"/>
            <a:stretch/>
          </p:blipFill>
          <p:spPr>
            <a:xfrm>
              <a:off x="4968299" y="1354109"/>
              <a:ext cx="105500" cy="81980"/>
            </a:xfrm>
            <a:prstGeom prst="rect">
              <a:avLst/>
            </a:prstGeom>
            <a:noFill/>
            <a:ln>
              <a:noFill/>
            </a:ln>
          </p:spPr>
        </p:pic>
        <p:sp>
          <p:nvSpPr>
            <p:cNvPr id="770" name="Google Shape;770;p22"/>
            <p:cNvSpPr/>
            <p:nvPr/>
          </p:nvSpPr>
          <p:spPr>
            <a:xfrm>
              <a:off x="719899" y="2691536"/>
              <a:ext cx="7447280" cy="450215"/>
            </a:xfrm>
            <a:custGeom>
              <a:rect b="b" l="l" r="r" t="t"/>
              <a:pathLst>
                <a:path extrusionOk="0" h="450214" w="7447280">
                  <a:moveTo>
                    <a:pt x="1545297" y="138988"/>
                  </a:moveTo>
                  <a:lnTo>
                    <a:pt x="1534718" y="85801"/>
                  </a:lnTo>
                  <a:lnTo>
                    <a:pt x="1504581" y="40703"/>
                  </a:lnTo>
                  <a:lnTo>
                    <a:pt x="1459496" y="10579"/>
                  </a:lnTo>
                  <a:lnTo>
                    <a:pt x="1406309" y="0"/>
                  </a:lnTo>
                  <a:lnTo>
                    <a:pt x="138988" y="0"/>
                  </a:lnTo>
                  <a:lnTo>
                    <a:pt x="95046" y="7086"/>
                  </a:lnTo>
                  <a:lnTo>
                    <a:pt x="56896" y="26809"/>
                  </a:lnTo>
                  <a:lnTo>
                    <a:pt x="26809" y="56896"/>
                  </a:lnTo>
                  <a:lnTo>
                    <a:pt x="7073" y="95046"/>
                  </a:lnTo>
                  <a:lnTo>
                    <a:pt x="0" y="138988"/>
                  </a:lnTo>
                  <a:lnTo>
                    <a:pt x="0" y="310705"/>
                  </a:lnTo>
                  <a:lnTo>
                    <a:pt x="7073" y="354634"/>
                  </a:lnTo>
                  <a:lnTo>
                    <a:pt x="26809" y="392785"/>
                  </a:lnTo>
                  <a:lnTo>
                    <a:pt x="56896" y="422871"/>
                  </a:lnTo>
                  <a:lnTo>
                    <a:pt x="95046" y="442607"/>
                  </a:lnTo>
                  <a:lnTo>
                    <a:pt x="138988" y="449694"/>
                  </a:lnTo>
                  <a:lnTo>
                    <a:pt x="1406309" y="449694"/>
                  </a:lnTo>
                  <a:lnTo>
                    <a:pt x="1450238" y="442607"/>
                  </a:lnTo>
                  <a:lnTo>
                    <a:pt x="1488389" y="422871"/>
                  </a:lnTo>
                  <a:lnTo>
                    <a:pt x="1518475" y="392785"/>
                  </a:lnTo>
                  <a:lnTo>
                    <a:pt x="1538211" y="354634"/>
                  </a:lnTo>
                  <a:lnTo>
                    <a:pt x="1545297" y="310705"/>
                  </a:lnTo>
                  <a:lnTo>
                    <a:pt x="1545297" y="138988"/>
                  </a:lnTo>
                  <a:close/>
                </a:path>
                <a:path extrusionOk="0" h="450214" w="7447280">
                  <a:moveTo>
                    <a:pt x="7446975" y="138988"/>
                  </a:moveTo>
                  <a:lnTo>
                    <a:pt x="7436383" y="85801"/>
                  </a:lnTo>
                  <a:lnTo>
                    <a:pt x="7406259" y="40703"/>
                  </a:lnTo>
                  <a:lnTo>
                    <a:pt x="7361174" y="10579"/>
                  </a:lnTo>
                  <a:lnTo>
                    <a:pt x="7307986" y="0"/>
                  </a:lnTo>
                  <a:lnTo>
                    <a:pt x="6040653" y="0"/>
                  </a:lnTo>
                  <a:lnTo>
                    <a:pt x="5996724" y="7086"/>
                  </a:lnTo>
                  <a:lnTo>
                    <a:pt x="5958573" y="26809"/>
                  </a:lnTo>
                  <a:lnTo>
                    <a:pt x="5928487" y="56896"/>
                  </a:lnTo>
                  <a:lnTo>
                    <a:pt x="5908751" y="95046"/>
                  </a:lnTo>
                  <a:lnTo>
                    <a:pt x="5901664" y="138988"/>
                  </a:lnTo>
                  <a:lnTo>
                    <a:pt x="5901664" y="310705"/>
                  </a:lnTo>
                  <a:lnTo>
                    <a:pt x="5908751" y="354634"/>
                  </a:lnTo>
                  <a:lnTo>
                    <a:pt x="5928487" y="392785"/>
                  </a:lnTo>
                  <a:lnTo>
                    <a:pt x="5958573" y="422871"/>
                  </a:lnTo>
                  <a:lnTo>
                    <a:pt x="5996724" y="442607"/>
                  </a:lnTo>
                  <a:lnTo>
                    <a:pt x="6040653" y="449694"/>
                  </a:lnTo>
                  <a:lnTo>
                    <a:pt x="7307986" y="449694"/>
                  </a:lnTo>
                  <a:lnTo>
                    <a:pt x="7351916" y="442607"/>
                  </a:lnTo>
                  <a:lnTo>
                    <a:pt x="7390066" y="422871"/>
                  </a:lnTo>
                  <a:lnTo>
                    <a:pt x="7420153" y="392785"/>
                  </a:lnTo>
                  <a:lnTo>
                    <a:pt x="7439888" y="354634"/>
                  </a:lnTo>
                  <a:lnTo>
                    <a:pt x="7446975" y="310705"/>
                  </a:lnTo>
                  <a:lnTo>
                    <a:pt x="7446975" y="138988"/>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1" name="Google Shape;771;p22"/>
            <p:cNvSpPr/>
            <p:nvPr/>
          </p:nvSpPr>
          <p:spPr>
            <a:xfrm>
              <a:off x="1492599" y="2281900"/>
              <a:ext cx="3029585" cy="295275"/>
            </a:xfrm>
            <a:custGeom>
              <a:rect b="b" l="l" r="r" t="t"/>
              <a:pathLst>
                <a:path extrusionOk="0" h="295275" w="3029585">
                  <a:moveTo>
                    <a:pt x="3029399" y="0"/>
                  </a:moveTo>
                  <a:lnTo>
                    <a:pt x="3029399" y="204811"/>
                  </a:lnTo>
                  <a:lnTo>
                    <a:pt x="0" y="204811"/>
                  </a:lnTo>
                  <a:lnTo>
                    <a:pt x="0" y="2951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72" name="Google Shape;772;p22"/>
            <p:cNvPicPr preferRelativeResize="0"/>
            <p:nvPr/>
          </p:nvPicPr>
          <p:blipFill rotWithShape="1">
            <a:blip r:embed="rId7">
              <a:alphaModFix/>
            </a:blip>
            <a:srcRect b="0" l="0" r="0" t="0"/>
            <a:stretch/>
          </p:blipFill>
          <p:spPr>
            <a:xfrm>
              <a:off x="1451609" y="2567575"/>
              <a:ext cx="81980" cy="105500"/>
            </a:xfrm>
            <a:prstGeom prst="rect">
              <a:avLst/>
            </a:prstGeom>
            <a:noFill/>
            <a:ln>
              <a:noFill/>
            </a:ln>
          </p:spPr>
        </p:pic>
        <p:sp>
          <p:nvSpPr>
            <p:cNvPr id="773" name="Google Shape;773;p22"/>
            <p:cNvSpPr/>
            <p:nvPr/>
          </p:nvSpPr>
          <p:spPr>
            <a:xfrm>
              <a:off x="4522000" y="2281900"/>
              <a:ext cx="2872740" cy="295275"/>
            </a:xfrm>
            <a:custGeom>
              <a:rect b="b" l="l" r="r" t="t"/>
              <a:pathLst>
                <a:path extrusionOk="0" h="295275" w="2872740">
                  <a:moveTo>
                    <a:pt x="0" y="0"/>
                  </a:moveTo>
                  <a:lnTo>
                    <a:pt x="0" y="204811"/>
                  </a:lnTo>
                  <a:lnTo>
                    <a:pt x="2872199" y="204811"/>
                  </a:lnTo>
                  <a:lnTo>
                    <a:pt x="2872199" y="2951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74" name="Google Shape;774;p22"/>
            <p:cNvPicPr preferRelativeResize="0"/>
            <p:nvPr/>
          </p:nvPicPr>
          <p:blipFill rotWithShape="1">
            <a:blip r:embed="rId7">
              <a:alphaModFix/>
            </a:blip>
            <a:srcRect b="0" l="0" r="0" t="0"/>
            <a:stretch/>
          </p:blipFill>
          <p:spPr>
            <a:xfrm>
              <a:off x="7353209" y="2567575"/>
              <a:ext cx="81980" cy="105500"/>
            </a:xfrm>
            <a:prstGeom prst="rect">
              <a:avLst/>
            </a:prstGeom>
            <a:noFill/>
            <a:ln>
              <a:noFill/>
            </a:ln>
          </p:spPr>
        </p:pic>
      </p:grpSp>
      <p:sp>
        <p:nvSpPr>
          <p:cNvPr id="775" name="Google Shape;775;p22"/>
          <p:cNvSpPr txBox="1"/>
          <p:nvPr/>
        </p:nvSpPr>
        <p:spPr>
          <a:xfrm>
            <a:off x="773875" y="2791788"/>
            <a:ext cx="1335405" cy="1177925"/>
          </a:xfrm>
          <a:prstGeom prst="rect">
            <a:avLst/>
          </a:prstGeom>
          <a:noFill/>
          <a:ln>
            <a:noFill/>
          </a:ln>
        </p:spPr>
        <p:txBody>
          <a:bodyPr anchorCtr="0" anchor="t" bIns="0" lIns="0" spcFirstLastPara="1" rIns="0" wrap="square" tIns="12700">
            <a:spAutoFit/>
          </a:bodyPr>
          <a:lstStyle/>
          <a:p>
            <a:pPr indent="0" lvl="0" marL="212725" rtl="0" algn="l">
              <a:lnSpc>
                <a:spcPct val="100000"/>
              </a:lnSpc>
              <a:spcBef>
                <a:spcPts val="0"/>
              </a:spcBef>
              <a:spcAft>
                <a:spcPts val="0"/>
              </a:spcAft>
              <a:buNone/>
            </a:pPr>
            <a:r>
              <a:rPr b="1" lang="en-US" sz="1400">
                <a:solidFill>
                  <a:srgbClr val="FFFFFF"/>
                </a:solidFill>
                <a:latin typeface="Arial"/>
                <a:ea typeface="Arial"/>
                <a:cs typeface="Arial"/>
                <a:sym typeface="Arial"/>
              </a:rPr>
              <a:t>Faithfulness</a:t>
            </a:r>
            <a:endParaRPr sz="1400">
              <a:latin typeface="Arial"/>
              <a:ea typeface="Arial"/>
              <a:cs typeface="Arial"/>
              <a:sym typeface="Arial"/>
            </a:endParaRPr>
          </a:p>
          <a:p>
            <a:pPr indent="0" lvl="0" marL="0" rtl="0" algn="l">
              <a:lnSpc>
                <a:spcPct val="100000"/>
              </a:lnSpc>
              <a:spcBef>
                <a:spcPts val="20"/>
              </a:spcBef>
              <a:spcAft>
                <a:spcPts val="0"/>
              </a:spcAft>
              <a:buNone/>
            </a:pPr>
            <a:r>
              <a:t/>
            </a:r>
            <a:endParaRPr sz="1400">
              <a:latin typeface="Arial"/>
              <a:ea typeface="Arial"/>
              <a:cs typeface="Arial"/>
              <a:sym typeface="Arial"/>
            </a:endParaRPr>
          </a:p>
          <a:p>
            <a:pPr indent="0" lvl="0" marL="12700" marR="5080" rtl="0" algn="l">
              <a:lnSpc>
                <a:spcPct val="100000"/>
              </a:lnSpc>
              <a:spcBef>
                <a:spcPts val="0"/>
              </a:spcBef>
              <a:spcAft>
                <a:spcPts val="0"/>
              </a:spcAft>
              <a:buNone/>
            </a:pPr>
            <a:r>
              <a:rPr b="1" lang="en-US" sz="1200">
                <a:solidFill>
                  <a:srgbClr val="7E7E7E"/>
                </a:solidFill>
                <a:latin typeface="Arial"/>
                <a:ea typeface="Arial"/>
                <a:cs typeface="Arial"/>
                <a:sym typeface="Arial"/>
              </a:rPr>
              <a:t>Is the response factually grounded in the retrieved context?</a:t>
            </a:r>
            <a:endParaRPr sz="1200">
              <a:latin typeface="Arial"/>
              <a:ea typeface="Arial"/>
              <a:cs typeface="Arial"/>
              <a:sym typeface="Arial"/>
            </a:endParaRPr>
          </a:p>
        </p:txBody>
      </p:sp>
      <p:sp>
        <p:nvSpPr>
          <p:cNvPr id="776" name="Google Shape;776;p22"/>
          <p:cNvSpPr txBox="1"/>
          <p:nvPr/>
        </p:nvSpPr>
        <p:spPr>
          <a:xfrm>
            <a:off x="469174" y="3409101"/>
            <a:ext cx="147320" cy="2692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00">
                <a:solidFill>
                  <a:srgbClr val="999999"/>
                </a:solidFill>
                <a:latin typeface="Arial"/>
                <a:ea typeface="Arial"/>
                <a:cs typeface="Arial"/>
                <a:sym typeface="Arial"/>
              </a:rPr>
              <a:t>1</a:t>
            </a:r>
            <a:endParaRPr sz="1600">
              <a:latin typeface="Arial"/>
              <a:ea typeface="Arial"/>
              <a:cs typeface="Arial"/>
              <a:sym typeface="Arial"/>
            </a:endParaRPr>
          </a:p>
        </p:txBody>
      </p:sp>
      <p:sp>
        <p:nvSpPr>
          <p:cNvPr id="777" name="Google Shape;777;p22"/>
          <p:cNvSpPr/>
          <p:nvPr/>
        </p:nvSpPr>
        <p:spPr>
          <a:xfrm>
            <a:off x="2701100" y="2691525"/>
            <a:ext cx="1545590" cy="450215"/>
          </a:xfrm>
          <a:custGeom>
            <a:rect b="b" l="l" r="r" t="t"/>
            <a:pathLst>
              <a:path extrusionOk="0" h="450214" w="1545589">
                <a:moveTo>
                  <a:pt x="1406311" y="449699"/>
                </a:moveTo>
                <a:lnTo>
                  <a:pt x="138988" y="449699"/>
                </a:lnTo>
                <a:lnTo>
                  <a:pt x="95057" y="442614"/>
                </a:lnTo>
                <a:lnTo>
                  <a:pt x="56903" y="422883"/>
                </a:lnTo>
                <a:lnTo>
                  <a:pt x="26816" y="392796"/>
                </a:lnTo>
                <a:lnTo>
                  <a:pt x="7085" y="354642"/>
                </a:lnTo>
                <a:lnTo>
                  <a:pt x="0" y="310711"/>
                </a:lnTo>
                <a:lnTo>
                  <a:pt x="0" y="138988"/>
                </a:lnTo>
                <a:lnTo>
                  <a:pt x="7085" y="95057"/>
                </a:lnTo>
                <a:lnTo>
                  <a:pt x="26816" y="56903"/>
                </a:lnTo>
                <a:lnTo>
                  <a:pt x="56903" y="26816"/>
                </a:lnTo>
                <a:lnTo>
                  <a:pt x="95057" y="7085"/>
                </a:lnTo>
                <a:lnTo>
                  <a:pt x="138988" y="0"/>
                </a:lnTo>
                <a:lnTo>
                  <a:pt x="1406311" y="0"/>
                </a:lnTo>
                <a:lnTo>
                  <a:pt x="1459499" y="10579"/>
                </a:lnTo>
                <a:lnTo>
                  <a:pt x="1504590" y="40708"/>
                </a:lnTo>
                <a:lnTo>
                  <a:pt x="1534720" y="85800"/>
                </a:lnTo>
                <a:lnTo>
                  <a:pt x="1545299" y="138988"/>
                </a:lnTo>
                <a:lnTo>
                  <a:pt x="1545299" y="310711"/>
                </a:lnTo>
                <a:lnTo>
                  <a:pt x="1538214" y="354642"/>
                </a:lnTo>
                <a:lnTo>
                  <a:pt x="1518483" y="392796"/>
                </a:lnTo>
                <a:lnTo>
                  <a:pt x="1488396" y="422883"/>
                </a:lnTo>
                <a:lnTo>
                  <a:pt x="1450242" y="442614"/>
                </a:lnTo>
                <a:lnTo>
                  <a:pt x="1406311" y="4496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8" name="Google Shape;778;p22"/>
          <p:cNvSpPr txBox="1"/>
          <p:nvPr/>
        </p:nvSpPr>
        <p:spPr>
          <a:xfrm>
            <a:off x="2755075" y="2687013"/>
            <a:ext cx="1331595" cy="1146175"/>
          </a:xfrm>
          <a:prstGeom prst="rect">
            <a:avLst/>
          </a:prstGeom>
          <a:noFill/>
          <a:ln>
            <a:noFill/>
          </a:ln>
        </p:spPr>
        <p:txBody>
          <a:bodyPr anchorCtr="0" anchor="t" bIns="0" lIns="0" spcFirstLastPara="1" rIns="0" wrap="square" tIns="22850">
            <a:spAutoFit/>
          </a:bodyPr>
          <a:lstStyle/>
          <a:p>
            <a:pPr indent="48260" lvl="0" marL="345440" marR="231140" rtl="0" algn="l">
              <a:lnSpc>
                <a:spcPct val="117857"/>
              </a:lnSpc>
              <a:spcBef>
                <a:spcPts val="0"/>
              </a:spcBef>
              <a:spcAft>
                <a:spcPts val="0"/>
              </a:spcAft>
              <a:buNone/>
            </a:pPr>
            <a:r>
              <a:rPr b="1" lang="en-US" sz="1400">
                <a:solidFill>
                  <a:srgbClr val="FFFFFF"/>
                </a:solidFill>
                <a:latin typeface="Arial"/>
                <a:ea typeface="Arial"/>
                <a:cs typeface="Arial"/>
                <a:sym typeface="Arial"/>
              </a:rPr>
              <a:t>Context Precision</a:t>
            </a:r>
            <a:endParaRPr sz="1400">
              <a:latin typeface="Arial"/>
              <a:ea typeface="Arial"/>
              <a:cs typeface="Arial"/>
              <a:sym typeface="Arial"/>
            </a:endParaRPr>
          </a:p>
          <a:p>
            <a:pPr indent="0" lvl="0" marL="12700" marR="5080" rtl="0" algn="l">
              <a:lnSpc>
                <a:spcPct val="100000"/>
              </a:lnSpc>
              <a:spcBef>
                <a:spcPts val="1120"/>
              </a:spcBef>
              <a:spcAft>
                <a:spcPts val="0"/>
              </a:spcAft>
              <a:buNone/>
            </a:pPr>
            <a:r>
              <a:rPr b="1" lang="en-US" sz="1200">
                <a:solidFill>
                  <a:srgbClr val="7E7E7E"/>
                </a:solidFill>
                <a:latin typeface="Arial"/>
                <a:ea typeface="Arial"/>
                <a:cs typeface="Arial"/>
                <a:sym typeface="Arial"/>
              </a:rPr>
              <a:t>Is the retrieved context relevant to the question?</a:t>
            </a:r>
            <a:endParaRPr sz="1200">
              <a:latin typeface="Arial"/>
              <a:ea typeface="Arial"/>
              <a:cs typeface="Arial"/>
              <a:sym typeface="Arial"/>
            </a:endParaRPr>
          </a:p>
        </p:txBody>
      </p:sp>
      <p:sp>
        <p:nvSpPr>
          <p:cNvPr id="779" name="Google Shape;779;p22"/>
          <p:cNvSpPr txBox="1"/>
          <p:nvPr/>
        </p:nvSpPr>
        <p:spPr>
          <a:xfrm>
            <a:off x="2450375" y="3409101"/>
            <a:ext cx="147320" cy="2692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00">
                <a:solidFill>
                  <a:srgbClr val="999999"/>
                </a:solidFill>
                <a:latin typeface="Arial"/>
                <a:ea typeface="Arial"/>
                <a:cs typeface="Arial"/>
                <a:sym typeface="Arial"/>
              </a:rPr>
              <a:t>2</a:t>
            </a:r>
            <a:endParaRPr sz="1600">
              <a:latin typeface="Arial"/>
              <a:ea typeface="Arial"/>
              <a:cs typeface="Arial"/>
              <a:sym typeface="Arial"/>
            </a:endParaRPr>
          </a:p>
        </p:txBody>
      </p:sp>
      <p:sp>
        <p:nvSpPr>
          <p:cNvPr id="780" name="Google Shape;780;p22"/>
          <p:cNvSpPr/>
          <p:nvPr/>
        </p:nvSpPr>
        <p:spPr>
          <a:xfrm>
            <a:off x="4682299" y="2691525"/>
            <a:ext cx="1545590" cy="450215"/>
          </a:xfrm>
          <a:custGeom>
            <a:rect b="b" l="l" r="r" t="t"/>
            <a:pathLst>
              <a:path extrusionOk="0" h="450214" w="1545589">
                <a:moveTo>
                  <a:pt x="1406311" y="449699"/>
                </a:moveTo>
                <a:lnTo>
                  <a:pt x="138988" y="449699"/>
                </a:lnTo>
                <a:lnTo>
                  <a:pt x="95057" y="442614"/>
                </a:lnTo>
                <a:lnTo>
                  <a:pt x="56903" y="422883"/>
                </a:lnTo>
                <a:lnTo>
                  <a:pt x="26816" y="392796"/>
                </a:lnTo>
                <a:lnTo>
                  <a:pt x="7085" y="354642"/>
                </a:lnTo>
                <a:lnTo>
                  <a:pt x="0" y="310711"/>
                </a:lnTo>
                <a:lnTo>
                  <a:pt x="0" y="138988"/>
                </a:lnTo>
                <a:lnTo>
                  <a:pt x="7085" y="95057"/>
                </a:lnTo>
                <a:lnTo>
                  <a:pt x="26816" y="56903"/>
                </a:lnTo>
                <a:lnTo>
                  <a:pt x="56903" y="26816"/>
                </a:lnTo>
                <a:lnTo>
                  <a:pt x="95057" y="7085"/>
                </a:lnTo>
                <a:lnTo>
                  <a:pt x="138988" y="0"/>
                </a:lnTo>
                <a:lnTo>
                  <a:pt x="1406311" y="0"/>
                </a:lnTo>
                <a:lnTo>
                  <a:pt x="1459499" y="10579"/>
                </a:lnTo>
                <a:lnTo>
                  <a:pt x="1504590" y="40708"/>
                </a:lnTo>
                <a:lnTo>
                  <a:pt x="1534720" y="85800"/>
                </a:lnTo>
                <a:lnTo>
                  <a:pt x="1545299" y="138988"/>
                </a:lnTo>
                <a:lnTo>
                  <a:pt x="1545299" y="310711"/>
                </a:lnTo>
                <a:lnTo>
                  <a:pt x="1538214" y="354642"/>
                </a:lnTo>
                <a:lnTo>
                  <a:pt x="1518483" y="392796"/>
                </a:lnTo>
                <a:lnTo>
                  <a:pt x="1488396" y="422883"/>
                </a:lnTo>
                <a:lnTo>
                  <a:pt x="1450242" y="442614"/>
                </a:lnTo>
                <a:lnTo>
                  <a:pt x="1406311" y="449699"/>
                </a:lnTo>
                <a:close/>
              </a:path>
            </a:pathLst>
          </a:custGeom>
          <a:solidFill>
            <a:srgbClr val="0D38A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81" name="Google Shape;781;p22"/>
          <p:cNvSpPr txBox="1"/>
          <p:nvPr/>
        </p:nvSpPr>
        <p:spPr>
          <a:xfrm>
            <a:off x="4736275" y="2791788"/>
            <a:ext cx="1336675" cy="1177925"/>
          </a:xfrm>
          <a:prstGeom prst="rect">
            <a:avLst/>
          </a:prstGeom>
          <a:noFill/>
          <a:ln>
            <a:noFill/>
          </a:ln>
        </p:spPr>
        <p:txBody>
          <a:bodyPr anchorCtr="0" anchor="t" bIns="0" lIns="0" spcFirstLastPara="1" rIns="0" wrap="square" tIns="12700">
            <a:spAutoFit/>
          </a:bodyPr>
          <a:lstStyle/>
          <a:p>
            <a:pPr indent="0" lvl="0" marL="114935" rtl="0" algn="l">
              <a:lnSpc>
                <a:spcPct val="100000"/>
              </a:lnSpc>
              <a:spcBef>
                <a:spcPts val="0"/>
              </a:spcBef>
              <a:spcAft>
                <a:spcPts val="0"/>
              </a:spcAft>
              <a:buNone/>
            </a:pPr>
            <a:r>
              <a:rPr b="1" lang="en-US" sz="1400">
                <a:solidFill>
                  <a:srgbClr val="FFFFFF"/>
                </a:solidFill>
                <a:latin typeface="Arial"/>
                <a:ea typeface="Arial"/>
                <a:cs typeface="Arial"/>
                <a:sym typeface="Arial"/>
              </a:rPr>
              <a:t>Context Recall</a:t>
            </a:r>
            <a:endParaRPr sz="1400">
              <a:latin typeface="Arial"/>
              <a:ea typeface="Arial"/>
              <a:cs typeface="Arial"/>
              <a:sym typeface="Arial"/>
            </a:endParaRPr>
          </a:p>
          <a:p>
            <a:pPr indent="0" lvl="0" marL="0" rtl="0" algn="l">
              <a:lnSpc>
                <a:spcPct val="100000"/>
              </a:lnSpc>
              <a:spcBef>
                <a:spcPts val="20"/>
              </a:spcBef>
              <a:spcAft>
                <a:spcPts val="0"/>
              </a:spcAft>
              <a:buNone/>
            </a:pPr>
            <a:r>
              <a:t/>
            </a:r>
            <a:endParaRPr sz="1400">
              <a:latin typeface="Arial"/>
              <a:ea typeface="Arial"/>
              <a:cs typeface="Arial"/>
              <a:sym typeface="Arial"/>
            </a:endParaRPr>
          </a:p>
          <a:p>
            <a:pPr indent="0" lvl="0" marL="12700" marR="99060" rtl="0" algn="l">
              <a:lnSpc>
                <a:spcPct val="100000"/>
              </a:lnSpc>
              <a:spcBef>
                <a:spcPts val="0"/>
              </a:spcBef>
              <a:spcAft>
                <a:spcPts val="0"/>
              </a:spcAft>
              <a:buNone/>
            </a:pPr>
            <a:r>
              <a:rPr b="1" lang="en-US" sz="1200">
                <a:solidFill>
                  <a:srgbClr val="7E7E7E"/>
                </a:solidFill>
                <a:latin typeface="Arial"/>
                <a:ea typeface="Arial"/>
                <a:cs typeface="Arial"/>
                <a:sym typeface="Arial"/>
              </a:rPr>
              <a:t>Is all the required information retrieved in the context?</a:t>
            </a:r>
            <a:endParaRPr sz="1200">
              <a:latin typeface="Arial"/>
              <a:ea typeface="Arial"/>
              <a:cs typeface="Arial"/>
              <a:sym typeface="Arial"/>
            </a:endParaRPr>
          </a:p>
        </p:txBody>
      </p:sp>
      <p:sp>
        <p:nvSpPr>
          <p:cNvPr id="782" name="Google Shape;782;p22"/>
          <p:cNvSpPr txBox="1"/>
          <p:nvPr/>
        </p:nvSpPr>
        <p:spPr>
          <a:xfrm>
            <a:off x="4431575" y="3409101"/>
            <a:ext cx="147320" cy="2692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00">
                <a:solidFill>
                  <a:srgbClr val="999999"/>
                </a:solidFill>
                <a:latin typeface="Arial"/>
                <a:ea typeface="Arial"/>
                <a:cs typeface="Arial"/>
                <a:sym typeface="Arial"/>
              </a:rPr>
              <a:t>3</a:t>
            </a:r>
            <a:endParaRPr sz="1600">
              <a:latin typeface="Arial"/>
              <a:ea typeface="Arial"/>
              <a:cs typeface="Arial"/>
              <a:sym typeface="Arial"/>
            </a:endParaRPr>
          </a:p>
        </p:txBody>
      </p:sp>
      <p:sp>
        <p:nvSpPr>
          <p:cNvPr id="783" name="Google Shape;783;p22"/>
          <p:cNvSpPr txBox="1"/>
          <p:nvPr/>
        </p:nvSpPr>
        <p:spPr>
          <a:xfrm>
            <a:off x="6717476" y="2687013"/>
            <a:ext cx="1381760" cy="1146175"/>
          </a:xfrm>
          <a:prstGeom prst="rect">
            <a:avLst/>
          </a:prstGeom>
          <a:noFill/>
          <a:ln>
            <a:noFill/>
          </a:ln>
        </p:spPr>
        <p:txBody>
          <a:bodyPr anchorCtr="0" anchor="t" bIns="0" lIns="0" spcFirstLastPara="1" rIns="0" wrap="square" tIns="22850">
            <a:spAutoFit/>
          </a:bodyPr>
          <a:lstStyle/>
          <a:p>
            <a:pPr indent="100330" lvl="0" marL="257175" marR="276860" rtl="0" algn="l">
              <a:lnSpc>
                <a:spcPct val="117857"/>
              </a:lnSpc>
              <a:spcBef>
                <a:spcPts val="0"/>
              </a:spcBef>
              <a:spcAft>
                <a:spcPts val="0"/>
              </a:spcAft>
              <a:buNone/>
            </a:pPr>
            <a:r>
              <a:rPr b="1" lang="en-US" sz="1400">
                <a:solidFill>
                  <a:srgbClr val="FFFFFF"/>
                </a:solidFill>
                <a:latin typeface="Arial"/>
                <a:ea typeface="Arial"/>
                <a:cs typeface="Arial"/>
                <a:sym typeface="Arial"/>
              </a:rPr>
              <a:t>Answer Relevancy</a:t>
            </a:r>
            <a:endParaRPr sz="1400">
              <a:latin typeface="Arial"/>
              <a:ea typeface="Arial"/>
              <a:cs typeface="Arial"/>
              <a:sym typeface="Arial"/>
            </a:endParaRPr>
          </a:p>
          <a:p>
            <a:pPr indent="0" lvl="0" marL="12700" marR="5080" rtl="0" algn="l">
              <a:lnSpc>
                <a:spcPct val="100000"/>
              </a:lnSpc>
              <a:spcBef>
                <a:spcPts val="1120"/>
              </a:spcBef>
              <a:spcAft>
                <a:spcPts val="0"/>
              </a:spcAft>
              <a:buNone/>
            </a:pPr>
            <a:r>
              <a:rPr b="1" lang="en-US" sz="1200">
                <a:solidFill>
                  <a:srgbClr val="7E7E7E"/>
                </a:solidFill>
                <a:latin typeface="Arial"/>
                <a:ea typeface="Arial"/>
                <a:cs typeface="Arial"/>
                <a:sym typeface="Arial"/>
              </a:rPr>
              <a:t>How relevant is the answer to the question?</a:t>
            </a:r>
            <a:endParaRPr sz="1200">
              <a:latin typeface="Arial"/>
              <a:ea typeface="Arial"/>
              <a:cs typeface="Arial"/>
              <a:sym typeface="Arial"/>
            </a:endParaRPr>
          </a:p>
        </p:txBody>
      </p:sp>
      <p:sp>
        <p:nvSpPr>
          <p:cNvPr id="784" name="Google Shape;784;p22"/>
          <p:cNvSpPr txBox="1"/>
          <p:nvPr/>
        </p:nvSpPr>
        <p:spPr>
          <a:xfrm>
            <a:off x="6412775" y="3409101"/>
            <a:ext cx="147320" cy="2692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600">
                <a:solidFill>
                  <a:srgbClr val="999999"/>
                </a:solidFill>
                <a:latin typeface="Arial"/>
                <a:ea typeface="Arial"/>
                <a:cs typeface="Arial"/>
                <a:sym typeface="Arial"/>
              </a:rPr>
              <a:t>4</a:t>
            </a:r>
            <a:endParaRPr sz="1600">
              <a:latin typeface="Arial"/>
              <a:ea typeface="Arial"/>
              <a:cs typeface="Arial"/>
              <a:sym typeface="Arial"/>
            </a:endParaRPr>
          </a:p>
        </p:txBody>
      </p:sp>
      <p:grpSp>
        <p:nvGrpSpPr>
          <p:cNvPr id="785" name="Google Shape;785;p22"/>
          <p:cNvGrpSpPr/>
          <p:nvPr/>
        </p:nvGrpSpPr>
        <p:grpSpPr>
          <a:xfrm>
            <a:off x="3432809" y="2281900"/>
            <a:ext cx="2063180" cy="391175"/>
            <a:chOff x="3432809" y="2281900"/>
            <a:chExt cx="2063180" cy="391175"/>
          </a:xfrm>
        </p:grpSpPr>
        <p:sp>
          <p:nvSpPr>
            <p:cNvPr id="786" name="Google Shape;786;p22"/>
            <p:cNvSpPr/>
            <p:nvPr/>
          </p:nvSpPr>
          <p:spPr>
            <a:xfrm>
              <a:off x="3473799" y="2281900"/>
              <a:ext cx="1048385" cy="295275"/>
            </a:xfrm>
            <a:custGeom>
              <a:rect b="b" l="l" r="r" t="t"/>
              <a:pathLst>
                <a:path extrusionOk="0" h="295275" w="1048385">
                  <a:moveTo>
                    <a:pt x="1048199" y="0"/>
                  </a:moveTo>
                  <a:lnTo>
                    <a:pt x="1048199" y="204811"/>
                  </a:lnTo>
                  <a:lnTo>
                    <a:pt x="0" y="204811"/>
                  </a:lnTo>
                  <a:lnTo>
                    <a:pt x="0" y="2951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87" name="Google Shape;787;p22"/>
            <p:cNvPicPr preferRelativeResize="0"/>
            <p:nvPr/>
          </p:nvPicPr>
          <p:blipFill rotWithShape="1">
            <a:blip r:embed="rId7">
              <a:alphaModFix/>
            </a:blip>
            <a:srcRect b="0" l="0" r="0" t="0"/>
            <a:stretch/>
          </p:blipFill>
          <p:spPr>
            <a:xfrm>
              <a:off x="3432809" y="2567575"/>
              <a:ext cx="81980" cy="105500"/>
            </a:xfrm>
            <a:prstGeom prst="rect">
              <a:avLst/>
            </a:prstGeom>
            <a:noFill/>
            <a:ln>
              <a:noFill/>
            </a:ln>
          </p:spPr>
        </p:pic>
        <p:sp>
          <p:nvSpPr>
            <p:cNvPr id="788" name="Google Shape;788;p22"/>
            <p:cNvSpPr/>
            <p:nvPr/>
          </p:nvSpPr>
          <p:spPr>
            <a:xfrm>
              <a:off x="4521999" y="2281900"/>
              <a:ext cx="933450" cy="295275"/>
            </a:xfrm>
            <a:custGeom>
              <a:rect b="b" l="l" r="r" t="t"/>
              <a:pathLst>
                <a:path extrusionOk="0" h="295275" w="933450">
                  <a:moveTo>
                    <a:pt x="0" y="0"/>
                  </a:moveTo>
                  <a:lnTo>
                    <a:pt x="0" y="204811"/>
                  </a:lnTo>
                  <a:lnTo>
                    <a:pt x="932999" y="204811"/>
                  </a:lnTo>
                  <a:lnTo>
                    <a:pt x="932999" y="295199"/>
                  </a:lnTo>
                </a:path>
              </a:pathLst>
            </a:custGeom>
            <a:noFill/>
            <a:ln cap="flat" cmpd="sng" w="190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789" name="Google Shape;789;p22"/>
            <p:cNvPicPr preferRelativeResize="0"/>
            <p:nvPr/>
          </p:nvPicPr>
          <p:blipFill rotWithShape="1">
            <a:blip r:embed="rId7">
              <a:alphaModFix/>
            </a:blip>
            <a:srcRect b="0" l="0" r="0" t="0"/>
            <a:stretch/>
          </p:blipFill>
          <p:spPr>
            <a:xfrm>
              <a:off x="5414009" y="2567575"/>
              <a:ext cx="81980" cy="105500"/>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pic>
        <p:nvPicPr>
          <p:cNvPr id="794" name="Google Shape;794;p2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95" name="Google Shape;795;p23"/>
          <p:cNvSpPr txBox="1"/>
          <p:nvPr>
            <p:ph type="title"/>
          </p:nvPr>
        </p:nvSpPr>
        <p:spPr>
          <a:xfrm>
            <a:off x="384725" y="188286"/>
            <a:ext cx="7381240" cy="409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Summary</a:t>
            </a:r>
            <a:endParaRPr/>
          </a:p>
        </p:txBody>
      </p:sp>
      <p:sp>
        <p:nvSpPr>
          <p:cNvPr id="796" name="Google Shape;796;p23"/>
          <p:cNvSpPr txBox="1"/>
          <p:nvPr>
            <p:ph idx="1" type="body"/>
          </p:nvPr>
        </p:nvSpPr>
        <p:spPr>
          <a:xfrm>
            <a:off x="525645" y="931208"/>
            <a:ext cx="8092709" cy="2969895"/>
          </a:xfrm>
          <a:prstGeom prst="rect">
            <a:avLst/>
          </a:prstGeom>
          <a:noFill/>
          <a:ln>
            <a:noFill/>
          </a:ln>
        </p:spPr>
        <p:txBody>
          <a:bodyPr anchorCtr="0" anchor="t" bIns="0" lIns="0" spcFirstLastPara="1" rIns="0" wrap="square" tIns="12700">
            <a:spAutoFit/>
          </a:bodyPr>
          <a:lstStyle/>
          <a:p>
            <a:pPr indent="-304165" lvl="0" marL="328295" marR="273685" rtl="0" algn="l">
              <a:lnSpc>
                <a:spcPct val="114999"/>
              </a:lnSpc>
              <a:spcBef>
                <a:spcPts val="0"/>
              </a:spcBef>
              <a:spcAft>
                <a:spcPts val="0"/>
              </a:spcAft>
              <a:buClr>
                <a:srgbClr val="595959"/>
              </a:buClr>
              <a:buSzPts val="1400"/>
              <a:buFont typeface="Arial"/>
              <a:buChar char="-"/>
            </a:pPr>
            <a:r>
              <a:rPr lang="en-US"/>
              <a:t>Mixed-data documents are processed by separately parsing images, tables, and text, and then generating descriptions for the tables and images.</a:t>
            </a:r>
            <a:endParaRPr/>
          </a:p>
          <a:p>
            <a:pPr indent="-304165" lvl="0" marL="328295" marR="542925" rtl="0" algn="l">
              <a:lnSpc>
                <a:spcPct val="114999"/>
              </a:lnSpc>
              <a:spcBef>
                <a:spcPts val="0"/>
              </a:spcBef>
              <a:spcAft>
                <a:spcPts val="0"/>
              </a:spcAft>
              <a:buClr>
                <a:srgbClr val="595959"/>
              </a:buClr>
              <a:buSzPts val="1400"/>
              <a:buFont typeface="Arial"/>
              <a:buChar char="-"/>
            </a:pPr>
            <a:r>
              <a:rPr lang="en-US"/>
              <a:t>Chunking strategies, such as character-level, thematic and semantic chunking, enhance the relevance of retrieved document pieces.</a:t>
            </a:r>
            <a:endParaRPr/>
          </a:p>
          <a:p>
            <a:pPr indent="-304165" lvl="0" marL="328295" marR="121285" rtl="0" algn="l">
              <a:lnSpc>
                <a:spcPct val="114999"/>
              </a:lnSpc>
              <a:spcBef>
                <a:spcPts val="0"/>
              </a:spcBef>
              <a:spcAft>
                <a:spcPts val="0"/>
              </a:spcAft>
              <a:buClr>
                <a:srgbClr val="595959"/>
              </a:buClr>
              <a:buSzPts val="1400"/>
              <a:buFont typeface="Arial"/>
              <a:buChar char="-"/>
            </a:pPr>
            <a:r>
              <a:rPr lang="en-US"/>
              <a:t>Retrieval methods such as hierarchical indexing, using hypothetical questions to enhance sparse queries, and query expansion for improve the quality of LLM responses.</a:t>
            </a:r>
            <a:endParaRPr/>
          </a:p>
          <a:p>
            <a:pPr indent="-304165" lvl="0" marL="328295" marR="26670" rtl="0" algn="l">
              <a:lnSpc>
                <a:spcPct val="114999"/>
              </a:lnSpc>
              <a:spcBef>
                <a:spcPts val="0"/>
              </a:spcBef>
              <a:spcAft>
                <a:spcPts val="0"/>
              </a:spcAft>
              <a:buClr>
                <a:srgbClr val="595959"/>
              </a:buClr>
              <a:buSzPts val="1400"/>
              <a:buFont typeface="Arial"/>
              <a:buChar char="-"/>
            </a:pPr>
            <a:r>
              <a:rPr lang="en-US"/>
              <a:t>Generation techniques such as information compression and reranking improve the relevance and accuracy of generated responses.</a:t>
            </a:r>
            <a:endParaRPr/>
          </a:p>
          <a:p>
            <a:pPr indent="-304165" lvl="0" marL="328295" marR="506095" rtl="0" algn="l">
              <a:lnSpc>
                <a:spcPct val="114999"/>
              </a:lnSpc>
              <a:spcBef>
                <a:spcPts val="0"/>
              </a:spcBef>
              <a:spcAft>
                <a:spcPts val="0"/>
              </a:spcAft>
              <a:buClr>
                <a:srgbClr val="595959"/>
              </a:buClr>
              <a:buSzPts val="1400"/>
              <a:buFont typeface="Arial"/>
              <a:buChar char="-"/>
            </a:pPr>
            <a:r>
              <a:rPr lang="en-US"/>
              <a:t>LLM-based RAG applications can fail due to two main issues: errors in context and errors in generation.</a:t>
            </a:r>
            <a:endParaRPr/>
          </a:p>
          <a:p>
            <a:pPr indent="-304165" lvl="0" marL="328295" marR="5080" rtl="0" algn="l">
              <a:lnSpc>
                <a:spcPct val="114999"/>
              </a:lnSpc>
              <a:spcBef>
                <a:spcPts val="0"/>
              </a:spcBef>
              <a:spcAft>
                <a:spcPts val="0"/>
              </a:spcAft>
              <a:buClr>
                <a:srgbClr val="595959"/>
              </a:buClr>
              <a:buSzPts val="1400"/>
              <a:buFont typeface="Arial"/>
              <a:buChar char="-"/>
            </a:pPr>
            <a:r>
              <a:rPr lang="en-US"/>
              <a:t>RAG evaluation metrics, such as RAG Triad or Ragas, assess whether the response is grounded in the retrieved context and whether it is relevant to the query and rooted in the context.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2025-04-04T06:32:20Z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