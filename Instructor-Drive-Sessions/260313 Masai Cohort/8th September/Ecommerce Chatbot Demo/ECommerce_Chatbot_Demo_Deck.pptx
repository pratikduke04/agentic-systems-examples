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4389120"/>
            <a:ext cx="2743200" cy="27432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pic>
        <p:nvPicPr>
          <p:cNvPr id="4" name="Image 0" descr="car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5669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 |  AI SUPPORT AGENT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2860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Support Chatbot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AI assistant for product, policy, and order support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251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Approach  —  followed by a live walkthrough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recap: the ReAct pattern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covered last week — an agent that Reasons, then Acts, then Observes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74520" y="182880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messag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1408" y="2075688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2944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Thought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3291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tool answers this?”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880360" y="2331720"/>
            <a:ext cx="17373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617720" y="182880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cpu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075688"/>
            <a:ext cx="512064" cy="5120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14800" y="2944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023360" y="3291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chosen tool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623560" y="2331720"/>
            <a:ext cx="17373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7360920" y="182880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ey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08" y="2075688"/>
            <a:ext cx="512064" cy="5120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58000" y="2944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766560" y="3291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tool’s result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863840" y="3794760"/>
            <a:ext cx="0" cy="320040"/>
          </a:xfrm>
          <a:prstGeom prst="line">
            <a:avLst/>
          </a:prstGeom>
          <a:noFill/>
          <a:ln w="19050">
            <a:solidFill>
              <a:srgbClr val="B9C4CC"/>
            </a:solidFill>
            <a:prstDash val="dash"/>
          </a:ln>
        </p:spPr>
      </p:sp>
      <p:sp>
        <p:nvSpPr>
          <p:cNvPr id="19" name="Shape 14"/>
          <p:cNvSpPr/>
          <p:nvPr/>
        </p:nvSpPr>
        <p:spPr>
          <a:xfrm>
            <a:off x="2377440" y="4114800"/>
            <a:ext cx="5486400" cy="0"/>
          </a:xfrm>
          <a:prstGeom prst="line">
            <a:avLst/>
          </a:prstGeom>
          <a:noFill/>
          <a:ln w="19050">
            <a:solidFill>
              <a:srgbClr val="B9C4CC"/>
            </a:solidFill>
            <a:prstDash val="dash"/>
          </a:ln>
        </p:spPr>
      </p:sp>
      <p:sp>
        <p:nvSpPr>
          <p:cNvPr id="20" name="Shape 15"/>
          <p:cNvSpPr/>
          <p:nvPr/>
        </p:nvSpPr>
        <p:spPr>
          <a:xfrm flipV="1">
            <a:off x="2377440" y="3794760"/>
            <a:ext cx="0" cy="320040"/>
          </a:xfrm>
          <a:prstGeom prst="line">
            <a:avLst/>
          </a:prstGeom>
          <a:noFill/>
          <a:ln w="19050">
            <a:solidFill>
              <a:srgbClr val="B9C4CC"/>
            </a:solidFill>
            <a:prstDash val="dash"/>
            <a:tailEnd type="triangle"/>
          </a:ln>
        </p:spPr>
      </p:sp>
      <p:sp>
        <p:nvSpPr>
          <p:cNvPr id="21" name="Text 16"/>
          <p:cNvSpPr txBox="1"/>
          <p:nvPr/>
        </p:nvSpPr>
        <p:spPr>
          <a:xfrm>
            <a:off x="2103120" y="422452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...repeats until the agent has enough to answer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40080" y="4754880"/>
            <a:ext cx="10908792" cy="1280160"/>
          </a:xfrm>
          <a:prstGeom prst="roundRect">
            <a:avLst>
              <a:gd name="adj" fmla="val 7143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222A">
                <a:alpha val="10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914400" y="4919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week’s example agent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914400" y="532180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5" name="Image 3" descr="cod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5458968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627632" y="5303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REPL tool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1627632" y="55961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Python code for calculations &amp; data ops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217920" y="532180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4" descr="search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5458968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931152" y="5303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Serper tool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6931152" y="55961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search for up-to-date facts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480560"/>
            <a:ext cx="3291840" cy="329184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actually runs — straight from the notebook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4241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executed cells: the question we typed, and exactly what the agent returned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1B2456"/>
          </a:solidFill>
          <a:ln w="12700">
            <a:solidFill>
              <a:srgbClr val="2E3A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03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221992"/>
            <a:ext cx="265176" cy="26517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12140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Tool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14400" y="2761488"/>
            <a:ext cx="4709160" cy="0"/>
          </a:xfrm>
          <a:prstGeom prst="line">
            <a:avLst/>
          </a:prstGeom>
          <a:noFill/>
          <a:ln w="12700">
            <a:solidFill>
              <a:srgbClr val="2E3A7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2971800"/>
            <a:ext cx="4709160" cy="685800"/>
          </a:xfrm>
          <a:prstGeom prst="roundRect">
            <a:avLst>
              <a:gd name="adj" fmla="val 10667"/>
            </a:avLst>
          </a:prstGeom>
          <a:solidFill>
            <a:srgbClr val="2A357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7899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F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078992" y="3246120"/>
            <a:ext cx="4379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“Did Michael Smith place an order?”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14400" y="384048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78992" y="3931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078992" y="4160520"/>
            <a:ext cx="4379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Michael Smith has placed orders. The order IDs are 42 and 62.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566928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unedited notebook output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291072" y="182880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1B2456"/>
          </a:solidFill>
          <a:ln w="12700">
            <a:solidFill>
              <a:srgbClr val="2E3A7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65392" y="2103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1" descr="filetex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64" y="2221992"/>
            <a:ext cx="265176" cy="26517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205472" y="212140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Tool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565392" y="2761488"/>
            <a:ext cx="4709160" cy="0"/>
          </a:xfrm>
          <a:prstGeom prst="line">
            <a:avLst/>
          </a:prstGeom>
          <a:noFill/>
          <a:ln w="12700">
            <a:solidFill>
              <a:srgbClr val="2E3A7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565392" y="2971800"/>
            <a:ext cx="4709160" cy="685800"/>
          </a:xfrm>
          <a:prstGeom prst="roundRect">
            <a:avLst>
              <a:gd name="adj" fmla="val 10667"/>
            </a:avLst>
          </a:prstGeom>
          <a:solidFill>
            <a:srgbClr val="2A3570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72998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F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6729984" y="3246120"/>
            <a:ext cx="4379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RAM on the mobile phone?”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565392" y="3840480"/>
            <a:ext cx="4709160" cy="1234440"/>
          </a:xfrm>
          <a:prstGeom prst="roundRect">
            <a:avLst>
              <a:gd name="adj" fmla="val 5926"/>
            </a:avLst>
          </a:prstGeom>
          <a:solidFill>
            <a:srgbClr val="065A82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6729984" y="3931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6729984" y="4160520"/>
            <a:ext cx="4379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smartphone has 4GB of RAM.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(Source: product_Smartphone_description.txt)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6565392" y="566928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unedited notebook output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E3EEF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pattern to case study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Thought → Action → Observation loop — now scoped to a real e-commerce support case,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two purpose-built tools instead of Python REPL and web search.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87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F4F7F9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321868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cod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3346704"/>
            <a:ext cx="292608" cy="2926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31546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REPL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346557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compute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74720" y="297180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F4F7F9"/>
          </a:solidFill>
          <a:ln/>
        </p:spPr>
      </p:sp>
      <p:sp>
        <p:nvSpPr>
          <p:cNvPr id="12" name="Shape 9"/>
          <p:cNvSpPr/>
          <p:nvPr/>
        </p:nvSpPr>
        <p:spPr>
          <a:xfrm>
            <a:off x="3675888" y="321868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sear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904" y="3346704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343400" y="31546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Serper Search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4343400" y="346557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facts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4736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512064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F4F7F9"/>
          </a:solidFill>
          <a:ln/>
        </p:spPr>
      </p:sp>
      <p:sp>
        <p:nvSpPr>
          <p:cNvPr id="18" name="Shape 14"/>
          <p:cNvSpPr/>
          <p:nvPr/>
        </p:nvSpPr>
        <p:spPr>
          <a:xfrm>
            <a:off x="841248" y="536752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2" descr="datab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5495544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508760" y="5303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Tool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1508760" y="561441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invoices, refunds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474720" y="512064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F4F7F9"/>
          </a:solidFill>
          <a:ln/>
        </p:spPr>
      </p:sp>
      <p:sp>
        <p:nvSpPr>
          <p:cNvPr id="23" name="Shape 18"/>
          <p:cNvSpPr/>
          <p:nvPr/>
        </p:nvSpPr>
        <p:spPr>
          <a:xfrm>
            <a:off x="3675888" y="536752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3" descr="filetex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904" y="5495544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343400" y="5303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Tool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4343400" y="561441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policy docs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3063240" y="427939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pic>
        <p:nvPicPr>
          <p:cNvPr id="28" name="Image 4" descr="arrowright_1C729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182112" y="4398264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build this?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teams field the same high-volume questions every 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42032" cy="2880360"/>
          </a:xfrm>
          <a:prstGeom prst="roundRect">
            <a:avLst>
              <a:gd name="adj" fmla="val 3597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22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99616" y="23317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hel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5511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338328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Pre-sale questions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3886200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details and store policies for prospective customers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38144" y="1965960"/>
            <a:ext cx="2542032" cy="2880360"/>
          </a:xfrm>
          <a:prstGeom prst="roundRect">
            <a:avLst>
              <a:gd name="adj" fmla="val 3597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222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7680" y="23317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tru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04" y="255117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02736" y="338328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status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639312" y="3886200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tracking, refunds, and invoice requests for existing customers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36208" y="1965960"/>
            <a:ext cx="2542032" cy="2880360"/>
          </a:xfrm>
          <a:prstGeom prst="roundRect">
            <a:avLst>
              <a:gd name="adj" fmla="val 3597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222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95744" y="23317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sta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768" y="255117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0800" y="338328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437376" y="3886200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structured customer feedback at the end of an interaction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34272" y="1965960"/>
            <a:ext cx="2542032" cy="2880360"/>
          </a:xfrm>
          <a:prstGeom prst="roundRect">
            <a:avLst>
              <a:gd name="adj" fmla="val 3597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222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93808" y="23317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user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5832" y="255117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98864" y="338328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 part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235440" y="3886200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when to hand off to a human agent, gracefully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chatbot handles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assistant, scoped to a clear set of support intents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749040" cy="4297680"/>
          </a:xfrm>
          <a:prstGeom prst="roundRect">
            <a:avLst>
              <a:gd name="adj" fmla="val 2927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965960" y="2331720"/>
            <a:ext cx="1097280" cy="10972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messag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26060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703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by design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42062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outside this scope is deferred to a human agent — the bot never guesses.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09160" y="180136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709160" y="17967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166360" y="170992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enquiry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166360" y="203911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prospective-customer questions about products and catalog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09160" y="2432304"/>
            <a:ext cx="6766560" cy="0"/>
          </a:xfrm>
          <a:prstGeom prst="line">
            <a:avLst/>
          </a:prstGeom>
          <a:noFill/>
          <a:ln w="12700">
            <a:solidFill>
              <a:srgbClr val="E3E9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09160" y="258775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70916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166360" y="249631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enquiry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5166360" y="282549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shipping, returns, and refund policies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709160" y="3218688"/>
            <a:ext cx="6766560" cy="0"/>
          </a:xfrm>
          <a:prstGeom prst="line">
            <a:avLst/>
          </a:prstGeom>
          <a:noFill/>
          <a:ln w="12700">
            <a:solidFill>
              <a:srgbClr val="E3E9E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09160" y="337413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709160" y="33695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166360" y="328269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/ refund tracking</a:t>
            </a:r>
            <a:endParaRPr lang="en-US" sz="1450" dirty="0"/>
          </a:p>
        </p:txBody>
      </p:sp>
      <p:sp>
        <p:nvSpPr>
          <p:cNvPr id="22" name="Text 19"/>
          <p:cNvSpPr txBox="1"/>
          <p:nvPr/>
        </p:nvSpPr>
        <p:spPr>
          <a:xfrm>
            <a:off x="5166360" y="361188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live order and refund status for existing customers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709160" y="4005072"/>
            <a:ext cx="6766560" cy="0"/>
          </a:xfrm>
          <a:prstGeom prst="line">
            <a:avLst/>
          </a:prstGeom>
          <a:noFill/>
          <a:ln w="12700">
            <a:solidFill>
              <a:srgbClr val="E3E9E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09160" y="416052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709160" y="41559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166360" y="40690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requests</a:t>
            </a:r>
            <a:endParaRPr lang="en-US" sz="1450" dirty="0"/>
          </a:p>
        </p:txBody>
      </p:sp>
      <p:sp>
        <p:nvSpPr>
          <p:cNvPr id="27" name="Text 24"/>
          <p:cNvSpPr txBox="1"/>
          <p:nvPr/>
        </p:nvSpPr>
        <p:spPr>
          <a:xfrm>
            <a:off x="5166360" y="439826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invoice and order details on request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709160" y="4791456"/>
            <a:ext cx="6766560" cy="0"/>
          </a:xfrm>
          <a:prstGeom prst="line">
            <a:avLst/>
          </a:prstGeom>
          <a:noFill/>
          <a:ln w="12700">
            <a:solidFill>
              <a:srgbClr val="E3E9E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709160" y="4946904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709160" y="49423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166360" y="485546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collection</a:t>
            </a:r>
            <a:endParaRPr lang="en-US" sz="1450" dirty="0"/>
          </a:p>
        </p:txBody>
      </p:sp>
      <p:sp>
        <p:nvSpPr>
          <p:cNvPr id="32" name="Text 29"/>
          <p:cNvSpPr txBox="1"/>
          <p:nvPr/>
        </p:nvSpPr>
        <p:spPr>
          <a:xfrm>
            <a:off x="5166360" y="518464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ratings and comments at the end of an interaction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-1920240"/>
            <a:ext cx="2926080" cy="292608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241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tool-calling agent orchestrates specialist tools behind one conversational interface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21224" y="2011680"/>
            <a:ext cx="1737360" cy="173736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9FD1E8"/>
            </a:solidFill>
            <a:prstDash val="solid"/>
          </a:ln>
        </p:spPr>
      </p:sp>
      <p:pic>
        <p:nvPicPr>
          <p:cNvPr id="6" name="Image 0" descr="cpu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2286000"/>
            <a:ext cx="694944" cy="6949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626864" y="3794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Tool-Calling Agent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" y="237744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messag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0604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2880" y="34472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1737360" y="2880360"/>
            <a:ext cx="3483864" cy="0"/>
          </a:xfrm>
          <a:prstGeom prst="line">
            <a:avLst/>
          </a:prstGeom>
          <a:noFill/>
          <a:ln w="25400">
            <a:solidFill>
              <a:srgbClr val="3EA8C9"/>
            </a:solidFill>
            <a:prstDash val="dash"/>
          </a:ln>
        </p:spPr>
      </p:sp>
      <p:sp>
        <p:nvSpPr>
          <p:cNvPr id="12" name="Shape 8"/>
          <p:cNvSpPr/>
          <p:nvPr/>
        </p:nvSpPr>
        <p:spPr>
          <a:xfrm flipV="1">
            <a:off x="6958584" y="2880360"/>
            <a:ext cx="2231136" cy="-1645920"/>
          </a:xfrm>
          <a:prstGeom prst="line">
            <a:avLst/>
          </a:prstGeom>
          <a:noFill/>
          <a:ln w="19050">
            <a:solidFill>
              <a:srgbClr val="3EA8C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189720" y="777240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EA8C9"/>
            </a:solidFill>
            <a:prstDash val="solid"/>
          </a:ln>
        </p:spPr>
      </p:sp>
      <p:pic>
        <p:nvPicPr>
          <p:cNvPr id="14" name="Image 2" descr="datab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2" y="98755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213848" y="92354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Tool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10213848" y="121615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status, invoices, refunds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 flipV="1">
            <a:off x="6958584" y="2880360"/>
            <a:ext cx="2231136" cy="-484632"/>
          </a:xfrm>
          <a:prstGeom prst="line">
            <a:avLst/>
          </a:prstGeom>
          <a:noFill/>
          <a:ln w="19050">
            <a:solidFill>
              <a:srgbClr val="3EA8C9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189720" y="1938528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EA8C9"/>
            </a:solidFill>
            <a:prstDash val="solid"/>
          </a:ln>
        </p:spPr>
      </p:sp>
      <p:pic>
        <p:nvPicPr>
          <p:cNvPr id="19" name="Image 3" descr="filetex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2" y="2148840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213848" y="208483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Tool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10213848" y="23774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policy documents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6958584" y="2880360"/>
            <a:ext cx="2231136" cy="676656"/>
          </a:xfrm>
          <a:prstGeom prst="line">
            <a:avLst/>
          </a:prstGeom>
          <a:noFill/>
          <a:ln w="19050">
            <a:solidFill>
              <a:srgbClr val="3EA8C9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9189720" y="3099816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EA8C9"/>
            </a:solidFill>
            <a:prstDash val="solid"/>
          </a:ln>
        </p:spPr>
      </p:sp>
      <p:pic>
        <p:nvPicPr>
          <p:cNvPr id="24" name="Image 4" descr="star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0032" y="3310128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0213848" y="32461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Logger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10213848" y="35387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comments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6958584" y="2880360"/>
            <a:ext cx="2231136" cy="1837944"/>
          </a:xfrm>
          <a:prstGeom prst="line">
            <a:avLst/>
          </a:prstGeom>
          <a:noFill/>
          <a:ln w="19050">
            <a:solidFill>
              <a:srgbClr val="3EA8C9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9189720" y="4261104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EA8C9"/>
            </a:solidFill>
            <a:prstDash val="solid"/>
          </a:ln>
        </p:spPr>
      </p:sp>
      <p:pic>
        <p:nvPicPr>
          <p:cNvPr id="29" name="Image 5" descr="users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0032" y="4471416"/>
            <a:ext cx="493776" cy="49377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0213848" y="440740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Handoff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10213848" y="470001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for out-of-scope asks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core tools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lookups and unstructured document retrieval, combined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20640" cy="3246120"/>
          </a:xfrm>
          <a:prstGeom prst="roundRect">
            <a:avLst>
              <a:gd name="adj" fmla="val 2817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22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3774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2585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Tool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246120"/>
            <a:ext cx="4389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 SQL agent over the e-commerce database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natural-language questions about orders, refunds, invoices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writes and runs the query; no raw SQL from the user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17920" y="1874520"/>
            <a:ext cx="5120640" cy="3246120"/>
          </a:xfrm>
          <a:prstGeom prst="roundRect">
            <a:avLst>
              <a:gd name="adj" fmla="val 2817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222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1945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filetex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3774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52360" y="22585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Tool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3246120"/>
            <a:ext cx="4389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and retrieves product &amp; policy documents from a vector store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similar chunks are passed as context to the LLM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“I don’t have enough information” when context is insufficient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023360" cy="402336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3291840" cy="329184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58384" y="1417320"/>
            <a:ext cx="1463040" cy="146304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9FD1E8"/>
            </a:solidFill>
            <a:prstDash val="solid"/>
          </a:ln>
        </p:spPr>
      </p:sp>
      <p:pic>
        <p:nvPicPr>
          <p:cNvPr id="5" name="Image 0" descr="car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8424" y="173736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15468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see it in action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0690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 of product, policy, and order-status conversations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2026-09-08T14:05:30Z</dcterms:created>
  <dcterms:modified xsi:type="dcterms:W3CDTF">2026-09-08T14:05:30Z</dcterms:modified>
</cp:coreProperties>
</file>